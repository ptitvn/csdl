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enor Sans" charset="1" panose="02000000000000000000"/>
      <p:regular r:id="rId20"/>
    </p:embeddedFont>
    <p:embeddedFont>
      <p:font typeface="Clear Sans" charset="1" panose="020B0503030202020304"/>
      <p:regular r:id="rId21"/>
    </p:embeddedFont>
    <p:embeddedFont>
      <p:font typeface="Clear Sans Medium" charset="1" panose="020B0603030202020304"/>
      <p:regular r:id="rId22"/>
    </p:embeddedFont>
    <p:embeddedFont>
      <p:font typeface="Clear Sans Bold" charset="1" panose="020B08030302020203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939" y="423906"/>
            <a:ext cx="9763125" cy="6490106"/>
            <a:chOff x="0" y="0"/>
            <a:chExt cx="13017500" cy="865347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727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E9C46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MINI PROJECT: SOCIAL NETWORK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977644"/>
              <a:ext cx="13017500" cy="675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12"/>
                </a:lnSpc>
                <a:spcBef>
                  <a:spcPct val="0"/>
                </a:spcBef>
              </a:pPr>
              <a:r>
                <a:rPr lang="en-US" sz="308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THÀNH VIÊN NHÓM: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-2288208" y="6952239"/>
            <a:ext cx="9763125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PHẠM TIẾN ĐẠT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NGUYỄN THẾ KIÊN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NGUYỄN QUANG HUY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LÊ TRUNG ĐÔNG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NGUYỄN KHẮC HƯNG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ĐẶNG VĂN THẮNG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E9C46A"/>
                </a:solidFill>
                <a:latin typeface="Tenor Sans"/>
                <a:ea typeface="Tenor Sans"/>
                <a:cs typeface="Tenor Sans"/>
                <a:sym typeface="Tenor Sans"/>
              </a:rPr>
              <a:t>Giới Thiệu Dự Án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1944890"/>
            <a:chOff x="0" y="0"/>
            <a:chExt cx="7264400" cy="259318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MỤC TIÊU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Dự án Mini Project Social Network nhằm </a:t>
              </a:r>
              <a:r>
                <a:rPr lang="en-US" b="true" sz="2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nâng cao kỹ năng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thiết kế và khai thác cơ sở dữ liệu thực tế trong môi trường học tập.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1944890"/>
            <a:chOff x="0" y="0"/>
            <a:chExt cx="7264400" cy="259318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TẬP TRUNG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Chúng tôi tập trung vào quản lý </a:t>
              </a:r>
              <a:r>
                <a:rPr lang="en-US" b="true" sz="2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cơ sở dữ liệu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nhấn mạnh việc xử lý dữ liệu mà không chú trọng vào giao diện người dùng.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1944890"/>
            <a:chOff x="0" y="0"/>
            <a:chExt cx="7264400" cy="259318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KẾT QUẢ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Kết quả dự án sẽ giúp </a:t>
              </a:r>
              <a:r>
                <a:rPr lang="en-US" b="true" sz="2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hiểu rõ hơn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về các kỹ thuật SQL như VIEW, INDEX và STORED PROCEDURE trong hệ thống mạng xã hội.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C4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4102836"/>
            <a:chOff x="0" y="0"/>
            <a:chExt cx="13017500" cy="547044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1979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6465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CHỨC NĂNG CHÍNH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13617"/>
              <a:ext cx="130175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Hệ thống mạng xã hội tập trung vào </a:t>
              </a:r>
              <a:r>
                <a:rPr lang="en-US" b="true" sz="2099">
                  <a:solidFill>
                    <a:srgbClr val="26465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quản lý người dùng</a:t>
              </a: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đăng bài viết, bình luận, thích bài viết và kết bạn, theo dõi lẫn nhau.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64653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Phạm Vi Hệ Thống Của Mạng Xã Hội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E9C46A"/>
                </a:solidFill>
                <a:latin typeface="Tenor Sans"/>
                <a:ea typeface="Tenor Sans"/>
                <a:cs typeface="Tenor Sans"/>
                <a:sym typeface="Tenor Sans"/>
              </a:rPr>
              <a:t>Tổng Quan Hệ Thống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1944890"/>
            <a:chOff x="0" y="0"/>
            <a:chExt cx="7264400" cy="259318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NGƯỜI DÙNG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Hệ thống cho phép người dùng đăng ký, cập nhật thông tin cá nhân và quản lý tài khoản của họ.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1944890"/>
            <a:chOff x="0" y="0"/>
            <a:chExt cx="7264400" cy="259318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BÀI VIẾT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Người dùng có thể đăng bài viết mới, chỉnh sửa hoặc xóa bài viết đã đăng trước đó để chia sẻ thông tin.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1944890"/>
            <a:chOff x="0" y="0"/>
            <a:chExt cx="7264400" cy="259318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BÌNH LUẬN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Tính năng bình luận cho phép người dùng đưa ra ý kiến và phản hồi về các bài viết của bạn bè trong mạng xã hội.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E9C46A"/>
                </a:solidFill>
                <a:latin typeface="Tenor Sans"/>
                <a:ea typeface="Tenor Sans"/>
                <a:cs typeface="Tenor Sans"/>
                <a:sym typeface="Tenor Sans"/>
              </a:rPr>
              <a:t>Vai Trò Của Cơ Sở Dữ Liệu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4429826"/>
            <a:chOff x="0" y="0"/>
            <a:chExt cx="7264400" cy="590643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LƯU TRỮ DỮ LIỆU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Cơ sở dữ liệu có vai trò </a:t>
              </a:r>
              <a:r>
                <a:rPr lang="en-US" b="true" sz="2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cốt lõi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trong việc lưu trữ và quản lý dữ liệu người dùng và nội dung mạng xã hội.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58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CUNG CẤP VIEW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459440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Sử dụng VIEW giúp ẩn thông tin nhạy cảm, đồng thời chuẩn hóa các truy vấn và cải thiện hiệu suất tìm kiếm dữ liệu.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C4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40617" y="3274566"/>
            <a:ext cx="14647383" cy="7012434"/>
          </a:xfrm>
          <a:custGeom>
            <a:avLst/>
            <a:gdLst/>
            <a:ahLst/>
            <a:cxnLst/>
            <a:rect r="r" b="b" t="t" l="l"/>
            <a:pathLst>
              <a:path h="7012434" w="14647383">
                <a:moveTo>
                  <a:pt x="0" y="0"/>
                </a:moveTo>
                <a:lnTo>
                  <a:pt x="14647383" y="0"/>
                </a:lnTo>
                <a:lnTo>
                  <a:pt x="14647383" y="7012434"/>
                </a:lnTo>
                <a:lnTo>
                  <a:pt x="0" y="7012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9344" y="708797"/>
            <a:ext cx="20476823" cy="3167843"/>
            <a:chOff x="0" y="0"/>
            <a:chExt cx="27302431" cy="422379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4284931" y="324262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6465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CÁC THỰC THỂ CHÍNH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4284931" y="1391665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Mô hình dữ liệu bao gồm các bảng Users, Posts</a:t>
              </a: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và Comments, với mối quan hệ rõ ràng giữa người </a:t>
              </a: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dùng và nội dung bài viết.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0"/>
              <a:ext cx="13017500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64653"/>
                  </a:solidFill>
                  <a:latin typeface="Tenor Sans"/>
                  <a:ea typeface="Tenor Sans"/>
                  <a:cs typeface="Tenor Sans"/>
                  <a:sym typeface="Tenor Sans"/>
                </a:rPr>
                <a:t>Mô Hình Dữ Liệu của Hệ Thống Mạng Xã Hội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478" y="1269847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E9C46A"/>
                </a:solidFill>
                <a:latin typeface="Tenor Sans"/>
                <a:ea typeface="Tenor Sans"/>
                <a:cs typeface="Tenor Sans"/>
                <a:sym typeface="Tenor Sans"/>
              </a:rPr>
              <a:t>Kỹ Thuật Sử Dụng 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098119" y="3701439"/>
            <a:ext cx="5448300" cy="5556861"/>
            <a:chOff x="0" y="0"/>
            <a:chExt cx="7264400" cy="740914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7264400" cy="644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CHỨC NĂNG BẢO MẬT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83237"/>
              <a:ext cx="7264400" cy="1788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VIEW cho phép ẩn thông tin nhạy cảm trong cơ sở dữ liệu, chỉ hiển thị những dữ liệu công khai cần thiết.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970790"/>
              <a:ext cx="7264400" cy="644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TỐI ƯU HÓA TRUY VẤN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011177"/>
              <a:ext cx="7264400" cy="239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VIEW giúp chuẩn hóa các truy vấn phức tạp, mang lại hiệu suất cao hơn khi truy xuất dữ liệu từ nhiều bảng khác nhau.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C4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73120" y="1530483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64653"/>
                </a:solidFill>
                <a:latin typeface="Tenor Sans"/>
                <a:ea typeface="Tenor Sans"/>
                <a:cs typeface="Tenor Sans"/>
                <a:sym typeface="Tenor Sans"/>
              </a:rPr>
              <a:t>Kỹ Thuật SQL: INDEX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96937" y="3645033"/>
            <a:ext cx="5448300" cy="4429826"/>
            <a:chOff x="0" y="0"/>
            <a:chExt cx="7264400" cy="590643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64653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TỐI ƯU HÓA TRUY VẤN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INDEX giúp cải thiện hiệu suất truy vấn bằng cách giảm thời gian tìm kiếm dữ liệu trong bảng lớn và phức tạp.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58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64653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QUẢN LÝ DỮ LIỆU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459440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Sử dụng INDEX có thể nâng cao khả năng xử lý dữ liệu, đặc biệt trong các thao tác JOIN và WHERE, tạo điều kiện truy xuất nhanh.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211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E9C46A"/>
                </a:solidFill>
                <a:latin typeface="Tenor Sans"/>
                <a:ea typeface="Tenor Sans"/>
                <a:cs typeface="Tenor Sans"/>
                <a:sym typeface="Tenor Sans"/>
              </a:rPr>
              <a:t>Kỹ Thuật SQL: STORED PROCEDURE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1944890"/>
            <a:chOff x="0" y="0"/>
            <a:chExt cx="7264400" cy="259318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KHÁI NIỆM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Stored Procedure là một nhóm lệnh SQL được lưu trữ và thực thi trên cơ sở dữ liệu để xử lý nghiệp vụ.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1944890"/>
            <a:chOff x="0" y="0"/>
            <a:chExt cx="7264400" cy="259318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TÍNH NĂNG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Stored Procedure cho phép sử dụng tham số để thực hiện các tác vụ linh hoạt và xử lý dữ liệu hiệu quả hơn.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1944890"/>
            <a:chOff x="0" y="0"/>
            <a:chExt cx="7264400" cy="259318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ƯU ĐIỂM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Sử dụng Stored Procedure giúp giảm độ phức tạp trong truy vấn và tăng cường bảo mật cho dữ liệu nhạy cảm trong hệ thống.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E9C46A"/>
                </a:solidFill>
                <a:latin typeface="Tenor Sans"/>
                <a:ea typeface="Tenor Sans"/>
                <a:cs typeface="Tenor Sans"/>
                <a:sym typeface="Tenor Sans"/>
              </a:rPr>
              <a:t>Phạm Vi Kiến Thức SQL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4429826"/>
            <a:chOff x="0" y="0"/>
            <a:chExt cx="7264400" cy="590643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CƠ BẢN &amp; NÂNG CAO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Kiến thức SQL bao gồm các khái niệm cơ bản và nâng cao, giúp hiểu sâu hơn về ngôn ngữ truy vấn này trong cơ sở dữ liệu.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58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KỸ THUẬT NÂNG CAO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459440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Các kỹ thuật như JOIN, SUBQUERY, VIEW, INDEX, và STORED PROCEDURE sẽ tối ưu hóa hiệu suất và bảo mật dữ liệu trong ứng dụng.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C4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3542" y="708783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64653"/>
                </a:solidFill>
                <a:latin typeface="Tenor Sans"/>
                <a:ea typeface="Tenor Sans"/>
                <a:cs typeface="Tenor Sans"/>
                <a:sym typeface="Tenor Sans"/>
              </a:rPr>
              <a:t>BÀI</a:t>
            </a:r>
            <a:r>
              <a:rPr lang="en-US" sz="6999" spc="-139">
                <a:solidFill>
                  <a:srgbClr val="264653"/>
                </a:solidFill>
                <a:latin typeface="Tenor Sans"/>
                <a:ea typeface="Tenor Sans"/>
                <a:cs typeface="Tenor Sans"/>
                <a:sym typeface="Tenor Sans"/>
              </a:rPr>
              <a:t> 1 – QUẢN LÝ NGƯỜI DÙNG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137432" y="4443126"/>
            <a:ext cx="5448300" cy="2959337"/>
            <a:chOff x="0" y="0"/>
            <a:chExt cx="7264400" cy="394578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CHỨC NĂNG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466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Đăng ký tài khoản người dùng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553432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CẦN LÀM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479114"/>
              <a:ext cx="7264400" cy="466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Tạo bảng user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9507444" y="3357985"/>
            <a:ext cx="5448300" cy="5900315"/>
            <a:chOff x="0" y="0"/>
            <a:chExt cx="7264400" cy="786708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THIẾT LẬP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78058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PRIMARY KEY cho user_id</a:t>
              </a:r>
            </a:p>
            <a:p>
              <a:pPr algn="l">
                <a:lnSpc>
                  <a:spcPts val="2939"/>
                </a:lnSpc>
              </a:pP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UNIQUE cho username, email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533758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HƯỚNG GIẢI QUYẾT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459440"/>
              <a:ext cx="7264400" cy="3407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Tạo bảng Users với đầy đủ ràng buộc</a:t>
              </a:r>
            </a:p>
            <a:p>
              <a:pPr algn="l">
                <a:lnSpc>
                  <a:spcPts val="2939"/>
                </a:lnSpc>
              </a:pPr>
            </a:p>
            <a:p>
              <a:pPr algn="l">
                <a:lnSpc>
                  <a:spcPts val="2939"/>
                </a:lnSpc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Sử dụng AUTO_INCREMENT cho user_id</a:t>
              </a:r>
            </a:p>
            <a:p>
              <a:pPr algn="l">
                <a:lnSpc>
                  <a:spcPts val="2939"/>
                </a:lnSpc>
              </a:pPr>
            </a:p>
            <a:p>
              <a:pPr algn="l">
                <a:lnSpc>
                  <a:spcPts val="2939"/>
                </a:lnSpc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Dùng INSERT để thêm người dùng</a:t>
              </a:r>
            </a:p>
            <a:p>
              <a:pPr algn="l">
                <a:lnSpc>
                  <a:spcPts val="2939"/>
                </a:lnSpc>
              </a:pP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6465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Dùng SELECT để kiểm tra dữ liệu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211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E9C46A"/>
                </a:solidFill>
                <a:latin typeface="Tenor Sans"/>
                <a:ea typeface="Tenor Sans"/>
                <a:cs typeface="Tenor Sans"/>
                <a:sym typeface="Tenor Sans"/>
              </a:rPr>
              <a:t>BÀI 2 – HIỂN</a:t>
            </a:r>
            <a:r>
              <a:rPr lang="en-US" sz="6999" spc="-139">
                <a:solidFill>
                  <a:srgbClr val="E9C46A"/>
                </a:solidFill>
                <a:latin typeface="Tenor Sans"/>
                <a:ea typeface="Tenor Sans"/>
                <a:cs typeface="Tenor Sans"/>
                <a:sym typeface="Tenor Sans"/>
              </a:rPr>
              <a:t> THỊ THÔNG TIN CÔNG KHAI BẰNG VIEW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1209646"/>
            <a:chOff x="0" y="0"/>
            <a:chExt cx="7264400" cy="161286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CHỨC NĂNG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466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Trang hồ sơ công khai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1209646"/>
            <a:chOff x="0" y="0"/>
            <a:chExt cx="7264400" cy="161286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CẦN LÀM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466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Tạ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 View vw_public_users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3415380"/>
            <a:chOff x="0" y="0"/>
            <a:chExt cx="7264400" cy="455384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HƯỚNG</a:t>
              </a: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 GIẢI QUYẾT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3407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Xác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định các cột được phép công khai</a:t>
              </a:r>
            </a:p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Tạo View chỉ chứa các cột đó</a:t>
              </a:r>
            </a:p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Thực hiện SELECT từ View</a:t>
              </a:r>
            </a:p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 sánh với truy vấn trực tiếp từ bảng Users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5619" y="1451473"/>
            <a:ext cx="8324850" cy="422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E9C46A"/>
                </a:solidFill>
                <a:latin typeface="Tenor Sans"/>
                <a:ea typeface="Tenor Sans"/>
                <a:cs typeface="Tenor Sans"/>
                <a:sym typeface="Tenor Sans"/>
              </a:rPr>
              <a:t>BÀI 3 – TỐI ƯU TÌM KIẾM BẰNG INDEX</a:t>
            </a:r>
            <a:r>
              <a:rPr lang="en-US" sz="6999" spc="-139">
                <a:solidFill>
                  <a:srgbClr val="E9C46A"/>
                </a:solidFill>
                <a:latin typeface="Tenor Sans"/>
                <a:ea typeface="Tenor Sans"/>
                <a:cs typeface="Tenor Sans"/>
                <a:sym typeface="Tenor Sans"/>
              </a:rPr>
              <a:t>Phạm Vi Kiến Thức SQL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876892" y="1985992"/>
            <a:ext cx="5448300" cy="3694581"/>
            <a:chOff x="0" y="0"/>
            <a:chExt cx="7264400" cy="492610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CHỨC NĂNG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466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Tì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 kiếm người dùng theo username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553432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CẦN LÀM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479114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Tạo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Index cho Users.username</a:t>
              </a: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Viết truy vấn tìm người dùng theo username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0876892" y="6523359"/>
            <a:ext cx="5448300" cy="5165070"/>
            <a:chOff x="0" y="0"/>
            <a:chExt cx="7264400" cy="688676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HƯỚNG GIẢI QUYẾT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78058"/>
              <a:ext cx="7264400" cy="3407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Tạo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Index cho cột username</a:t>
              </a: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Viết truy vấn SELECT ... WHERE username LIKE ...</a:t>
              </a: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 sánh lý thuyết truy vấn có và không có Index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494410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420093"/>
              <a:ext cx="7264400" cy="466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C4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431368" y="-8975965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2757" y="600304"/>
            <a:ext cx="8841462" cy="8841462"/>
          </a:xfrm>
          <a:custGeom>
            <a:avLst/>
            <a:gdLst/>
            <a:ahLst/>
            <a:cxnLst/>
            <a:rect r="r" b="b" t="t" l="l"/>
            <a:pathLst>
              <a:path h="8841462" w="8841462">
                <a:moveTo>
                  <a:pt x="0" y="0"/>
                </a:moveTo>
                <a:lnTo>
                  <a:pt x="8841463" y="0"/>
                </a:lnTo>
                <a:lnTo>
                  <a:pt x="8841463" y="8841462"/>
                </a:lnTo>
                <a:lnTo>
                  <a:pt x="0" y="88414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MINI PROJECT: SOCIAL NETWORK</dc:description>
  <dc:identifier>DAG-RANb2xw</dc:identifier>
  <dcterms:modified xsi:type="dcterms:W3CDTF">2011-08-01T06:04:30Z</dcterms:modified>
  <cp:revision>1</cp:revision>
  <dc:title>Presentation - MINI PROJECT: SOCIAL NETWORK</dc:title>
</cp:coreProperties>
</file>