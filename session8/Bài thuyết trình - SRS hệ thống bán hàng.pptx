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Gatwick Ultra-Bold" charset="1" panose="00000900000000000000"/>
      <p:regular r:id="rId24"/>
    </p:embeddedFont>
    <p:embeddedFont>
      <p:font typeface="Codec Pro Ultra-Bold" charset="1" panose="00000700000000000000"/>
      <p:regular r:id="rId25"/>
    </p:embeddedFont>
    <p:embeddedFont>
      <p:font typeface="Codec Pro" charset="1" panose="00000500000000000000"/>
      <p:regular r:id="rId26"/>
    </p:embeddedFont>
    <p:embeddedFont>
      <p:font typeface="Codec Pro Bold" charset="1" panose="000006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EAE2D8"/>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FFFFFF"/>
            </a:solidFill>
          </p:spPr>
        </p:sp>
      </p:grpSp>
      <p:grpSp>
        <p:nvGrpSpPr>
          <p:cNvPr name="Group 5" id="5"/>
          <p:cNvGrpSpPr/>
          <p:nvPr/>
        </p:nvGrpSpPr>
        <p:grpSpPr>
          <a:xfrm rot="0">
            <a:off x="10095507" y="1171470"/>
            <a:ext cx="6898579" cy="7848810"/>
            <a:chOff x="0" y="0"/>
            <a:chExt cx="1078972" cy="1227593"/>
          </a:xfrm>
        </p:grpSpPr>
        <p:sp>
          <p:nvSpPr>
            <p:cNvPr name="Freeform 6" id="6"/>
            <p:cNvSpPr/>
            <p:nvPr/>
          </p:nvSpPr>
          <p:spPr>
            <a:xfrm flipH="false" flipV="false" rot="0">
              <a:off x="0" y="0"/>
              <a:ext cx="1078972" cy="1227593"/>
            </a:xfrm>
            <a:custGeom>
              <a:avLst/>
              <a:gdLst/>
              <a:ahLst/>
              <a:cxnLst/>
              <a:rect r="r" b="b" t="t" l="l"/>
              <a:pathLst>
                <a:path h="1227593" w="1078972">
                  <a:moveTo>
                    <a:pt x="56112" y="0"/>
                  </a:moveTo>
                  <a:lnTo>
                    <a:pt x="1022860" y="0"/>
                  </a:lnTo>
                  <a:cubicBezTo>
                    <a:pt x="1053850" y="0"/>
                    <a:pt x="1078972" y="25122"/>
                    <a:pt x="1078972" y="56112"/>
                  </a:cubicBezTo>
                  <a:lnTo>
                    <a:pt x="1078972" y="1171481"/>
                  </a:lnTo>
                  <a:cubicBezTo>
                    <a:pt x="1078972" y="1202471"/>
                    <a:pt x="1053850" y="1227593"/>
                    <a:pt x="1022860" y="1227593"/>
                  </a:cubicBezTo>
                  <a:lnTo>
                    <a:pt x="56112" y="1227593"/>
                  </a:lnTo>
                  <a:cubicBezTo>
                    <a:pt x="25122" y="1227593"/>
                    <a:pt x="0" y="1202471"/>
                    <a:pt x="0" y="1171481"/>
                  </a:cubicBezTo>
                  <a:lnTo>
                    <a:pt x="0" y="56112"/>
                  </a:lnTo>
                  <a:cubicBezTo>
                    <a:pt x="0" y="25122"/>
                    <a:pt x="25122" y="0"/>
                    <a:pt x="56112" y="0"/>
                  </a:cubicBezTo>
                  <a:close/>
                </a:path>
              </a:pathLst>
            </a:custGeom>
            <a:blipFill>
              <a:blip r:embed="rId2"/>
              <a:stretch>
                <a:fillRect l="0" t="-296" r="0" b="-296"/>
              </a:stretch>
            </a:blipFill>
            <a:ln w="38100" cap="rnd">
              <a:solidFill>
                <a:srgbClr val="000000"/>
              </a:solidFill>
              <a:prstDash val="solid"/>
              <a:round/>
            </a:ln>
          </p:spPr>
        </p:sp>
      </p:grpSp>
      <p:sp>
        <p:nvSpPr>
          <p:cNvPr name="TextBox 7" id="7"/>
          <p:cNvSpPr txBox="true"/>
          <p:nvPr/>
        </p:nvSpPr>
        <p:spPr>
          <a:xfrm rot="0">
            <a:off x="1800225" y="1906270"/>
            <a:ext cx="7496175" cy="3476625"/>
          </a:xfrm>
          <a:prstGeom prst="rect">
            <a:avLst/>
          </a:prstGeom>
        </p:spPr>
        <p:txBody>
          <a:bodyPr anchor="t" rtlCol="false" tIns="0" lIns="0" bIns="0" rIns="0">
            <a:spAutoFit/>
          </a:bodyPr>
          <a:lstStyle/>
          <a:p>
            <a:pPr algn="ctr" marL="0" indent="0" lvl="0">
              <a:lnSpc>
                <a:spcPts val="8999"/>
              </a:lnSpc>
            </a:pPr>
            <a:r>
              <a:rPr lang="en-US" b="true" sz="7499" spc="-187">
                <a:solidFill>
                  <a:srgbClr val="6A5642"/>
                </a:solidFill>
                <a:latin typeface="Gatwick Ultra-Bold"/>
                <a:ea typeface="Gatwick Ultra-Bold"/>
                <a:cs typeface="Gatwick Ultra-Bold"/>
                <a:sym typeface="Gatwick Ultra-Bold"/>
              </a:rPr>
              <a:t>SRS hệ thống bán hàng</a:t>
            </a:r>
          </a:p>
        </p:txBody>
      </p:sp>
      <p:sp>
        <p:nvSpPr>
          <p:cNvPr name="TextBox 8" id="8"/>
          <p:cNvSpPr txBox="true"/>
          <p:nvPr/>
        </p:nvSpPr>
        <p:spPr>
          <a:xfrm rot="0">
            <a:off x="1800225" y="1504950"/>
            <a:ext cx="7496175" cy="477520"/>
          </a:xfrm>
          <a:prstGeom prst="rect">
            <a:avLst/>
          </a:prstGeom>
        </p:spPr>
        <p:txBody>
          <a:bodyPr anchor="t" rtlCol="false" tIns="0" lIns="0" bIns="0" rIns="0">
            <a:spAutoFit/>
          </a:bodyPr>
          <a:lstStyle/>
          <a:p>
            <a:pPr algn="ctr" marL="0" indent="0" lvl="0">
              <a:lnSpc>
                <a:spcPts val="3499"/>
              </a:lnSpc>
              <a:spcBef>
                <a:spcPct val="0"/>
              </a:spcBef>
            </a:pPr>
            <a:r>
              <a:rPr lang="en-US" b="true" sz="2799">
                <a:solidFill>
                  <a:srgbClr val="6A5642"/>
                </a:solidFill>
                <a:latin typeface="Codec Pro Ultra-Bold"/>
                <a:ea typeface="Codec Pro Ultra-Bold"/>
                <a:cs typeface="Codec Pro Ultra-Bold"/>
                <a:sym typeface="Codec Pro Ultra-Bold"/>
              </a:rPr>
              <a:t>TÓM TẮT TÀI LIỆU</a:t>
            </a:r>
          </a:p>
        </p:txBody>
      </p:sp>
      <p:sp>
        <p:nvSpPr>
          <p:cNvPr name="TextBox 9" id="9"/>
          <p:cNvSpPr txBox="true"/>
          <p:nvPr/>
        </p:nvSpPr>
        <p:spPr>
          <a:xfrm rot="0">
            <a:off x="1800225" y="6352010"/>
            <a:ext cx="7496175" cy="2668270"/>
          </a:xfrm>
          <a:prstGeom prst="rect">
            <a:avLst/>
          </a:prstGeom>
        </p:spPr>
        <p:txBody>
          <a:bodyPr anchor="t" rtlCol="false" tIns="0" lIns="0" bIns="0" rIns="0">
            <a:spAutoFit/>
          </a:bodyPr>
          <a:lstStyle/>
          <a:p>
            <a:pPr algn="ctr">
              <a:lnSpc>
                <a:spcPts val="3499"/>
              </a:lnSpc>
            </a:pPr>
            <a:r>
              <a:rPr lang="en-US" sz="2799" b="true">
                <a:solidFill>
                  <a:srgbClr val="6A5642"/>
                </a:solidFill>
                <a:latin typeface="Codec Pro Ultra-Bold"/>
                <a:ea typeface="Codec Pro Ultra-Bold"/>
                <a:cs typeface="Codec Pro Ultra-Bold"/>
                <a:sym typeface="Codec Pro Ultra-Bold"/>
              </a:rPr>
              <a:t>Phạm Tiến Đạt ( Leader )</a:t>
            </a:r>
          </a:p>
          <a:p>
            <a:pPr algn="ctr">
              <a:lnSpc>
                <a:spcPts val="3499"/>
              </a:lnSpc>
            </a:pPr>
            <a:r>
              <a:rPr lang="en-US" sz="2799" b="true">
                <a:solidFill>
                  <a:srgbClr val="6A5642"/>
                </a:solidFill>
                <a:latin typeface="Codec Pro Ultra-Bold"/>
                <a:ea typeface="Codec Pro Ultra-Bold"/>
                <a:cs typeface="Codec Pro Ultra-Bold"/>
                <a:sym typeface="Codec Pro Ultra-Bold"/>
              </a:rPr>
              <a:t>Nguyễn Thế Kiên</a:t>
            </a:r>
          </a:p>
          <a:p>
            <a:pPr algn="ctr">
              <a:lnSpc>
                <a:spcPts val="3499"/>
              </a:lnSpc>
            </a:pPr>
            <a:r>
              <a:rPr lang="en-US" sz="2799" b="true">
                <a:solidFill>
                  <a:srgbClr val="6A5642"/>
                </a:solidFill>
                <a:latin typeface="Codec Pro Ultra-Bold"/>
                <a:ea typeface="Codec Pro Ultra-Bold"/>
                <a:cs typeface="Codec Pro Ultra-Bold"/>
                <a:sym typeface="Codec Pro Ultra-Bold"/>
              </a:rPr>
              <a:t>Nguyễn Quang Huy</a:t>
            </a:r>
          </a:p>
          <a:p>
            <a:pPr algn="ctr">
              <a:lnSpc>
                <a:spcPts val="3499"/>
              </a:lnSpc>
            </a:pPr>
            <a:r>
              <a:rPr lang="en-US" sz="2799" b="true">
                <a:solidFill>
                  <a:srgbClr val="6A5642"/>
                </a:solidFill>
                <a:latin typeface="Codec Pro Ultra-Bold"/>
                <a:ea typeface="Codec Pro Ultra-Bold"/>
                <a:cs typeface="Codec Pro Ultra-Bold"/>
                <a:sym typeface="Codec Pro Ultra-Bold"/>
              </a:rPr>
              <a:t>Lê Trung Đông</a:t>
            </a:r>
          </a:p>
          <a:p>
            <a:pPr algn="ctr">
              <a:lnSpc>
                <a:spcPts val="3499"/>
              </a:lnSpc>
            </a:pPr>
            <a:r>
              <a:rPr lang="en-US" sz="2799" b="true">
                <a:solidFill>
                  <a:srgbClr val="6A5642"/>
                </a:solidFill>
                <a:latin typeface="Codec Pro Ultra-Bold"/>
                <a:ea typeface="Codec Pro Ultra-Bold"/>
                <a:cs typeface="Codec Pro Ultra-Bold"/>
                <a:sym typeface="Codec Pro Ultra-Bold"/>
              </a:rPr>
              <a:t>Nguyễn Khắc Hưng</a:t>
            </a:r>
          </a:p>
          <a:p>
            <a:pPr algn="ctr" marL="0" indent="0" lvl="0">
              <a:lnSpc>
                <a:spcPts val="3499"/>
              </a:lnSpc>
              <a:spcBef>
                <a:spcPct val="0"/>
              </a:spcBef>
            </a:pPr>
            <a:r>
              <a:rPr lang="en-US" b="true" sz="2799">
                <a:solidFill>
                  <a:srgbClr val="6A5642"/>
                </a:solidFill>
                <a:latin typeface="Codec Pro Ultra-Bold"/>
                <a:ea typeface="Codec Pro Ultra-Bold"/>
                <a:cs typeface="Codec Pro Ultra-Bold"/>
                <a:sym typeface="Codec Pro Ultra-Bold"/>
              </a:rPr>
              <a:t>Đặng Văn Thắng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866A4F"/>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EAE2D8"/>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FFFFFF"/>
            </a:solidFill>
          </p:spPr>
        </p:sp>
      </p:grpSp>
      <p:sp>
        <p:nvSpPr>
          <p:cNvPr name="Freeform 5" id="5"/>
          <p:cNvSpPr/>
          <p:nvPr/>
        </p:nvSpPr>
        <p:spPr>
          <a:xfrm flipH="false" flipV="false" rot="0">
            <a:off x="2105025" y="2158401"/>
            <a:ext cx="5753100" cy="5970198"/>
          </a:xfrm>
          <a:custGeom>
            <a:avLst/>
            <a:gdLst/>
            <a:ahLst/>
            <a:cxnLst/>
            <a:rect r="r" b="b" t="t" l="l"/>
            <a:pathLst>
              <a:path h="5970198" w="5753100">
                <a:moveTo>
                  <a:pt x="0" y="0"/>
                </a:moveTo>
                <a:lnTo>
                  <a:pt x="5753100" y="0"/>
                </a:lnTo>
                <a:lnTo>
                  <a:pt x="5753100" y="5970198"/>
                </a:lnTo>
                <a:lnTo>
                  <a:pt x="0" y="59701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9296400" y="3062288"/>
            <a:ext cx="6886575" cy="3512820"/>
            <a:chOff x="0" y="0"/>
            <a:chExt cx="9182100" cy="4683760"/>
          </a:xfrm>
        </p:grpSpPr>
        <p:sp>
          <p:nvSpPr>
            <p:cNvPr name="TextBox 7" id="7"/>
            <p:cNvSpPr txBox="true"/>
            <p:nvPr/>
          </p:nvSpPr>
          <p:spPr>
            <a:xfrm rot="0">
              <a:off x="0" y="-57150"/>
              <a:ext cx="9182100" cy="3333750"/>
            </a:xfrm>
            <a:prstGeom prst="rect">
              <a:avLst/>
            </a:prstGeom>
          </p:spPr>
          <p:txBody>
            <a:bodyPr anchor="t" rtlCol="false" tIns="0" lIns="0" bIns="0" rIns="0">
              <a:spAutoFit/>
            </a:bodyPr>
            <a:lstStyle/>
            <a:p>
              <a:pPr algn="ctr" marL="0" indent="0" lvl="0">
                <a:lnSpc>
                  <a:spcPts val="6480"/>
                </a:lnSpc>
              </a:pPr>
              <a:r>
                <a:rPr lang="en-US" b="true" sz="5400" spc="-135">
                  <a:solidFill>
                    <a:srgbClr val="6A5642"/>
                  </a:solidFill>
                  <a:latin typeface="Gatwick Ultra-Bold"/>
                  <a:ea typeface="Gatwick Ultra-Bold"/>
                  <a:cs typeface="Gatwick Ultra-Bold"/>
                  <a:sym typeface="Gatwick Ultra-Bold"/>
                </a:rPr>
                <a:t>Mục đích xây dựng SRS cho sinh viên</a:t>
              </a:r>
            </a:p>
          </p:txBody>
        </p:sp>
        <p:sp>
          <p:nvSpPr>
            <p:cNvPr name="TextBox 8" id="8"/>
            <p:cNvSpPr txBox="true"/>
            <p:nvPr/>
          </p:nvSpPr>
          <p:spPr>
            <a:xfrm rot="0">
              <a:off x="0" y="3616325"/>
              <a:ext cx="9182100" cy="1067435"/>
            </a:xfrm>
            <a:prstGeom prst="rect">
              <a:avLst/>
            </a:prstGeom>
          </p:spPr>
          <p:txBody>
            <a:bodyPr anchor="t" rtlCol="false" tIns="0" lIns="0" bIns="0" rIns="0">
              <a:spAutoFit/>
            </a:bodyPr>
            <a:lstStyle/>
            <a:p>
              <a:pPr algn="ctr" marL="0" indent="0" lvl="0">
                <a:lnSpc>
                  <a:spcPts val="3120"/>
                </a:lnSpc>
              </a:pPr>
              <a:r>
                <a:rPr lang="en-US" sz="2400">
                  <a:solidFill>
                    <a:srgbClr val="6A5642"/>
                  </a:solidFill>
                  <a:latin typeface="Codec Pro"/>
                  <a:ea typeface="Codec Pro"/>
                  <a:cs typeface="Codec Pro"/>
                  <a:sym typeface="Codec Pro"/>
                </a:rPr>
                <a:t>SRS giúp sinh viên hiểu rõ </a:t>
              </a:r>
              <a:r>
                <a:rPr lang="en-US" b="true" sz="2400">
                  <a:solidFill>
                    <a:srgbClr val="6A5642"/>
                  </a:solidFill>
                  <a:latin typeface="Codec Pro Bold"/>
                  <a:ea typeface="Codec Pro Bold"/>
                  <a:cs typeface="Codec Pro Bold"/>
                  <a:sym typeface="Codec Pro Bold"/>
                </a:rPr>
                <a:t>hoạt động của hệ thống</a:t>
              </a:r>
              <a:r>
                <a:rPr lang="en-US" sz="2400">
                  <a:solidFill>
                    <a:srgbClr val="6A5642"/>
                  </a:solidFill>
                  <a:latin typeface="Codec Pro"/>
                  <a:ea typeface="Codec Pro"/>
                  <a:cs typeface="Codec Pro"/>
                  <a:sym typeface="Codec Pro"/>
                </a:rPr>
                <a:t>, dữ liệu lưu trữ và mối quan hệ bảng.</a:t>
              </a:r>
            </a:p>
          </p:txBody>
        </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866A4F"/>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FFFFF"/>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EAE2D8"/>
            </a:solidFill>
          </p:spPr>
        </p:sp>
      </p:grpSp>
      <p:sp>
        <p:nvSpPr>
          <p:cNvPr name="TextBox 5" id="5"/>
          <p:cNvSpPr txBox="true"/>
          <p:nvPr/>
        </p:nvSpPr>
        <p:spPr>
          <a:xfrm rot="0">
            <a:off x="2105025" y="4267200"/>
            <a:ext cx="4010025" cy="1695450"/>
          </a:xfrm>
          <a:prstGeom prst="rect">
            <a:avLst/>
          </a:prstGeom>
        </p:spPr>
        <p:txBody>
          <a:bodyPr anchor="t" rtlCol="false" tIns="0" lIns="0" bIns="0" rIns="0">
            <a:spAutoFit/>
          </a:bodyPr>
          <a:lstStyle/>
          <a:p>
            <a:pPr algn="ctr" marL="0" indent="0" lvl="0">
              <a:lnSpc>
                <a:spcPts val="6480"/>
              </a:lnSpc>
            </a:pPr>
            <a:r>
              <a:rPr lang="en-US" b="true" sz="5400" spc="-135">
                <a:solidFill>
                  <a:srgbClr val="6A5642"/>
                </a:solidFill>
                <a:latin typeface="Gatwick Ultra-Bold"/>
                <a:ea typeface="Gatwick Ultra-Bold"/>
                <a:cs typeface="Gatwick Ultra-Bold"/>
                <a:sym typeface="Gatwick Ultra-Bold"/>
              </a:rPr>
              <a:t>Phạm vi hệ thống</a:t>
            </a:r>
          </a:p>
        </p:txBody>
      </p:sp>
      <p:grpSp>
        <p:nvGrpSpPr>
          <p:cNvPr name="Group 6" id="6"/>
          <p:cNvGrpSpPr/>
          <p:nvPr/>
        </p:nvGrpSpPr>
        <p:grpSpPr>
          <a:xfrm rot="0">
            <a:off x="6909150" y="1562100"/>
            <a:ext cx="9578625" cy="7162800"/>
            <a:chOff x="0" y="0"/>
            <a:chExt cx="2522765" cy="1886499"/>
          </a:xfrm>
        </p:grpSpPr>
        <p:sp>
          <p:nvSpPr>
            <p:cNvPr name="Freeform 7" id="7"/>
            <p:cNvSpPr/>
            <p:nvPr/>
          </p:nvSpPr>
          <p:spPr>
            <a:xfrm flipH="false" flipV="false" rot="0">
              <a:off x="0" y="0"/>
              <a:ext cx="2522765" cy="1886499"/>
            </a:xfrm>
            <a:custGeom>
              <a:avLst/>
              <a:gdLst/>
              <a:ahLst/>
              <a:cxnLst/>
              <a:rect r="r" b="b" t="t" l="l"/>
              <a:pathLst>
                <a:path h="1886499" w="2522765">
                  <a:moveTo>
                    <a:pt x="40412" y="0"/>
                  </a:moveTo>
                  <a:lnTo>
                    <a:pt x="2482353" y="0"/>
                  </a:lnTo>
                  <a:cubicBezTo>
                    <a:pt x="2493071" y="0"/>
                    <a:pt x="2503350" y="4258"/>
                    <a:pt x="2510929" y="11837"/>
                  </a:cubicBezTo>
                  <a:cubicBezTo>
                    <a:pt x="2518508" y="19415"/>
                    <a:pt x="2522765" y="29694"/>
                    <a:pt x="2522765" y="40412"/>
                  </a:cubicBezTo>
                  <a:lnTo>
                    <a:pt x="2522765" y="1846086"/>
                  </a:lnTo>
                  <a:cubicBezTo>
                    <a:pt x="2522765" y="1856804"/>
                    <a:pt x="2518508" y="1867084"/>
                    <a:pt x="2510929" y="1874662"/>
                  </a:cubicBezTo>
                  <a:cubicBezTo>
                    <a:pt x="2503350" y="1882241"/>
                    <a:pt x="2493071" y="1886499"/>
                    <a:pt x="2482353" y="1886499"/>
                  </a:cubicBezTo>
                  <a:lnTo>
                    <a:pt x="40412" y="1886499"/>
                  </a:lnTo>
                  <a:cubicBezTo>
                    <a:pt x="29694" y="1886499"/>
                    <a:pt x="19415" y="1882241"/>
                    <a:pt x="11837" y="1874662"/>
                  </a:cubicBezTo>
                  <a:cubicBezTo>
                    <a:pt x="4258" y="1867084"/>
                    <a:pt x="0" y="1856804"/>
                    <a:pt x="0" y="1846086"/>
                  </a:cubicBezTo>
                  <a:lnTo>
                    <a:pt x="0" y="40412"/>
                  </a:lnTo>
                  <a:cubicBezTo>
                    <a:pt x="0" y="29694"/>
                    <a:pt x="4258" y="19415"/>
                    <a:pt x="11837" y="11837"/>
                  </a:cubicBezTo>
                  <a:cubicBezTo>
                    <a:pt x="19415" y="4258"/>
                    <a:pt x="29694" y="0"/>
                    <a:pt x="40412" y="0"/>
                  </a:cubicBezTo>
                  <a:close/>
                </a:path>
              </a:pathLst>
            </a:custGeom>
            <a:solidFill>
              <a:srgbClr val="000000">
                <a:alpha val="0"/>
              </a:srgbClr>
            </a:solidFill>
            <a:ln w="38100" cap="rnd">
              <a:solidFill>
                <a:srgbClr val="000000"/>
              </a:solidFill>
              <a:prstDash val="solid"/>
              <a:round/>
            </a:ln>
          </p:spPr>
        </p:sp>
        <p:sp>
          <p:nvSpPr>
            <p:cNvPr name="TextBox 8" id="8"/>
            <p:cNvSpPr txBox="true"/>
            <p:nvPr/>
          </p:nvSpPr>
          <p:spPr>
            <a:xfrm>
              <a:off x="0" y="-66675"/>
              <a:ext cx="2522765" cy="1953174"/>
            </a:xfrm>
            <a:prstGeom prst="rect">
              <a:avLst/>
            </a:prstGeom>
          </p:spPr>
          <p:txBody>
            <a:bodyPr anchor="ctr" rtlCol="false" tIns="127000" lIns="127000" bIns="127000" rIns="127000"/>
            <a:lstStyle/>
            <a:p>
              <a:pPr algn="ctr" marL="0" indent="0" lvl="0">
                <a:lnSpc>
                  <a:spcPts val="3120"/>
                </a:lnSpc>
              </a:pPr>
            </a:p>
          </p:txBody>
        </p:sp>
      </p:grpSp>
      <p:sp>
        <p:nvSpPr>
          <p:cNvPr name="TextBox 9" id="9"/>
          <p:cNvSpPr txBox="true"/>
          <p:nvPr/>
        </p:nvSpPr>
        <p:spPr>
          <a:xfrm rot="0">
            <a:off x="7553325" y="3676650"/>
            <a:ext cx="8290275" cy="2769870"/>
          </a:xfrm>
          <a:prstGeom prst="rect">
            <a:avLst/>
          </a:prstGeom>
        </p:spPr>
        <p:txBody>
          <a:bodyPr anchor="t" rtlCol="false" tIns="0" lIns="0" bIns="0" rIns="0">
            <a:spAutoFit/>
          </a:bodyPr>
          <a:lstStyle/>
          <a:p>
            <a:pPr algn="ctr" marL="0" indent="0" lvl="0">
              <a:lnSpc>
                <a:spcPts val="3120"/>
              </a:lnSpc>
            </a:pPr>
            <a:r>
              <a:rPr lang="en-US" sz="2400">
                <a:solidFill>
                  <a:srgbClr val="6A5642"/>
                </a:solidFill>
                <a:latin typeface="Codec Pro"/>
                <a:ea typeface="Codec Pro"/>
                <a:cs typeface="Codec Pro"/>
                <a:sym typeface="Codec Pro"/>
              </a:rPr>
              <a:t>Hệ thống bán hàng trực tuyến được thiết kế để </a:t>
            </a:r>
            <a:r>
              <a:rPr lang="en-US" b="true" sz="2400">
                <a:solidFill>
                  <a:srgbClr val="6A5642"/>
                </a:solidFill>
                <a:latin typeface="Codec Pro Bold"/>
                <a:ea typeface="Codec Pro Bold"/>
                <a:cs typeface="Codec Pro Bold"/>
                <a:sym typeface="Codec Pro Bold"/>
              </a:rPr>
              <a:t>quản lý khách hàng, sản phẩm và danh mục</a:t>
            </a:r>
            <a:r>
              <a:rPr lang="en-US" sz="2400">
                <a:solidFill>
                  <a:srgbClr val="6A5642"/>
                </a:solidFill>
                <a:latin typeface="Codec Pro"/>
                <a:ea typeface="Codec Pro"/>
                <a:cs typeface="Codec Pro"/>
                <a:sym typeface="Codec Pro"/>
              </a:rPr>
              <a:t>, cùng với đơn hàng và chi tiết đơn hàng. Hệ thống hỗ trợ các chức năng truy vấn, thống kê và báo cáo để giúp người dùng theo dõi và phân tích hoạt động kinh doanh hiệu quả. Tuy nhiên, cần lưu ý rằng chức năng thanh toán trực tuyến </a:t>
            </a:r>
            <a:r>
              <a:rPr lang="en-US" b="true" sz="2400">
                <a:solidFill>
                  <a:srgbClr val="6A5642"/>
                </a:solidFill>
                <a:latin typeface="Codec Pro Bold"/>
                <a:ea typeface="Codec Pro Bold"/>
                <a:cs typeface="Codec Pro Bold"/>
                <a:sym typeface="Codec Pro Bold"/>
              </a:rPr>
              <a:t>không được bao gồm</a:t>
            </a:r>
            <a:r>
              <a:rPr lang="en-US" sz="2400">
                <a:solidFill>
                  <a:srgbClr val="6A5642"/>
                </a:solidFill>
                <a:latin typeface="Codec Pro"/>
                <a:ea typeface="Codec Pro"/>
                <a:cs typeface="Codec Pro"/>
                <a:sym typeface="Codec Pro"/>
              </a:rPr>
              <a:t> trong phạm vi của hệ thống này.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866A4F"/>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EAE2D8"/>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FFFFFF"/>
            </a:solidFill>
          </p:spPr>
        </p:sp>
      </p:grpSp>
      <p:sp>
        <p:nvSpPr>
          <p:cNvPr name="Freeform 5" id="5"/>
          <p:cNvSpPr/>
          <p:nvPr/>
        </p:nvSpPr>
        <p:spPr>
          <a:xfrm flipH="false" flipV="false" rot="0">
            <a:off x="2105025" y="2158401"/>
            <a:ext cx="5753100" cy="5970198"/>
          </a:xfrm>
          <a:custGeom>
            <a:avLst/>
            <a:gdLst/>
            <a:ahLst/>
            <a:cxnLst/>
            <a:rect r="r" b="b" t="t" l="l"/>
            <a:pathLst>
              <a:path h="5970198" w="5753100">
                <a:moveTo>
                  <a:pt x="0" y="0"/>
                </a:moveTo>
                <a:lnTo>
                  <a:pt x="5753100" y="0"/>
                </a:lnTo>
                <a:lnTo>
                  <a:pt x="5753100" y="5970198"/>
                </a:lnTo>
                <a:lnTo>
                  <a:pt x="0" y="59701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9296400" y="2867025"/>
            <a:ext cx="6886575" cy="3903345"/>
            <a:chOff x="0" y="0"/>
            <a:chExt cx="9182100" cy="5204460"/>
          </a:xfrm>
        </p:grpSpPr>
        <p:sp>
          <p:nvSpPr>
            <p:cNvPr name="TextBox 7" id="7"/>
            <p:cNvSpPr txBox="true"/>
            <p:nvPr/>
          </p:nvSpPr>
          <p:spPr>
            <a:xfrm rot="0">
              <a:off x="0" y="-57150"/>
              <a:ext cx="9182100" cy="3333750"/>
            </a:xfrm>
            <a:prstGeom prst="rect">
              <a:avLst/>
            </a:prstGeom>
          </p:spPr>
          <p:txBody>
            <a:bodyPr anchor="t" rtlCol="false" tIns="0" lIns="0" bIns="0" rIns="0">
              <a:spAutoFit/>
            </a:bodyPr>
            <a:lstStyle/>
            <a:p>
              <a:pPr algn="ctr" marL="0" indent="0" lvl="0">
                <a:lnSpc>
                  <a:spcPts val="6480"/>
                </a:lnSpc>
              </a:pPr>
              <a:r>
                <a:rPr lang="en-US" b="true" sz="5400" spc="-135">
                  <a:solidFill>
                    <a:srgbClr val="6A5642"/>
                  </a:solidFill>
                  <a:latin typeface="Gatwick Ultra-Bold"/>
                  <a:ea typeface="Gatwick Ultra-Bold"/>
                  <a:cs typeface="Gatwick Ultra-Bold"/>
                  <a:sym typeface="Gatwick Ultra-Bold"/>
                </a:rPr>
                <a:t>Tổng quan hệ thống và các thực thể chính</a:t>
              </a:r>
            </a:p>
          </p:txBody>
        </p:sp>
        <p:sp>
          <p:nvSpPr>
            <p:cNvPr name="TextBox 8" id="8"/>
            <p:cNvSpPr txBox="true"/>
            <p:nvPr/>
          </p:nvSpPr>
          <p:spPr>
            <a:xfrm rot="0">
              <a:off x="0" y="3616325"/>
              <a:ext cx="9182100" cy="1588135"/>
            </a:xfrm>
            <a:prstGeom prst="rect">
              <a:avLst/>
            </a:prstGeom>
          </p:spPr>
          <p:txBody>
            <a:bodyPr anchor="t" rtlCol="false" tIns="0" lIns="0" bIns="0" rIns="0">
              <a:spAutoFit/>
            </a:bodyPr>
            <a:lstStyle/>
            <a:p>
              <a:pPr algn="ctr" marL="0" indent="0" lvl="0">
                <a:lnSpc>
                  <a:spcPts val="3120"/>
                </a:lnSpc>
              </a:pPr>
              <a:r>
                <a:rPr lang="en-US" sz="2400">
                  <a:solidFill>
                    <a:srgbClr val="6A5642"/>
                  </a:solidFill>
                  <a:latin typeface="Codec Pro"/>
                  <a:ea typeface="Codec Pro"/>
                  <a:cs typeface="Codec Pro"/>
                  <a:sym typeface="Codec Pro"/>
                </a:rPr>
                <a:t>Hệ thống bán hàng trực tuyến bao gồm các quy trình lưu trữ khách hàng và quản lý đơn hàng hiệu quả.</a:t>
              </a:r>
            </a:p>
          </p:txBody>
        </p:sp>
      </p:grpSp>
    </p:spTree>
  </p:cSld>
  <p:clrMapOvr>
    <a:masterClrMapping/>
  </p:clrMapOvr>
</p:sld>
</file>

<file path=ppt/slides/slide5.xml><?xml version="1.0" encoding="utf-8"?>
<p:sld xmlns:p="http://schemas.openxmlformats.org/presentationml/2006/main" xmlns:a="http://schemas.openxmlformats.org/drawingml/2006/main">
  <p:cSld>
    <p:bg>
      <p:bgPr>
        <a:solidFill>
          <a:srgbClr val="866A4F"/>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FFFFF"/>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EAE2D8"/>
            </a:solidFill>
          </p:spPr>
        </p:sp>
      </p:grpSp>
      <p:sp>
        <p:nvSpPr>
          <p:cNvPr name="TextBox 5" id="5"/>
          <p:cNvSpPr txBox="true"/>
          <p:nvPr/>
        </p:nvSpPr>
        <p:spPr>
          <a:xfrm rot="0">
            <a:off x="2105025" y="4267200"/>
            <a:ext cx="4010025" cy="1695450"/>
          </a:xfrm>
          <a:prstGeom prst="rect">
            <a:avLst/>
          </a:prstGeom>
        </p:spPr>
        <p:txBody>
          <a:bodyPr anchor="t" rtlCol="false" tIns="0" lIns="0" bIns="0" rIns="0">
            <a:spAutoFit/>
          </a:bodyPr>
          <a:lstStyle/>
          <a:p>
            <a:pPr algn="ctr" marL="0" indent="0" lvl="0">
              <a:lnSpc>
                <a:spcPts val="6480"/>
              </a:lnSpc>
            </a:pPr>
            <a:r>
              <a:rPr lang="en-US" b="true" sz="5400" spc="-135">
                <a:solidFill>
                  <a:srgbClr val="6A5642"/>
                </a:solidFill>
                <a:latin typeface="Gatwick Ultra-Bold"/>
                <a:ea typeface="Gatwick Ultra-Bold"/>
                <a:cs typeface="Gatwick Ultra-Bold"/>
                <a:sym typeface="Gatwick Ultra-Bold"/>
              </a:rPr>
              <a:t>Quy trình nghiệp vụ</a:t>
            </a:r>
          </a:p>
        </p:txBody>
      </p:sp>
      <p:grpSp>
        <p:nvGrpSpPr>
          <p:cNvPr name="Group 6" id="6"/>
          <p:cNvGrpSpPr/>
          <p:nvPr/>
        </p:nvGrpSpPr>
        <p:grpSpPr>
          <a:xfrm rot="0">
            <a:off x="6909150" y="1562100"/>
            <a:ext cx="9578625" cy="7162800"/>
            <a:chOff x="0" y="0"/>
            <a:chExt cx="2522765" cy="1886499"/>
          </a:xfrm>
        </p:grpSpPr>
        <p:sp>
          <p:nvSpPr>
            <p:cNvPr name="Freeform 7" id="7"/>
            <p:cNvSpPr/>
            <p:nvPr/>
          </p:nvSpPr>
          <p:spPr>
            <a:xfrm flipH="false" flipV="false" rot="0">
              <a:off x="0" y="0"/>
              <a:ext cx="2522765" cy="1886499"/>
            </a:xfrm>
            <a:custGeom>
              <a:avLst/>
              <a:gdLst/>
              <a:ahLst/>
              <a:cxnLst/>
              <a:rect r="r" b="b" t="t" l="l"/>
              <a:pathLst>
                <a:path h="1886499" w="2522765">
                  <a:moveTo>
                    <a:pt x="40412" y="0"/>
                  </a:moveTo>
                  <a:lnTo>
                    <a:pt x="2482353" y="0"/>
                  </a:lnTo>
                  <a:cubicBezTo>
                    <a:pt x="2493071" y="0"/>
                    <a:pt x="2503350" y="4258"/>
                    <a:pt x="2510929" y="11837"/>
                  </a:cubicBezTo>
                  <a:cubicBezTo>
                    <a:pt x="2518508" y="19415"/>
                    <a:pt x="2522765" y="29694"/>
                    <a:pt x="2522765" y="40412"/>
                  </a:cubicBezTo>
                  <a:lnTo>
                    <a:pt x="2522765" y="1846086"/>
                  </a:lnTo>
                  <a:cubicBezTo>
                    <a:pt x="2522765" y="1856804"/>
                    <a:pt x="2518508" y="1867084"/>
                    <a:pt x="2510929" y="1874662"/>
                  </a:cubicBezTo>
                  <a:cubicBezTo>
                    <a:pt x="2503350" y="1882241"/>
                    <a:pt x="2493071" y="1886499"/>
                    <a:pt x="2482353" y="1886499"/>
                  </a:cubicBezTo>
                  <a:lnTo>
                    <a:pt x="40412" y="1886499"/>
                  </a:lnTo>
                  <a:cubicBezTo>
                    <a:pt x="29694" y="1886499"/>
                    <a:pt x="19415" y="1882241"/>
                    <a:pt x="11837" y="1874662"/>
                  </a:cubicBezTo>
                  <a:cubicBezTo>
                    <a:pt x="4258" y="1867084"/>
                    <a:pt x="0" y="1856804"/>
                    <a:pt x="0" y="1846086"/>
                  </a:cubicBezTo>
                  <a:lnTo>
                    <a:pt x="0" y="40412"/>
                  </a:lnTo>
                  <a:cubicBezTo>
                    <a:pt x="0" y="29694"/>
                    <a:pt x="4258" y="19415"/>
                    <a:pt x="11837" y="11837"/>
                  </a:cubicBezTo>
                  <a:cubicBezTo>
                    <a:pt x="19415" y="4258"/>
                    <a:pt x="29694" y="0"/>
                    <a:pt x="40412" y="0"/>
                  </a:cubicBezTo>
                  <a:close/>
                </a:path>
              </a:pathLst>
            </a:custGeom>
            <a:solidFill>
              <a:srgbClr val="000000">
                <a:alpha val="0"/>
              </a:srgbClr>
            </a:solidFill>
            <a:ln w="38100" cap="rnd">
              <a:solidFill>
                <a:srgbClr val="000000"/>
              </a:solidFill>
              <a:prstDash val="solid"/>
              <a:round/>
            </a:ln>
          </p:spPr>
        </p:sp>
        <p:sp>
          <p:nvSpPr>
            <p:cNvPr name="TextBox 8" id="8"/>
            <p:cNvSpPr txBox="true"/>
            <p:nvPr/>
          </p:nvSpPr>
          <p:spPr>
            <a:xfrm>
              <a:off x="0" y="-66675"/>
              <a:ext cx="2522765" cy="1953174"/>
            </a:xfrm>
            <a:prstGeom prst="rect">
              <a:avLst/>
            </a:prstGeom>
          </p:spPr>
          <p:txBody>
            <a:bodyPr anchor="ctr" rtlCol="false" tIns="127000" lIns="127000" bIns="127000" rIns="127000"/>
            <a:lstStyle/>
            <a:p>
              <a:pPr algn="ctr" marL="0" indent="0" lvl="0">
                <a:lnSpc>
                  <a:spcPts val="3120"/>
                </a:lnSpc>
              </a:pPr>
            </a:p>
          </p:txBody>
        </p:sp>
      </p:grpSp>
      <p:sp>
        <p:nvSpPr>
          <p:cNvPr name="TextBox 9" id="9"/>
          <p:cNvSpPr txBox="true"/>
          <p:nvPr/>
        </p:nvSpPr>
        <p:spPr>
          <a:xfrm rot="0">
            <a:off x="7553325" y="3676650"/>
            <a:ext cx="8290275" cy="2769870"/>
          </a:xfrm>
          <a:prstGeom prst="rect">
            <a:avLst/>
          </a:prstGeom>
        </p:spPr>
        <p:txBody>
          <a:bodyPr anchor="t" rtlCol="false" tIns="0" lIns="0" bIns="0" rIns="0">
            <a:spAutoFit/>
          </a:bodyPr>
          <a:lstStyle/>
          <a:p>
            <a:pPr algn="ctr" marL="0" indent="0" lvl="0">
              <a:lnSpc>
                <a:spcPts val="3120"/>
              </a:lnSpc>
            </a:pPr>
            <a:r>
              <a:rPr lang="en-US" sz="2400">
                <a:solidFill>
                  <a:srgbClr val="6A5642"/>
                </a:solidFill>
                <a:latin typeface="Codec Pro"/>
                <a:ea typeface="Codec Pro"/>
                <a:cs typeface="Codec Pro"/>
                <a:sym typeface="Codec Pro"/>
              </a:rPr>
              <a:t>Quy trình nghiệp vụ của hệ thống bán hàng trực tuyến bao gồm các hoạt động chính như lưu trữ thông tin </a:t>
            </a:r>
            <a:r>
              <a:rPr lang="en-US" b="true" sz="2400">
                <a:solidFill>
                  <a:srgbClr val="6A5642"/>
                </a:solidFill>
                <a:latin typeface="Codec Pro Bold"/>
                <a:ea typeface="Codec Pro Bold"/>
                <a:cs typeface="Codec Pro Bold"/>
                <a:sym typeface="Codec Pro Bold"/>
              </a:rPr>
              <a:t>khách hàng</a:t>
            </a:r>
            <a:r>
              <a:rPr lang="en-US" sz="2400">
                <a:solidFill>
                  <a:srgbClr val="6A5642"/>
                </a:solidFill>
                <a:latin typeface="Codec Pro"/>
                <a:ea typeface="Codec Pro"/>
                <a:cs typeface="Codec Pro"/>
                <a:sym typeface="Codec Pro"/>
              </a:rPr>
              <a:t>, phân loại sản phẩm, và quản lý đơn hàng. Khi khách hàng đặt đơn hàng, hệ thống sẽ ghi nhận thông tin chi tiết về đơn hàng đó, bao gồm số lượng và danh sách sản phẩm. Điều này giúp đảm bảo quá trình xử lý đơn hàng diễn ra suôn sẻ và hiệu quả.</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EAE2D8"/>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FFFFFF"/>
            </a:solidFill>
          </p:spPr>
        </p:sp>
      </p:grpSp>
      <p:grpSp>
        <p:nvGrpSpPr>
          <p:cNvPr name="Group 5" id="5"/>
          <p:cNvGrpSpPr/>
          <p:nvPr/>
        </p:nvGrpSpPr>
        <p:grpSpPr>
          <a:xfrm rot="0">
            <a:off x="1800225" y="3352800"/>
            <a:ext cx="4619625" cy="3231344"/>
            <a:chOff x="0" y="0"/>
            <a:chExt cx="650279" cy="454859"/>
          </a:xfrm>
        </p:grpSpPr>
        <p:sp>
          <p:nvSpPr>
            <p:cNvPr name="Freeform 6" id="6"/>
            <p:cNvSpPr/>
            <p:nvPr/>
          </p:nvSpPr>
          <p:spPr>
            <a:xfrm flipH="false" flipV="false" rot="0">
              <a:off x="0" y="0"/>
              <a:ext cx="650279" cy="454859"/>
            </a:xfrm>
            <a:custGeom>
              <a:avLst/>
              <a:gdLst/>
              <a:ahLst/>
              <a:cxnLst/>
              <a:rect r="r" b="b" t="t" l="l"/>
              <a:pathLst>
                <a:path h="454859" w="650279">
                  <a:moveTo>
                    <a:pt x="83794" y="0"/>
                  </a:moveTo>
                  <a:lnTo>
                    <a:pt x="566485" y="0"/>
                  </a:lnTo>
                  <a:cubicBezTo>
                    <a:pt x="588709" y="0"/>
                    <a:pt x="610022" y="8828"/>
                    <a:pt x="625737" y="24543"/>
                  </a:cubicBezTo>
                  <a:cubicBezTo>
                    <a:pt x="641451" y="40257"/>
                    <a:pt x="650279" y="61570"/>
                    <a:pt x="650279" y="83794"/>
                  </a:cubicBezTo>
                  <a:lnTo>
                    <a:pt x="650279" y="371065"/>
                  </a:lnTo>
                  <a:cubicBezTo>
                    <a:pt x="650279" y="393288"/>
                    <a:pt x="641451" y="414602"/>
                    <a:pt x="625737" y="430316"/>
                  </a:cubicBezTo>
                  <a:cubicBezTo>
                    <a:pt x="610022" y="446030"/>
                    <a:pt x="588709" y="454859"/>
                    <a:pt x="566485" y="454859"/>
                  </a:cubicBezTo>
                  <a:lnTo>
                    <a:pt x="83794" y="454859"/>
                  </a:lnTo>
                  <a:cubicBezTo>
                    <a:pt x="61570" y="454859"/>
                    <a:pt x="40257" y="446030"/>
                    <a:pt x="24543" y="430316"/>
                  </a:cubicBezTo>
                  <a:cubicBezTo>
                    <a:pt x="8828" y="414602"/>
                    <a:pt x="0" y="393288"/>
                    <a:pt x="0" y="371065"/>
                  </a:cubicBezTo>
                  <a:lnTo>
                    <a:pt x="0" y="83794"/>
                  </a:lnTo>
                  <a:cubicBezTo>
                    <a:pt x="0" y="61570"/>
                    <a:pt x="8828" y="40257"/>
                    <a:pt x="24543" y="24543"/>
                  </a:cubicBezTo>
                  <a:cubicBezTo>
                    <a:pt x="40257" y="8828"/>
                    <a:pt x="61570" y="0"/>
                    <a:pt x="83794" y="0"/>
                  </a:cubicBezTo>
                  <a:close/>
                </a:path>
              </a:pathLst>
            </a:custGeom>
            <a:blipFill>
              <a:blip r:embed="rId2"/>
              <a:stretch>
                <a:fillRect l="-232" t="0" r="-232" b="0"/>
              </a:stretch>
            </a:blipFill>
            <a:ln w="38100" cap="rnd">
              <a:solidFill>
                <a:srgbClr val="000000"/>
              </a:solidFill>
              <a:prstDash val="solid"/>
              <a:round/>
            </a:ln>
          </p:spPr>
        </p:sp>
      </p:grpSp>
      <p:grpSp>
        <p:nvGrpSpPr>
          <p:cNvPr name="Group 7" id="7"/>
          <p:cNvGrpSpPr/>
          <p:nvPr/>
        </p:nvGrpSpPr>
        <p:grpSpPr>
          <a:xfrm rot="0">
            <a:off x="6834188" y="3352800"/>
            <a:ext cx="4619625" cy="3231344"/>
            <a:chOff x="0" y="0"/>
            <a:chExt cx="650279" cy="454859"/>
          </a:xfrm>
        </p:grpSpPr>
        <p:sp>
          <p:nvSpPr>
            <p:cNvPr name="Freeform 8" id="8"/>
            <p:cNvSpPr/>
            <p:nvPr/>
          </p:nvSpPr>
          <p:spPr>
            <a:xfrm flipH="false" flipV="false" rot="0">
              <a:off x="0" y="0"/>
              <a:ext cx="650279" cy="454859"/>
            </a:xfrm>
            <a:custGeom>
              <a:avLst/>
              <a:gdLst/>
              <a:ahLst/>
              <a:cxnLst/>
              <a:rect r="r" b="b" t="t" l="l"/>
              <a:pathLst>
                <a:path h="454859" w="650279">
                  <a:moveTo>
                    <a:pt x="83794" y="0"/>
                  </a:moveTo>
                  <a:lnTo>
                    <a:pt x="566485" y="0"/>
                  </a:lnTo>
                  <a:cubicBezTo>
                    <a:pt x="588709" y="0"/>
                    <a:pt x="610022" y="8828"/>
                    <a:pt x="625737" y="24543"/>
                  </a:cubicBezTo>
                  <a:cubicBezTo>
                    <a:pt x="641451" y="40257"/>
                    <a:pt x="650279" y="61570"/>
                    <a:pt x="650279" y="83794"/>
                  </a:cubicBezTo>
                  <a:lnTo>
                    <a:pt x="650279" y="371065"/>
                  </a:lnTo>
                  <a:cubicBezTo>
                    <a:pt x="650279" y="393288"/>
                    <a:pt x="641451" y="414602"/>
                    <a:pt x="625737" y="430316"/>
                  </a:cubicBezTo>
                  <a:cubicBezTo>
                    <a:pt x="610022" y="446030"/>
                    <a:pt x="588709" y="454859"/>
                    <a:pt x="566485" y="454859"/>
                  </a:cubicBezTo>
                  <a:lnTo>
                    <a:pt x="83794" y="454859"/>
                  </a:lnTo>
                  <a:cubicBezTo>
                    <a:pt x="61570" y="454859"/>
                    <a:pt x="40257" y="446030"/>
                    <a:pt x="24543" y="430316"/>
                  </a:cubicBezTo>
                  <a:cubicBezTo>
                    <a:pt x="8828" y="414602"/>
                    <a:pt x="0" y="393288"/>
                    <a:pt x="0" y="371065"/>
                  </a:cubicBezTo>
                  <a:lnTo>
                    <a:pt x="0" y="83794"/>
                  </a:lnTo>
                  <a:cubicBezTo>
                    <a:pt x="0" y="61570"/>
                    <a:pt x="8828" y="40257"/>
                    <a:pt x="24543" y="24543"/>
                  </a:cubicBezTo>
                  <a:cubicBezTo>
                    <a:pt x="40257" y="8828"/>
                    <a:pt x="61570" y="0"/>
                    <a:pt x="83794" y="0"/>
                  </a:cubicBezTo>
                  <a:close/>
                </a:path>
              </a:pathLst>
            </a:custGeom>
            <a:blipFill>
              <a:blip r:embed="rId3"/>
              <a:stretch>
                <a:fillRect l="-232" t="0" r="-232" b="0"/>
              </a:stretch>
            </a:blipFill>
            <a:ln w="38100" cap="rnd">
              <a:solidFill>
                <a:srgbClr val="000000"/>
              </a:solidFill>
              <a:prstDash val="solid"/>
              <a:round/>
            </a:ln>
          </p:spPr>
        </p:sp>
      </p:grpSp>
      <p:grpSp>
        <p:nvGrpSpPr>
          <p:cNvPr name="Group 9" id="9"/>
          <p:cNvGrpSpPr/>
          <p:nvPr/>
        </p:nvGrpSpPr>
        <p:grpSpPr>
          <a:xfrm rot="0">
            <a:off x="11865501" y="3352800"/>
            <a:ext cx="4623063" cy="3231344"/>
            <a:chOff x="0" y="0"/>
            <a:chExt cx="650763" cy="454859"/>
          </a:xfrm>
        </p:grpSpPr>
        <p:sp>
          <p:nvSpPr>
            <p:cNvPr name="Freeform 10" id="10"/>
            <p:cNvSpPr/>
            <p:nvPr/>
          </p:nvSpPr>
          <p:spPr>
            <a:xfrm flipH="false" flipV="false" rot="0">
              <a:off x="0" y="0"/>
              <a:ext cx="650763" cy="454859"/>
            </a:xfrm>
            <a:custGeom>
              <a:avLst/>
              <a:gdLst/>
              <a:ahLst/>
              <a:cxnLst/>
              <a:rect r="r" b="b" t="t" l="l"/>
              <a:pathLst>
                <a:path h="454859" w="650763">
                  <a:moveTo>
                    <a:pt x="83732" y="0"/>
                  </a:moveTo>
                  <a:lnTo>
                    <a:pt x="567032" y="0"/>
                  </a:lnTo>
                  <a:cubicBezTo>
                    <a:pt x="589239" y="0"/>
                    <a:pt x="610536" y="8822"/>
                    <a:pt x="626239" y="24524"/>
                  </a:cubicBezTo>
                  <a:cubicBezTo>
                    <a:pt x="641941" y="40227"/>
                    <a:pt x="650763" y="61525"/>
                    <a:pt x="650763" y="83732"/>
                  </a:cubicBezTo>
                  <a:lnTo>
                    <a:pt x="650763" y="371127"/>
                  </a:lnTo>
                  <a:cubicBezTo>
                    <a:pt x="650763" y="393334"/>
                    <a:pt x="641941" y="414631"/>
                    <a:pt x="626239" y="430334"/>
                  </a:cubicBezTo>
                  <a:cubicBezTo>
                    <a:pt x="610536" y="446037"/>
                    <a:pt x="589239" y="454859"/>
                    <a:pt x="567032" y="454859"/>
                  </a:cubicBezTo>
                  <a:lnTo>
                    <a:pt x="83732" y="454859"/>
                  </a:lnTo>
                  <a:cubicBezTo>
                    <a:pt x="61525" y="454859"/>
                    <a:pt x="40227" y="446037"/>
                    <a:pt x="24524" y="430334"/>
                  </a:cubicBezTo>
                  <a:cubicBezTo>
                    <a:pt x="8822" y="414631"/>
                    <a:pt x="0" y="393334"/>
                    <a:pt x="0" y="371127"/>
                  </a:cubicBezTo>
                  <a:lnTo>
                    <a:pt x="0" y="83732"/>
                  </a:lnTo>
                  <a:cubicBezTo>
                    <a:pt x="0" y="61525"/>
                    <a:pt x="8822" y="40227"/>
                    <a:pt x="24524" y="24524"/>
                  </a:cubicBezTo>
                  <a:cubicBezTo>
                    <a:pt x="40227" y="8822"/>
                    <a:pt x="61525" y="0"/>
                    <a:pt x="83732" y="0"/>
                  </a:cubicBezTo>
                  <a:close/>
                </a:path>
              </a:pathLst>
            </a:custGeom>
            <a:blipFill>
              <a:blip r:embed="rId4"/>
              <a:stretch>
                <a:fillRect l="-194" t="0" r="-194" b="0"/>
              </a:stretch>
            </a:blipFill>
            <a:ln w="38100" cap="rnd">
              <a:solidFill>
                <a:srgbClr val="000000"/>
              </a:solidFill>
              <a:prstDash val="solid"/>
              <a:round/>
            </a:ln>
          </p:spPr>
        </p:sp>
      </p:grpSp>
      <p:grpSp>
        <p:nvGrpSpPr>
          <p:cNvPr name="Group 11" id="11"/>
          <p:cNvGrpSpPr/>
          <p:nvPr/>
        </p:nvGrpSpPr>
        <p:grpSpPr>
          <a:xfrm rot="0">
            <a:off x="1800225" y="6934200"/>
            <a:ext cx="4619625" cy="1196340"/>
            <a:chOff x="0" y="0"/>
            <a:chExt cx="6159500" cy="1595120"/>
          </a:xfrm>
        </p:grpSpPr>
        <p:sp>
          <p:nvSpPr>
            <p:cNvPr name="TextBox 12" id="12"/>
            <p:cNvSpPr txBox="true"/>
            <p:nvPr/>
          </p:nvSpPr>
          <p:spPr>
            <a:xfrm rot="0">
              <a:off x="0" y="527685"/>
              <a:ext cx="6159500" cy="1067435"/>
            </a:xfrm>
            <a:prstGeom prst="rect">
              <a:avLst/>
            </a:prstGeom>
          </p:spPr>
          <p:txBody>
            <a:bodyPr anchor="t" rtlCol="false" tIns="0" lIns="0" bIns="0" rIns="0">
              <a:spAutoFit/>
            </a:bodyPr>
            <a:lstStyle/>
            <a:p>
              <a:pPr algn="ctr" marL="0" indent="0" lvl="0">
                <a:lnSpc>
                  <a:spcPts val="3120"/>
                </a:lnSpc>
              </a:pPr>
              <a:r>
                <a:rPr lang="en-US" sz="2400">
                  <a:solidFill>
                    <a:srgbClr val="6A5642"/>
                  </a:solidFill>
                  <a:latin typeface="Codec Pro"/>
                  <a:ea typeface="Codec Pro"/>
                  <a:cs typeface="Codec Pro"/>
                  <a:sym typeface="Codec Pro"/>
                </a:rPr>
                <a:t>Đối tượng lưu trữ thông tin người dùng</a:t>
              </a:r>
            </a:p>
          </p:txBody>
        </p:sp>
        <p:sp>
          <p:nvSpPr>
            <p:cNvPr name="TextBox 13" id="13"/>
            <p:cNvSpPr txBox="true"/>
            <p:nvPr/>
          </p:nvSpPr>
          <p:spPr>
            <a:xfrm rot="0">
              <a:off x="0" y="-66675"/>
              <a:ext cx="6159500" cy="559435"/>
            </a:xfrm>
            <a:prstGeom prst="rect">
              <a:avLst/>
            </a:prstGeom>
          </p:spPr>
          <p:txBody>
            <a:bodyPr anchor="t" rtlCol="false" tIns="0" lIns="0" bIns="0" rIns="0">
              <a:spAutoFit/>
            </a:bodyPr>
            <a:lstStyle/>
            <a:p>
              <a:pPr algn="ctr" marL="0" indent="0" lvl="0">
                <a:lnSpc>
                  <a:spcPts val="3120"/>
                </a:lnSpc>
              </a:pPr>
              <a:r>
                <a:rPr lang="en-US" b="true" sz="2400">
                  <a:solidFill>
                    <a:srgbClr val="6A5642"/>
                  </a:solidFill>
                  <a:latin typeface="Codec Pro Ultra-Bold"/>
                  <a:ea typeface="Codec Pro Ultra-Bold"/>
                  <a:cs typeface="Codec Pro Ultra-Bold"/>
                  <a:sym typeface="Codec Pro Ultra-Bold"/>
                </a:rPr>
                <a:t>Khách hàng</a:t>
              </a:r>
            </a:p>
          </p:txBody>
        </p:sp>
      </p:grpSp>
      <p:grpSp>
        <p:nvGrpSpPr>
          <p:cNvPr name="Group 14" id="14"/>
          <p:cNvGrpSpPr/>
          <p:nvPr/>
        </p:nvGrpSpPr>
        <p:grpSpPr>
          <a:xfrm rot="0">
            <a:off x="6834188" y="6934200"/>
            <a:ext cx="4479254" cy="1196340"/>
            <a:chOff x="0" y="0"/>
            <a:chExt cx="5972338" cy="1595120"/>
          </a:xfrm>
        </p:grpSpPr>
        <p:sp>
          <p:nvSpPr>
            <p:cNvPr name="TextBox 15" id="15"/>
            <p:cNvSpPr txBox="true"/>
            <p:nvPr/>
          </p:nvSpPr>
          <p:spPr>
            <a:xfrm rot="0">
              <a:off x="0" y="527685"/>
              <a:ext cx="5972338" cy="1067435"/>
            </a:xfrm>
            <a:prstGeom prst="rect">
              <a:avLst/>
            </a:prstGeom>
          </p:spPr>
          <p:txBody>
            <a:bodyPr anchor="t" rtlCol="false" tIns="0" lIns="0" bIns="0" rIns="0">
              <a:spAutoFit/>
            </a:bodyPr>
            <a:lstStyle/>
            <a:p>
              <a:pPr algn="ctr" marL="0" indent="0" lvl="0">
                <a:lnSpc>
                  <a:spcPts val="3120"/>
                </a:lnSpc>
              </a:pPr>
              <a:r>
                <a:rPr lang="en-US" sz="2400">
                  <a:solidFill>
                    <a:srgbClr val="6A5642"/>
                  </a:solidFill>
                  <a:latin typeface="Codec Pro"/>
                  <a:ea typeface="Codec Pro"/>
                  <a:cs typeface="Codec Pro"/>
                  <a:sym typeface="Codec Pro"/>
                </a:rPr>
                <a:t>Đối tượng quản lý thông tin sản phẩm</a:t>
              </a:r>
            </a:p>
          </p:txBody>
        </p:sp>
        <p:sp>
          <p:nvSpPr>
            <p:cNvPr name="TextBox 16" id="16"/>
            <p:cNvSpPr txBox="true"/>
            <p:nvPr/>
          </p:nvSpPr>
          <p:spPr>
            <a:xfrm rot="0">
              <a:off x="0" y="-66675"/>
              <a:ext cx="5972338" cy="559435"/>
            </a:xfrm>
            <a:prstGeom prst="rect">
              <a:avLst/>
            </a:prstGeom>
          </p:spPr>
          <p:txBody>
            <a:bodyPr anchor="t" rtlCol="false" tIns="0" lIns="0" bIns="0" rIns="0">
              <a:spAutoFit/>
            </a:bodyPr>
            <a:lstStyle/>
            <a:p>
              <a:pPr algn="ctr" marL="0" indent="0" lvl="0">
                <a:lnSpc>
                  <a:spcPts val="3120"/>
                </a:lnSpc>
              </a:pPr>
              <a:r>
                <a:rPr lang="en-US" b="true" sz="2400">
                  <a:solidFill>
                    <a:srgbClr val="6A5642"/>
                  </a:solidFill>
                  <a:latin typeface="Codec Pro Ultra-Bold"/>
                  <a:ea typeface="Codec Pro Ultra-Bold"/>
                  <a:cs typeface="Codec Pro Ultra-Bold"/>
                  <a:sym typeface="Codec Pro Ultra-Bold"/>
                </a:rPr>
                <a:t>Sản phẩm</a:t>
              </a:r>
            </a:p>
          </p:txBody>
        </p:sp>
      </p:grpSp>
      <p:grpSp>
        <p:nvGrpSpPr>
          <p:cNvPr name="Group 17" id="17"/>
          <p:cNvGrpSpPr/>
          <p:nvPr/>
        </p:nvGrpSpPr>
        <p:grpSpPr>
          <a:xfrm rot="0">
            <a:off x="11868150" y="6934200"/>
            <a:ext cx="4620413" cy="1196340"/>
            <a:chOff x="0" y="0"/>
            <a:chExt cx="6160551" cy="1595120"/>
          </a:xfrm>
        </p:grpSpPr>
        <p:sp>
          <p:nvSpPr>
            <p:cNvPr name="TextBox 18" id="18"/>
            <p:cNvSpPr txBox="true"/>
            <p:nvPr/>
          </p:nvSpPr>
          <p:spPr>
            <a:xfrm rot="0">
              <a:off x="0" y="527685"/>
              <a:ext cx="6160551" cy="1067435"/>
            </a:xfrm>
            <a:prstGeom prst="rect">
              <a:avLst/>
            </a:prstGeom>
          </p:spPr>
          <p:txBody>
            <a:bodyPr anchor="t" rtlCol="false" tIns="0" lIns="0" bIns="0" rIns="0">
              <a:spAutoFit/>
            </a:bodyPr>
            <a:lstStyle/>
            <a:p>
              <a:pPr algn="ctr" marL="0" indent="0" lvl="0">
                <a:lnSpc>
                  <a:spcPts val="3120"/>
                </a:lnSpc>
              </a:pPr>
              <a:r>
                <a:rPr lang="en-US" sz="2400">
                  <a:solidFill>
                    <a:srgbClr val="6A5642"/>
                  </a:solidFill>
                  <a:latin typeface="Codec Pro"/>
                  <a:ea typeface="Codec Pro"/>
                  <a:cs typeface="Codec Pro"/>
                  <a:sym typeface="Codec Pro"/>
                </a:rPr>
                <a:t>Ghi nhận thông tin về đơn hàng cụ thể</a:t>
              </a:r>
            </a:p>
          </p:txBody>
        </p:sp>
        <p:sp>
          <p:nvSpPr>
            <p:cNvPr name="TextBox 19" id="19"/>
            <p:cNvSpPr txBox="true"/>
            <p:nvPr/>
          </p:nvSpPr>
          <p:spPr>
            <a:xfrm rot="0">
              <a:off x="0" y="-66675"/>
              <a:ext cx="6160551" cy="559435"/>
            </a:xfrm>
            <a:prstGeom prst="rect">
              <a:avLst/>
            </a:prstGeom>
          </p:spPr>
          <p:txBody>
            <a:bodyPr anchor="t" rtlCol="false" tIns="0" lIns="0" bIns="0" rIns="0">
              <a:spAutoFit/>
            </a:bodyPr>
            <a:lstStyle/>
            <a:p>
              <a:pPr algn="ctr" marL="0" indent="0" lvl="0">
                <a:lnSpc>
                  <a:spcPts val="3120"/>
                </a:lnSpc>
              </a:pPr>
              <a:r>
                <a:rPr lang="en-US" b="true" sz="2400">
                  <a:solidFill>
                    <a:srgbClr val="6A5642"/>
                  </a:solidFill>
                  <a:latin typeface="Codec Pro Ultra-Bold"/>
                  <a:ea typeface="Codec Pro Ultra-Bold"/>
                  <a:cs typeface="Codec Pro Ultra-Bold"/>
                  <a:sym typeface="Codec Pro Ultra-Bold"/>
                </a:rPr>
                <a:t>Đơn hàng</a:t>
              </a:r>
            </a:p>
          </p:txBody>
        </p:sp>
      </p:grpSp>
      <p:sp>
        <p:nvSpPr>
          <p:cNvPr name="TextBox 20" id="20"/>
          <p:cNvSpPr txBox="true"/>
          <p:nvPr/>
        </p:nvSpPr>
        <p:spPr>
          <a:xfrm rot="0">
            <a:off x="2105025" y="1504950"/>
            <a:ext cx="14077950" cy="876300"/>
          </a:xfrm>
          <a:prstGeom prst="rect">
            <a:avLst/>
          </a:prstGeom>
        </p:spPr>
        <p:txBody>
          <a:bodyPr anchor="t" rtlCol="false" tIns="0" lIns="0" bIns="0" rIns="0">
            <a:spAutoFit/>
          </a:bodyPr>
          <a:lstStyle/>
          <a:p>
            <a:pPr algn="ctr" marL="0" indent="0" lvl="0">
              <a:lnSpc>
                <a:spcPts val="6480"/>
              </a:lnSpc>
            </a:pPr>
            <a:r>
              <a:rPr lang="en-US" b="true" sz="5400" spc="-135">
                <a:solidFill>
                  <a:srgbClr val="6A5642"/>
                </a:solidFill>
                <a:latin typeface="Gatwick Ultra-Bold"/>
                <a:ea typeface="Gatwick Ultra-Bold"/>
                <a:cs typeface="Gatwick Ultra-Bold"/>
                <a:sym typeface="Gatwick Ultra-Bold"/>
              </a:rPr>
              <a:t>Các thực thể chính trong hệ thống</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866A4F"/>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FFFFF"/>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EAE2D8"/>
            </a:solidFill>
          </p:spPr>
        </p:sp>
      </p:grpSp>
      <p:sp>
        <p:nvSpPr>
          <p:cNvPr name="TextBox 5" id="5"/>
          <p:cNvSpPr txBox="true"/>
          <p:nvPr/>
        </p:nvSpPr>
        <p:spPr>
          <a:xfrm rot="0">
            <a:off x="2105025" y="4267200"/>
            <a:ext cx="4010025" cy="1695450"/>
          </a:xfrm>
          <a:prstGeom prst="rect">
            <a:avLst/>
          </a:prstGeom>
        </p:spPr>
        <p:txBody>
          <a:bodyPr anchor="t" rtlCol="false" tIns="0" lIns="0" bIns="0" rIns="0">
            <a:spAutoFit/>
          </a:bodyPr>
          <a:lstStyle/>
          <a:p>
            <a:pPr algn="ctr" marL="0" indent="0" lvl="0">
              <a:lnSpc>
                <a:spcPts val="6480"/>
              </a:lnSpc>
            </a:pPr>
            <a:r>
              <a:rPr lang="en-US" b="true" sz="5400" spc="-135">
                <a:solidFill>
                  <a:srgbClr val="6A5642"/>
                </a:solidFill>
                <a:latin typeface="Gatwick Ultra-Bold"/>
                <a:ea typeface="Gatwick Ultra-Bold"/>
                <a:cs typeface="Gatwick Ultra-Bold"/>
                <a:sym typeface="Gatwick Ultra-Bold"/>
              </a:rPr>
              <a:t>Mô tả dữ liệu</a:t>
            </a:r>
          </a:p>
        </p:txBody>
      </p:sp>
      <p:grpSp>
        <p:nvGrpSpPr>
          <p:cNvPr name="Group 6" id="6"/>
          <p:cNvGrpSpPr/>
          <p:nvPr/>
        </p:nvGrpSpPr>
        <p:grpSpPr>
          <a:xfrm rot="0">
            <a:off x="6909150" y="1562100"/>
            <a:ext cx="9578625" cy="7162800"/>
            <a:chOff x="0" y="0"/>
            <a:chExt cx="2522765" cy="1886499"/>
          </a:xfrm>
        </p:grpSpPr>
        <p:sp>
          <p:nvSpPr>
            <p:cNvPr name="Freeform 7" id="7"/>
            <p:cNvSpPr/>
            <p:nvPr/>
          </p:nvSpPr>
          <p:spPr>
            <a:xfrm flipH="false" flipV="false" rot="0">
              <a:off x="0" y="0"/>
              <a:ext cx="2522765" cy="1886499"/>
            </a:xfrm>
            <a:custGeom>
              <a:avLst/>
              <a:gdLst/>
              <a:ahLst/>
              <a:cxnLst/>
              <a:rect r="r" b="b" t="t" l="l"/>
              <a:pathLst>
                <a:path h="1886499" w="2522765">
                  <a:moveTo>
                    <a:pt x="40412" y="0"/>
                  </a:moveTo>
                  <a:lnTo>
                    <a:pt x="2482353" y="0"/>
                  </a:lnTo>
                  <a:cubicBezTo>
                    <a:pt x="2493071" y="0"/>
                    <a:pt x="2503350" y="4258"/>
                    <a:pt x="2510929" y="11837"/>
                  </a:cubicBezTo>
                  <a:cubicBezTo>
                    <a:pt x="2518508" y="19415"/>
                    <a:pt x="2522765" y="29694"/>
                    <a:pt x="2522765" y="40412"/>
                  </a:cubicBezTo>
                  <a:lnTo>
                    <a:pt x="2522765" y="1846086"/>
                  </a:lnTo>
                  <a:cubicBezTo>
                    <a:pt x="2522765" y="1856804"/>
                    <a:pt x="2518508" y="1867084"/>
                    <a:pt x="2510929" y="1874662"/>
                  </a:cubicBezTo>
                  <a:cubicBezTo>
                    <a:pt x="2503350" y="1882241"/>
                    <a:pt x="2493071" y="1886499"/>
                    <a:pt x="2482353" y="1886499"/>
                  </a:cubicBezTo>
                  <a:lnTo>
                    <a:pt x="40412" y="1886499"/>
                  </a:lnTo>
                  <a:cubicBezTo>
                    <a:pt x="29694" y="1886499"/>
                    <a:pt x="19415" y="1882241"/>
                    <a:pt x="11837" y="1874662"/>
                  </a:cubicBezTo>
                  <a:cubicBezTo>
                    <a:pt x="4258" y="1867084"/>
                    <a:pt x="0" y="1856804"/>
                    <a:pt x="0" y="1846086"/>
                  </a:cubicBezTo>
                  <a:lnTo>
                    <a:pt x="0" y="40412"/>
                  </a:lnTo>
                  <a:cubicBezTo>
                    <a:pt x="0" y="29694"/>
                    <a:pt x="4258" y="19415"/>
                    <a:pt x="11837" y="11837"/>
                  </a:cubicBezTo>
                  <a:cubicBezTo>
                    <a:pt x="19415" y="4258"/>
                    <a:pt x="29694" y="0"/>
                    <a:pt x="40412" y="0"/>
                  </a:cubicBezTo>
                  <a:close/>
                </a:path>
              </a:pathLst>
            </a:custGeom>
            <a:solidFill>
              <a:srgbClr val="000000">
                <a:alpha val="0"/>
              </a:srgbClr>
            </a:solidFill>
            <a:ln w="38100" cap="rnd">
              <a:solidFill>
                <a:srgbClr val="000000"/>
              </a:solidFill>
              <a:prstDash val="solid"/>
              <a:round/>
            </a:ln>
          </p:spPr>
        </p:sp>
        <p:sp>
          <p:nvSpPr>
            <p:cNvPr name="TextBox 8" id="8"/>
            <p:cNvSpPr txBox="true"/>
            <p:nvPr/>
          </p:nvSpPr>
          <p:spPr>
            <a:xfrm>
              <a:off x="0" y="-66675"/>
              <a:ext cx="2522765" cy="1953174"/>
            </a:xfrm>
            <a:prstGeom prst="rect">
              <a:avLst/>
            </a:prstGeom>
          </p:spPr>
          <p:txBody>
            <a:bodyPr anchor="ctr" rtlCol="false" tIns="127000" lIns="127000" bIns="127000" rIns="127000"/>
            <a:lstStyle/>
            <a:p>
              <a:pPr algn="ctr" marL="0" indent="0" lvl="0">
                <a:lnSpc>
                  <a:spcPts val="3120"/>
                </a:lnSpc>
              </a:pPr>
            </a:p>
          </p:txBody>
        </p:sp>
      </p:grpSp>
      <p:sp>
        <p:nvSpPr>
          <p:cNvPr name="TextBox 9" id="9"/>
          <p:cNvSpPr txBox="true"/>
          <p:nvPr/>
        </p:nvSpPr>
        <p:spPr>
          <a:xfrm rot="0">
            <a:off x="7553325" y="3481387"/>
            <a:ext cx="8290275" cy="3160395"/>
          </a:xfrm>
          <a:prstGeom prst="rect">
            <a:avLst/>
          </a:prstGeom>
        </p:spPr>
        <p:txBody>
          <a:bodyPr anchor="t" rtlCol="false" tIns="0" lIns="0" bIns="0" rIns="0">
            <a:spAutoFit/>
          </a:bodyPr>
          <a:lstStyle/>
          <a:p>
            <a:pPr algn="ctr" marL="0" indent="0" lvl="0">
              <a:lnSpc>
                <a:spcPts val="3120"/>
              </a:lnSpc>
            </a:pPr>
            <a:r>
              <a:rPr lang="en-US" sz="2400">
                <a:solidFill>
                  <a:srgbClr val="6A5642"/>
                </a:solidFill>
                <a:latin typeface="Codec Pro"/>
                <a:ea typeface="Codec Pro"/>
                <a:cs typeface="Codec Pro"/>
                <a:sym typeface="Codec Pro"/>
              </a:rPr>
              <a:t>Trong hệ thống bán hàng trực tuyến, việc tổ chức dữ liệu là rất quan trọng. Một số bảng chính bao gồm: bảng </a:t>
            </a:r>
            <a:r>
              <a:rPr lang="en-US" b="true" sz="2400">
                <a:solidFill>
                  <a:srgbClr val="6A5642"/>
                </a:solidFill>
                <a:latin typeface="Codec Pro Bold"/>
                <a:ea typeface="Codec Pro Bold"/>
                <a:cs typeface="Codec Pro Bold"/>
                <a:sym typeface="Codec Pro Bold"/>
              </a:rPr>
              <a:t>customers</a:t>
            </a:r>
            <a:r>
              <a:rPr lang="en-US" sz="2400">
                <a:solidFill>
                  <a:srgbClr val="6A5642"/>
                </a:solidFill>
                <a:latin typeface="Codec Pro"/>
                <a:ea typeface="Codec Pro"/>
                <a:cs typeface="Codec Pro"/>
                <a:sym typeface="Codec Pro"/>
              </a:rPr>
              <a:t> lưu trữ thông tin khách hàng như mã khách hàng, tên và email; bảng </a:t>
            </a:r>
            <a:r>
              <a:rPr lang="en-US" b="true" sz="2400">
                <a:solidFill>
                  <a:srgbClr val="6A5642"/>
                </a:solidFill>
                <a:latin typeface="Codec Pro Bold"/>
                <a:ea typeface="Codec Pro Bold"/>
                <a:cs typeface="Codec Pro Bold"/>
                <a:sym typeface="Codec Pro Bold"/>
              </a:rPr>
              <a:t>categories</a:t>
            </a:r>
            <a:r>
              <a:rPr lang="en-US" sz="2400">
                <a:solidFill>
                  <a:srgbClr val="6A5642"/>
                </a:solidFill>
                <a:latin typeface="Codec Pro"/>
                <a:ea typeface="Codec Pro"/>
                <a:cs typeface="Codec Pro"/>
                <a:sym typeface="Codec Pro"/>
              </a:rPr>
              <a:t> chứa danh mục sản phẩm; bảng </a:t>
            </a:r>
            <a:r>
              <a:rPr lang="en-US" b="true" sz="2400">
                <a:solidFill>
                  <a:srgbClr val="6A5642"/>
                </a:solidFill>
                <a:latin typeface="Codec Pro Bold"/>
                <a:ea typeface="Codec Pro Bold"/>
                <a:cs typeface="Codec Pro Bold"/>
                <a:sym typeface="Codec Pro Bold"/>
              </a:rPr>
              <a:t>products</a:t>
            </a:r>
            <a:r>
              <a:rPr lang="en-US" sz="2400">
                <a:solidFill>
                  <a:srgbClr val="6A5642"/>
                </a:solidFill>
                <a:latin typeface="Codec Pro"/>
                <a:ea typeface="Codec Pro"/>
                <a:cs typeface="Codec Pro"/>
                <a:sym typeface="Codec Pro"/>
              </a:rPr>
              <a:t> quản lý chi tiết sản phẩm bao gồm giá cả và mã danh mục; bảng </a:t>
            </a:r>
            <a:r>
              <a:rPr lang="en-US" b="true" sz="2400">
                <a:solidFill>
                  <a:srgbClr val="6A5642"/>
                </a:solidFill>
                <a:latin typeface="Codec Pro Bold"/>
                <a:ea typeface="Codec Pro Bold"/>
                <a:cs typeface="Codec Pro Bold"/>
                <a:sym typeface="Codec Pro Bold"/>
              </a:rPr>
              <a:t>orders</a:t>
            </a:r>
            <a:r>
              <a:rPr lang="en-US" sz="2400">
                <a:solidFill>
                  <a:srgbClr val="6A5642"/>
                </a:solidFill>
                <a:latin typeface="Codec Pro"/>
                <a:ea typeface="Codec Pro"/>
                <a:cs typeface="Codec Pro"/>
                <a:sym typeface="Codec Pro"/>
              </a:rPr>
              <a:t> ghi nhận đơn hàng của khách; và bảng </a:t>
            </a:r>
            <a:r>
              <a:rPr lang="en-US" b="true" sz="2400">
                <a:solidFill>
                  <a:srgbClr val="6A5642"/>
                </a:solidFill>
                <a:latin typeface="Codec Pro Bold"/>
                <a:ea typeface="Codec Pro Bold"/>
                <a:cs typeface="Codec Pro Bold"/>
                <a:sym typeface="Codec Pro Bold"/>
              </a:rPr>
              <a:t>order_items</a:t>
            </a:r>
            <a:r>
              <a:rPr lang="en-US" sz="2400">
                <a:solidFill>
                  <a:srgbClr val="6A5642"/>
                </a:solidFill>
                <a:latin typeface="Codec Pro"/>
                <a:ea typeface="Codec Pro"/>
                <a:cs typeface="Codec Pro"/>
                <a:sym typeface="Codec Pro"/>
              </a:rPr>
              <a:t> theo dõi từng sản phẩm trong đơn hàng.</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866A4F"/>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FFFFF"/>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EAE2D8"/>
            </a:solidFill>
          </p:spPr>
        </p:sp>
      </p:grpSp>
      <p:sp>
        <p:nvSpPr>
          <p:cNvPr name="TextBox 5" id="5"/>
          <p:cNvSpPr txBox="true"/>
          <p:nvPr/>
        </p:nvSpPr>
        <p:spPr>
          <a:xfrm rot="0">
            <a:off x="2234657" y="2927841"/>
            <a:ext cx="13818686" cy="2215659"/>
          </a:xfrm>
          <a:prstGeom prst="rect">
            <a:avLst/>
          </a:prstGeom>
        </p:spPr>
        <p:txBody>
          <a:bodyPr anchor="t" rtlCol="false" tIns="0" lIns="0" bIns="0" rIns="0">
            <a:spAutoFit/>
          </a:bodyPr>
          <a:lstStyle/>
          <a:p>
            <a:pPr algn="ctr" marL="0" indent="0" lvl="0">
              <a:lnSpc>
                <a:spcPts val="8462"/>
              </a:lnSpc>
            </a:pPr>
            <a:r>
              <a:rPr lang="en-US" b="true" sz="7051" spc="-176">
                <a:solidFill>
                  <a:srgbClr val="6A5642"/>
                </a:solidFill>
                <a:latin typeface="Gatwick Ultra-Bold"/>
                <a:ea typeface="Gatwick Ultra-Bold"/>
                <a:cs typeface="Gatwick Ultra-Bold"/>
                <a:sym typeface="Gatwick Ultra-Bold"/>
              </a:rPr>
              <a:t>Cấu trúc bảng dữ liệu trong hệ thống bán hàng</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866A4F"/>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FFFFF"/>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EAE2D8"/>
            </a:solidFill>
          </p:spPr>
        </p:sp>
      </p:grpSp>
      <p:grpSp>
        <p:nvGrpSpPr>
          <p:cNvPr name="Group 5" id="5"/>
          <p:cNvGrpSpPr/>
          <p:nvPr/>
        </p:nvGrpSpPr>
        <p:grpSpPr>
          <a:xfrm rot="0">
            <a:off x="1525513" y="1028700"/>
            <a:ext cx="15236973" cy="2450029"/>
            <a:chOff x="0" y="0"/>
            <a:chExt cx="4013030" cy="645275"/>
          </a:xfrm>
        </p:grpSpPr>
        <p:sp>
          <p:nvSpPr>
            <p:cNvPr name="Freeform 6" id="6"/>
            <p:cNvSpPr/>
            <p:nvPr/>
          </p:nvSpPr>
          <p:spPr>
            <a:xfrm flipH="false" flipV="false" rot="0">
              <a:off x="0" y="0"/>
              <a:ext cx="4013030" cy="645275"/>
            </a:xfrm>
            <a:custGeom>
              <a:avLst/>
              <a:gdLst/>
              <a:ahLst/>
              <a:cxnLst/>
              <a:rect r="r" b="b" t="t" l="l"/>
              <a:pathLst>
                <a:path h="645275" w="4013030">
                  <a:moveTo>
                    <a:pt x="25405" y="0"/>
                  </a:moveTo>
                  <a:lnTo>
                    <a:pt x="3987625" y="0"/>
                  </a:lnTo>
                  <a:cubicBezTo>
                    <a:pt x="4001656" y="0"/>
                    <a:pt x="4013030" y="11374"/>
                    <a:pt x="4013030" y="25405"/>
                  </a:cubicBezTo>
                  <a:lnTo>
                    <a:pt x="4013030" y="619870"/>
                  </a:lnTo>
                  <a:cubicBezTo>
                    <a:pt x="4013030" y="633901"/>
                    <a:pt x="4001656" y="645275"/>
                    <a:pt x="3987625" y="645275"/>
                  </a:cubicBezTo>
                  <a:lnTo>
                    <a:pt x="25405" y="645275"/>
                  </a:lnTo>
                  <a:cubicBezTo>
                    <a:pt x="11374" y="645275"/>
                    <a:pt x="0" y="633901"/>
                    <a:pt x="0" y="619870"/>
                  </a:cubicBezTo>
                  <a:lnTo>
                    <a:pt x="0" y="25405"/>
                  </a:lnTo>
                  <a:cubicBezTo>
                    <a:pt x="0" y="11374"/>
                    <a:pt x="11374" y="0"/>
                    <a:pt x="25405" y="0"/>
                  </a:cubicBezTo>
                  <a:close/>
                </a:path>
              </a:pathLst>
            </a:custGeom>
            <a:solidFill>
              <a:srgbClr val="000000">
                <a:alpha val="0"/>
              </a:srgbClr>
            </a:solidFill>
            <a:ln w="38100" cap="rnd">
              <a:solidFill>
                <a:srgbClr val="000000"/>
              </a:solidFill>
              <a:prstDash val="solid"/>
              <a:round/>
            </a:ln>
          </p:spPr>
        </p:sp>
        <p:sp>
          <p:nvSpPr>
            <p:cNvPr name="TextBox 7" id="7"/>
            <p:cNvSpPr txBox="true"/>
            <p:nvPr/>
          </p:nvSpPr>
          <p:spPr>
            <a:xfrm>
              <a:off x="0" y="-66675"/>
              <a:ext cx="4013030" cy="711950"/>
            </a:xfrm>
            <a:prstGeom prst="rect">
              <a:avLst/>
            </a:prstGeom>
          </p:spPr>
          <p:txBody>
            <a:bodyPr anchor="ctr" rtlCol="false" tIns="127000" lIns="127000" bIns="127000" rIns="127000"/>
            <a:lstStyle/>
            <a:p>
              <a:pPr algn="ctr" marL="0" indent="0" lvl="0">
                <a:lnSpc>
                  <a:spcPts val="3120"/>
                </a:lnSpc>
                <a:spcBef>
                  <a:spcPct val="0"/>
                </a:spcBef>
              </a:pPr>
            </a:p>
          </p:txBody>
        </p:sp>
      </p:grpSp>
      <p:grpSp>
        <p:nvGrpSpPr>
          <p:cNvPr name="Group 8" id="8"/>
          <p:cNvGrpSpPr/>
          <p:nvPr/>
        </p:nvGrpSpPr>
        <p:grpSpPr>
          <a:xfrm rot="0">
            <a:off x="2261060" y="1179860"/>
            <a:ext cx="13765879" cy="2522955"/>
            <a:chOff x="0" y="0"/>
            <a:chExt cx="18354506" cy="3363940"/>
          </a:xfrm>
        </p:grpSpPr>
        <p:sp>
          <p:nvSpPr>
            <p:cNvPr name="TextBox 9" id="9"/>
            <p:cNvSpPr txBox="true"/>
            <p:nvPr/>
          </p:nvSpPr>
          <p:spPr>
            <a:xfrm rot="0">
              <a:off x="0" y="524474"/>
              <a:ext cx="18354506" cy="2839466"/>
            </a:xfrm>
            <a:prstGeom prst="rect">
              <a:avLst/>
            </a:prstGeom>
          </p:spPr>
          <p:txBody>
            <a:bodyPr anchor="t" rtlCol="false" tIns="0" lIns="0" bIns="0" rIns="0">
              <a:spAutoFit/>
            </a:bodyPr>
            <a:lstStyle/>
            <a:p>
              <a:pPr algn="l" marL="0" indent="0" lvl="0">
                <a:lnSpc>
                  <a:spcPts val="2847"/>
                </a:lnSpc>
              </a:pPr>
              <a:r>
                <a:rPr lang="en-US" sz="2190">
                  <a:solidFill>
                    <a:srgbClr val="6A5642"/>
                  </a:solidFill>
                  <a:latin typeface="Codec Pro"/>
                  <a:ea typeface="Codec Pro"/>
                  <a:cs typeface="Codec Pro"/>
                  <a:sym typeface="Codec Pro"/>
                </a:rPr>
                <a:t>Bảng customers lưu trữ thông tin về khách hàng, bao gồm :</a:t>
              </a:r>
            </a:p>
            <a:p>
              <a:pPr algn="l" marL="472821" indent="-236410" lvl="1">
                <a:lnSpc>
                  <a:spcPts val="2847"/>
                </a:lnSpc>
                <a:buFont typeface="Arial"/>
                <a:buChar char="•"/>
              </a:pPr>
              <a:r>
                <a:rPr lang="en-US" sz="2190">
                  <a:solidFill>
                    <a:srgbClr val="6A5642"/>
                  </a:solidFill>
                  <a:latin typeface="Codec Pro"/>
                  <a:ea typeface="Codec Pro"/>
                  <a:cs typeface="Codec Pro"/>
                  <a:sym typeface="Codec Pro"/>
                </a:rPr>
                <a:t> customer_id int primary key auto increment</a:t>
              </a:r>
            </a:p>
            <a:p>
              <a:pPr algn="l" marL="472821" indent="-236410" lvl="1">
                <a:lnSpc>
                  <a:spcPts val="2847"/>
                </a:lnSpc>
                <a:buFont typeface="Arial"/>
                <a:buChar char="•"/>
              </a:pPr>
              <a:r>
                <a:rPr lang="en-US" sz="2190">
                  <a:solidFill>
                    <a:srgbClr val="6A5642"/>
                  </a:solidFill>
                  <a:latin typeface="Codec Pro"/>
                  <a:ea typeface="Codec Pro"/>
                  <a:cs typeface="Codec Pro"/>
                  <a:sym typeface="Codec Pro"/>
                </a:rPr>
                <a:t> customer_name varchar ( 100 ) not null</a:t>
              </a:r>
            </a:p>
            <a:p>
              <a:pPr algn="l" marL="472821" indent="-236410" lvl="1">
                <a:lnSpc>
                  <a:spcPts val="2847"/>
                </a:lnSpc>
                <a:buFont typeface="Arial"/>
                <a:buChar char="•"/>
              </a:pPr>
              <a:r>
                <a:rPr lang="en-US" sz="2190">
                  <a:solidFill>
                    <a:srgbClr val="6A5642"/>
                  </a:solidFill>
                  <a:latin typeface="Codec Pro"/>
                  <a:ea typeface="Codec Pro"/>
                  <a:cs typeface="Codec Pro"/>
                  <a:sym typeface="Codec Pro"/>
                </a:rPr>
                <a:t> email varchar ( 100 ) not null unique</a:t>
              </a:r>
            </a:p>
            <a:p>
              <a:pPr algn="l" marL="472821" indent="-236410" lvl="1">
                <a:lnSpc>
                  <a:spcPts val="2847"/>
                </a:lnSpc>
                <a:buFont typeface="Arial"/>
                <a:buChar char="•"/>
              </a:pPr>
              <a:r>
                <a:rPr lang="en-US" sz="2190">
                  <a:solidFill>
                    <a:srgbClr val="6A5642"/>
                  </a:solidFill>
                  <a:latin typeface="Codec Pro"/>
                  <a:ea typeface="Codec Pro"/>
                  <a:cs typeface="Codec Pro"/>
                  <a:sym typeface="Codec Pro"/>
                </a:rPr>
                <a:t>phone varchar ( 10 ) not null unique</a:t>
              </a:r>
            </a:p>
            <a:p>
              <a:pPr algn="ctr" marL="0" indent="0" lvl="0">
                <a:lnSpc>
                  <a:spcPts val="2847"/>
                </a:lnSpc>
              </a:pPr>
            </a:p>
          </p:txBody>
        </p:sp>
        <p:sp>
          <p:nvSpPr>
            <p:cNvPr name="TextBox 10" id="10"/>
            <p:cNvSpPr txBox="true"/>
            <p:nvPr/>
          </p:nvSpPr>
          <p:spPr>
            <a:xfrm rot="0">
              <a:off x="12700" y="-66675"/>
              <a:ext cx="17210193" cy="546735"/>
            </a:xfrm>
            <a:prstGeom prst="rect">
              <a:avLst/>
            </a:prstGeom>
          </p:spPr>
          <p:txBody>
            <a:bodyPr anchor="t" rtlCol="false" tIns="0" lIns="0" bIns="0" rIns="0">
              <a:spAutoFit/>
            </a:bodyPr>
            <a:lstStyle/>
            <a:p>
              <a:pPr algn="l" marL="0" indent="0" lvl="0">
                <a:lnSpc>
                  <a:spcPts val="3120"/>
                </a:lnSpc>
              </a:pPr>
              <a:r>
                <a:rPr lang="en-US" b="true" sz="2400">
                  <a:solidFill>
                    <a:srgbClr val="6A5642"/>
                  </a:solidFill>
                  <a:latin typeface="Codec Pro Ultra-Bold"/>
                  <a:ea typeface="Codec Pro Ultra-Bold"/>
                  <a:cs typeface="Codec Pro Ultra-Bold"/>
                  <a:sym typeface="Codec Pro Ultra-Bold"/>
                </a:rPr>
                <a:t>Bảng customers</a:t>
              </a:r>
            </a:p>
          </p:txBody>
        </p:sp>
      </p:grpSp>
      <p:grpSp>
        <p:nvGrpSpPr>
          <p:cNvPr name="Group 11" id="11"/>
          <p:cNvGrpSpPr/>
          <p:nvPr/>
        </p:nvGrpSpPr>
        <p:grpSpPr>
          <a:xfrm rot="0">
            <a:off x="1476510" y="3845820"/>
            <a:ext cx="15236973" cy="2450029"/>
            <a:chOff x="0" y="0"/>
            <a:chExt cx="4013030" cy="645275"/>
          </a:xfrm>
        </p:grpSpPr>
        <p:sp>
          <p:nvSpPr>
            <p:cNvPr name="Freeform 12" id="12"/>
            <p:cNvSpPr/>
            <p:nvPr/>
          </p:nvSpPr>
          <p:spPr>
            <a:xfrm flipH="false" flipV="false" rot="0">
              <a:off x="0" y="0"/>
              <a:ext cx="4013030" cy="645275"/>
            </a:xfrm>
            <a:custGeom>
              <a:avLst/>
              <a:gdLst/>
              <a:ahLst/>
              <a:cxnLst/>
              <a:rect r="r" b="b" t="t" l="l"/>
              <a:pathLst>
                <a:path h="645275" w="4013030">
                  <a:moveTo>
                    <a:pt x="25405" y="0"/>
                  </a:moveTo>
                  <a:lnTo>
                    <a:pt x="3987625" y="0"/>
                  </a:lnTo>
                  <a:cubicBezTo>
                    <a:pt x="4001656" y="0"/>
                    <a:pt x="4013030" y="11374"/>
                    <a:pt x="4013030" y="25405"/>
                  </a:cubicBezTo>
                  <a:lnTo>
                    <a:pt x="4013030" y="619870"/>
                  </a:lnTo>
                  <a:cubicBezTo>
                    <a:pt x="4013030" y="633901"/>
                    <a:pt x="4001656" y="645275"/>
                    <a:pt x="3987625" y="645275"/>
                  </a:cubicBezTo>
                  <a:lnTo>
                    <a:pt x="25405" y="645275"/>
                  </a:lnTo>
                  <a:cubicBezTo>
                    <a:pt x="11374" y="645275"/>
                    <a:pt x="0" y="633901"/>
                    <a:pt x="0" y="619870"/>
                  </a:cubicBezTo>
                  <a:lnTo>
                    <a:pt x="0" y="25405"/>
                  </a:lnTo>
                  <a:cubicBezTo>
                    <a:pt x="0" y="11374"/>
                    <a:pt x="11374" y="0"/>
                    <a:pt x="25405" y="0"/>
                  </a:cubicBezTo>
                  <a:close/>
                </a:path>
              </a:pathLst>
            </a:custGeom>
            <a:solidFill>
              <a:srgbClr val="000000">
                <a:alpha val="0"/>
              </a:srgbClr>
            </a:solidFill>
            <a:ln w="38100" cap="rnd">
              <a:solidFill>
                <a:srgbClr val="000000"/>
              </a:solidFill>
              <a:prstDash val="solid"/>
              <a:round/>
            </a:ln>
          </p:spPr>
        </p:sp>
        <p:sp>
          <p:nvSpPr>
            <p:cNvPr name="TextBox 13" id="13"/>
            <p:cNvSpPr txBox="true"/>
            <p:nvPr/>
          </p:nvSpPr>
          <p:spPr>
            <a:xfrm>
              <a:off x="0" y="-66675"/>
              <a:ext cx="4013030" cy="711950"/>
            </a:xfrm>
            <a:prstGeom prst="rect">
              <a:avLst/>
            </a:prstGeom>
          </p:spPr>
          <p:txBody>
            <a:bodyPr anchor="ctr" rtlCol="false" tIns="127000" lIns="127000" bIns="127000" rIns="127000"/>
            <a:lstStyle/>
            <a:p>
              <a:pPr algn="ctr" marL="0" indent="0" lvl="0">
                <a:lnSpc>
                  <a:spcPts val="3120"/>
                </a:lnSpc>
                <a:spcBef>
                  <a:spcPct val="0"/>
                </a:spcBef>
              </a:pPr>
            </a:p>
          </p:txBody>
        </p:sp>
      </p:grpSp>
      <p:grpSp>
        <p:nvGrpSpPr>
          <p:cNvPr name="Group 14" id="14"/>
          <p:cNvGrpSpPr/>
          <p:nvPr/>
        </p:nvGrpSpPr>
        <p:grpSpPr>
          <a:xfrm rot="0">
            <a:off x="1476510" y="6667324"/>
            <a:ext cx="15236973" cy="2450029"/>
            <a:chOff x="0" y="0"/>
            <a:chExt cx="4013030" cy="645275"/>
          </a:xfrm>
        </p:grpSpPr>
        <p:sp>
          <p:nvSpPr>
            <p:cNvPr name="Freeform 15" id="15"/>
            <p:cNvSpPr/>
            <p:nvPr/>
          </p:nvSpPr>
          <p:spPr>
            <a:xfrm flipH="false" flipV="false" rot="0">
              <a:off x="0" y="0"/>
              <a:ext cx="4013030" cy="645275"/>
            </a:xfrm>
            <a:custGeom>
              <a:avLst/>
              <a:gdLst/>
              <a:ahLst/>
              <a:cxnLst/>
              <a:rect r="r" b="b" t="t" l="l"/>
              <a:pathLst>
                <a:path h="645275" w="4013030">
                  <a:moveTo>
                    <a:pt x="25405" y="0"/>
                  </a:moveTo>
                  <a:lnTo>
                    <a:pt x="3987625" y="0"/>
                  </a:lnTo>
                  <a:cubicBezTo>
                    <a:pt x="4001656" y="0"/>
                    <a:pt x="4013030" y="11374"/>
                    <a:pt x="4013030" y="25405"/>
                  </a:cubicBezTo>
                  <a:lnTo>
                    <a:pt x="4013030" y="619870"/>
                  </a:lnTo>
                  <a:cubicBezTo>
                    <a:pt x="4013030" y="633901"/>
                    <a:pt x="4001656" y="645275"/>
                    <a:pt x="3987625" y="645275"/>
                  </a:cubicBezTo>
                  <a:lnTo>
                    <a:pt x="25405" y="645275"/>
                  </a:lnTo>
                  <a:cubicBezTo>
                    <a:pt x="11374" y="645275"/>
                    <a:pt x="0" y="633901"/>
                    <a:pt x="0" y="619870"/>
                  </a:cubicBezTo>
                  <a:lnTo>
                    <a:pt x="0" y="25405"/>
                  </a:lnTo>
                  <a:cubicBezTo>
                    <a:pt x="0" y="11374"/>
                    <a:pt x="11374" y="0"/>
                    <a:pt x="25405" y="0"/>
                  </a:cubicBezTo>
                  <a:close/>
                </a:path>
              </a:pathLst>
            </a:custGeom>
            <a:solidFill>
              <a:srgbClr val="000000">
                <a:alpha val="0"/>
              </a:srgbClr>
            </a:solidFill>
            <a:ln w="38100" cap="rnd">
              <a:solidFill>
                <a:srgbClr val="000000"/>
              </a:solidFill>
              <a:prstDash val="solid"/>
              <a:round/>
            </a:ln>
          </p:spPr>
        </p:sp>
        <p:sp>
          <p:nvSpPr>
            <p:cNvPr name="TextBox 16" id="16"/>
            <p:cNvSpPr txBox="true"/>
            <p:nvPr/>
          </p:nvSpPr>
          <p:spPr>
            <a:xfrm>
              <a:off x="0" y="-66675"/>
              <a:ext cx="4013030" cy="711950"/>
            </a:xfrm>
            <a:prstGeom prst="rect">
              <a:avLst/>
            </a:prstGeom>
          </p:spPr>
          <p:txBody>
            <a:bodyPr anchor="ctr" rtlCol="false" tIns="127000" lIns="127000" bIns="127000" rIns="127000"/>
            <a:lstStyle/>
            <a:p>
              <a:pPr algn="ctr" marL="0" indent="0" lvl="0">
                <a:lnSpc>
                  <a:spcPts val="3120"/>
                </a:lnSpc>
                <a:spcBef>
                  <a:spcPct val="0"/>
                </a:spcBef>
              </a:pPr>
            </a:p>
          </p:txBody>
        </p:sp>
      </p:grpSp>
      <p:grpSp>
        <p:nvGrpSpPr>
          <p:cNvPr name="Group 17" id="17"/>
          <p:cNvGrpSpPr/>
          <p:nvPr/>
        </p:nvGrpSpPr>
        <p:grpSpPr>
          <a:xfrm rot="0">
            <a:off x="2196796" y="4221556"/>
            <a:ext cx="13894409" cy="1843888"/>
            <a:chOff x="0" y="0"/>
            <a:chExt cx="18525878" cy="2458518"/>
          </a:xfrm>
        </p:grpSpPr>
        <p:sp>
          <p:nvSpPr>
            <p:cNvPr name="TextBox 18" id="18"/>
            <p:cNvSpPr txBox="true"/>
            <p:nvPr/>
          </p:nvSpPr>
          <p:spPr>
            <a:xfrm rot="0">
              <a:off x="152289" y="389411"/>
              <a:ext cx="18373590" cy="2069107"/>
            </a:xfrm>
            <a:prstGeom prst="rect">
              <a:avLst/>
            </a:prstGeom>
          </p:spPr>
          <p:txBody>
            <a:bodyPr anchor="t" rtlCol="false" tIns="0" lIns="0" bIns="0" rIns="0">
              <a:spAutoFit/>
            </a:bodyPr>
            <a:lstStyle/>
            <a:p>
              <a:pPr algn="l" marL="0" indent="0" lvl="0">
                <a:lnSpc>
                  <a:spcPts val="3001"/>
                </a:lnSpc>
              </a:pPr>
              <a:r>
                <a:rPr lang="en-US" sz="2308">
                  <a:solidFill>
                    <a:srgbClr val="6A5642"/>
                  </a:solidFill>
                  <a:latin typeface="Codec Pro"/>
                  <a:ea typeface="Codec Pro"/>
                  <a:cs typeface="Codec Pro"/>
                  <a:sym typeface="Codec Pro"/>
                </a:rPr>
                <a:t>Bảng categories chứa danh sách các danh mục sản phẩm gồm:</a:t>
              </a:r>
            </a:p>
            <a:p>
              <a:pPr algn="l" marL="498433" indent="-249216" lvl="1">
                <a:lnSpc>
                  <a:spcPts val="3001"/>
                </a:lnSpc>
                <a:buFont typeface="Arial"/>
                <a:buChar char="•"/>
              </a:pPr>
              <a:r>
                <a:rPr lang="en-US" sz="2308">
                  <a:solidFill>
                    <a:srgbClr val="6A5642"/>
                  </a:solidFill>
                  <a:latin typeface="Codec Pro"/>
                  <a:ea typeface="Codec Pro"/>
                  <a:cs typeface="Codec Pro"/>
                  <a:sym typeface="Codec Pro"/>
                </a:rPr>
                <a:t> category_id int primary key auto increment</a:t>
              </a:r>
            </a:p>
            <a:p>
              <a:pPr algn="l" marL="498433" indent="-249216" lvl="1">
                <a:lnSpc>
                  <a:spcPts val="3001"/>
                </a:lnSpc>
                <a:buFont typeface="Arial"/>
                <a:buChar char="•"/>
              </a:pPr>
              <a:r>
                <a:rPr lang="en-US" sz="2308">
                  <a:solidFill>
                    <a:srgbClr val="6A5642"/>
                  </a:solidFill>
                  <a:latin typeface="Codec Pro"/>
                  <a:ea typeface="Codec Pro"/>
                  <a:cs typeface="Codec Pro"/>
                  <a:sym typeface="Codec Pro"/>
                </a:rPr>
                <a:t> category_name varchar ( 225 ) not null unique</a:t>
              </a:r>
            </a:p>
            <a:p>
              <a:pPr algn="l">
                <a:lnSpc>
                  <a:spcPts val="3001"/>
                </a:lnSpc>
              </a:pPr>
              <a:r>
                <a:rPr lang="en-US" sz="2308">
                  <a:solidFill>
                    <a:srgbClr val="6A5642"/>
                  </a:solidFill>
                  <a:latin typeface="Codec Pro"/>
                  <a:ea typeface="Codec Pro"/>
                  <a:cs typeface="Codec Pro"/>
                  <a:sym typeface="Codec Pro"/>
                </a:rPr>
                <a:t> </a:t>
              </a:r>
            </a:p>
          </p:txBody>
        </p:sp>
        <p:sp>
          <p:nvSpPr>
            <p:cNvPr name="TextBox 19" id="19"/>
            <p:cNvSpPr txBox="true"/>
            <p:nvPr/>
          </p:nvSpPr>
          <p:spPr>
            <a:xfrm rot="0">
              <a:off x="0" y="-76200"/>
              <a:ext cx="18525878" cy="541811"/>
            </a:xfrm>
            <a:prstGeom prst="rect">
              <a:avLst/>
            </a:prstGeom>
          </p:spPr>
          <p:txBody>
            <a:bodyPr anchor="t" rtlCol="false" tIns="0" lIns="0" bIns="0" rIns="0">
              <a:spAutoFit/>
            </a:bodyPr>
            <a:lstStyle/>
            <a:p>
              <a:pPr algn="l" marL="0" indent="0" lvl="0">
                <a:lnSpc>
                  <a:spcPts val="3026"/>
                </a:lnSpc>
              </a:pPr>
              <a:r>
                <a:rPr lang="en-US" b="true" sz="2327">
                  <a:solidFill>
                    <a:srgbClr val="6A5642"/>
                  </a:solidFill>
                  <a:latin typeface="Codec Pro Ultra-Bold"/>
                  <a:ea typeface="Codec Pro Ultra-Bold"/>
                  <a:cs typeface="Codec Pro Ultra-Bold"/>
                  <a:sym typeface="Codec Pro Ultra-Bold"/>
                </a:rPr>
                <a:t>Bảng categories</a:t>
              </a:r>
            </a:p>
          </p:txBody>
        </p:sp>
      </p:grpSp>
      <p:grpSp>
        <p:nvGrpSpPr>
          <p:cNvPr name="Group 20" id="20"/>
          <p:cNvGrpSpPr/>
          <p:nvPr/>
        </p:nvGrpSpPr>
        <p:grpSpPr>
          <a:xfrm rot="0">
            <a:off x="2196796" y="6779894"/>
            <a:ext cx="13894409" cy="2224888"/>
            <a:chOff x="0" y="0"/>
            <a:chExt cx="18525878" cy="2966518"/>
          </a:xfrm>
        </p:grpSpPr>
        <p:sp>
          <p:nvSpPr>
            <p:cNvPr name="TextBox 21" id="21"/>
            <p:cNvSpPr txBox="true"/>
            <p:nvPr/>
          </p:nvSpPr>
          <p:spPr>
            <a:xfrm rot="0">
              <a:off x="0" y="389411"/>
              <a:ext cx="18373590" cy="2577107"/>
            </a:xfrm>
            <a:prstGeom prst="rect">
              <a:avLst/>
            </a:prstGeom>
          </p:spPr>
          <p:txBody>
            <a:bodyPr anchor="t" rtlCol="false" tIns="0" lIns="0" bIns="0" rIns="0">
              <a:spAutoFit/>
            </a:bodyPr>
            <a:lstStyle/>
            <a:p>
              <a:pPr algn="l" marL="0" indent="0" lvl="0">
                <a:lnSpc>
                  <a:spcPts val="3001"/>
                </a:lnSpc>
              </a:pPr>
              <a:r>
                <a:rPr lang="en-US" sz="2308">
                  <a:solidFill>
                    <a:srgbClr val="6A5642"/>
                  </a:solidFill>
                  <a:latin typeface="Codec Pro"/>
                  <a:ea typeface="Codec Pro"/>
                  <a:cs typeface="Codec Pro"/>
                  <a:sym typeface="Codec Pro"/>
                </a:rPr>
                <a:t>Bảng products lưu trữ thông tin sản phẩm, bao gồm:</a:t>
              </a:r>
            </a:p>
            <a:p>
              <a:pPr algn="l" marL="498433" indent="-249216" lvl="1">
                <a:lnSpc>
                  <a:spcPts val="3001"/>
                </a:lnSpc>
                <a:buFont typeface="Arial"/>
                <a:buChar char="•"/>
              </a:pPr>
              <a:r>
                <a:rPr lang="en-US" sz="2308">
                  <a:solidFill>
                    <a:srgbClr val="6A5642"/>
                  </a:solidFill>
                  <a:latin typeface="Codec Pro"/>
                  <a:ea typeface="Codec Pro"/>
                  <a:cs typeface="Codec Pro"/>
                  <a:sym typeface="Codec Pro"/>
                </a:rPr>
                <a:t>product_id int primary key auto increment</a:t>
              </a:r>
            </a:p>
            <a:p>
              <a:pPr algn="l" marL="498433" indent="-249216" lvl="1">
                <a:lnSpc>
                  <a:spcPts val="3001"/>
                </a:lnSpc>
                <a:buFont typeface="Arial"/>
                <a:buChar char="•"/>
              </a:pPr>
              <a:r>
                <a:rPr lang="en-US" sz="2308">
                  <a:solidFill>
                    <a:srgbClr val="6A5642"/>
                  </a:solidFill>
                  <a:latin typeface="Codec Pro"/>
                  <a:ea typeface="Codec Pro"/>
                  <a:cs typeface="Codec Pro"/>
                  <a:sym typeface="Codec Pro"/>
                </a:rPr>
                <a:t>product_name varchar ( 225 ) not null unique</a:t>
              </a:r>
            </a:p>
            <a:p>
              <a:pPr algn="l" marL="498433" indent="-249216" lvl="1">
                <a:lnSpc>
                  <a:spcPts val="3001"/>
                </a:lnSpc>
                <a:buFont typeface="Arial"/>
                <a:buChar char="•"/>
              </a:pPr>
              <a:r>
                <a:rPr lang="en-US" sz="2308">
                  <a:solidFill>
                    <a:srgbClr val="6A5642"/>
                  </a:solidFill>
                  <a:latin typeface="Codec Pro"/>
                  <a:ea typeface="Codec Pro"/>
                  <a:cs typeface="Codec Pro"/>
                  <a:sym typeface="Codec Pro"/>
                </a:rPr>
                <a:t>price decimal ( 10,2 ) not null check ( price &gt; 0)</a:t>
              </a:r>
            </a:p>
            <a:p>
              <a:pPr algn="l" marL="498433" indent="-249216" lvl="1">
                <a:lnSpc>
                  <a:spcPts val="3001"/>
                </a:lnSpc>
                <a:buFont typeface="Arial"/>
                <a:buChar char="•"/>
              </a:pPr>
              <a:r>
                <a:rPr lang="en-US" sz="2308">
                  <a:solidFill>
                    <a:srgbClr val="6A5642"/>
                  </a:solidFill>
                  <a:latin typeface="Codec Pro"/>
                  <a:ea typeface="Codec Pro"/>
                  <a:cs typeface="Codec Pro"/>
                  <a:sym typeface="Codec Pro"/>
                </a:rPr>
                <a:t>category_id int not null foreign key </a:t>
              </a:r>
            </a:p>
          </p:txBody>
        </p:sp>
        <p:sp>
          <p:nvSpPr>
            <p:cNvPr name="TextBox 22" id="22"/>
            <p:cNvSpPr txBox="true"/>
            <p:nvPr/>
          </p:nvSpPr>
          <p:spPr>
            <a:xfrm rot="0">
              <a:off x="0" y="-76200"/>
              <a:ext cx="18525878" cy="541811"/>
            </a:xfrm>
            <a:prstGeom prst="rect">
              <a:avLst/>
            </a:prstGeom>
          </p:spPr>
          <p:txBody>
            <a:bodyPr anchor="t" rtlCol="false" tIns="0" lIns="0" bIns="0" rIns="0">
              <a:spAutoFit/>
            </a:bodyPr>
            <a:lstStyle/>
            <a:p>
              <a:pPr algn="l" marL="0" indent="0" lvl="0">
                <a:lnSpc>
                  <a:spcPts val="3026"/>
                </a:lnSpc>
              </a:pPr>
              <a:r>
                <a:rPr lang="en-US" b="true" sz="2327">
                  <a:solidFill>
                    <a:srgbClr val="6A5642"/>
                  </a:solidFill>
                  <a:latin typeface="Codec Pro Ultra-Bold"/>
                  <a:ea typeface="Codec Pro Ultra-Bold"/>
                  <a:cs typeface="Codec Pro Ultra-Bold"/>
                  <a:sym typeface="Codec Pro Ultra-Bold"/>
                </a:rPr>
                <a:t>Bảng products</a:t>
              </a:r>
            </a:p>
          </p:txBody>
        </p:sp>
      </p:grpSp>
    </p:spTree>
  </p:cSld>
  <p:clrMapOvr>
    <a:masterClrMapping/>
  </p:clrMapOvr>
</p:sld>
</file>

<file path=ppt/slides/slide10.xml><?xml version="1.0" encoding="utf-8"?>
<p:sld xmlns:p="http://schemas.openxmlformats.org/presentationml/2006/main" xmlns:a="http://schemas.openxmlformats.org/drawingml/2006/main">
  <p:cSld>
    <p:bg>
      <p:bgPr>
        <a:solidFill>
          <a:srgbClr val="866A4F"/>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FFFFF"/>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EAE2D8"/>
            </a:solidFill>
          </p:spPr>
        </p:sp>
      </p:grpSp>
      <p:grpSp>
        <p:nvGrpSpPr>
          <p:cNvPr name="Group 5" id="5"/>
          <p:cNvGrpSpPr/>
          <p:nvPr/>
        </p:nvGrpSpPr>
        <p:grpSpPr>
          <a:xfrm rot="0">
            <a:off x="1525513" y="1400521"/>
            <a:ext cx="15236973" cy="3279957"/>
            <a:chOff x="0" y="0"/>
            <a:chExt cx="4013030" cy="863857"/>
          </a:xfrm>
        </p:grpSpPr>
        <p:sp>
          <p:nvSpPr>
            <p:cNvPr name="Freeform 6" id="6"/>
            <p:cNvSpPr/>
            <p:nvPr/>
          </p:nvSpPr>
          <p:spPr>
            <a:xfrm flipH="false" flipV="false" rot="0">
              <a:off x="0" y="0"/>
              <a:ext cx="4013030" cy="863857"/>
            </a:xfrm>
            <a:custGeom>
              <a:avLst/>
              <a:gdLst/>
              <a:ahLst/>
              <a:cxnLst/>
              <a:rect r="r" b="b" t="t" l="l"/>
              <a:pathLst>
                <a:path h="863857" w="4013030">
                  <a:moveTo>
                    <a:pt x="25405" y="0"/>
                  </a:moveTo>
                  <a:lnTo>
                    <a:pt x="3987625" y="0"/>
                  </a:lnTo>
                  <a:cubicBezTo>
                    <a:pt x="4001656" y="0"/>
                    <a:pt x="4013030" y="11374"/>
                    <a:pt x="4013030" y="25405"/>
                  </a:cubicBezTo>
                  <a:lnTo>
                    <a:pt x="4013030" y="838452"/>
                  </a:lnTo>
                  <a:cubicBezTo>
                    <a:pt x="4013030" y="852483"/>
                    <a:pt x="4001656" y="863857"/>
                    <a:pt x="3987625" y="863857"/>
                  </a:cubicBezTo>
                  <a:lnTo>
                    <a:pt x="25405" y="863857"/>
                  </a:lnTo>
                  <a:cubicBezTo>
                    <a:pt x="11374" y="863857"/>
                    <a:pt x="0" y="852483"/>
                    <a:pt x="0" y="838452"/>
                  </a:cubicBezTo>
                  <a:lnTo>
                    <a:pt x="0" y="25405"/>
                  </a:lnTo>
                  <a:cubicBezTo>
                    <a:pt x="0" y="11374"/>
                    <a:pt x="11374" y="0"/>
                    <a:pt x="25405" y="0"/>
                  </a:cubicBezTo>
                  <a:close/>
                </a:path>
              </a:pathLst>
            </a:custGeom>
            <a:solidFill>
              <a:srgbClr val="000000">
                <a:alpha val="0"/>
              </a:srgbClr>
            </a:solidFill>
            <a:ln w="38100" cap="rnd">
              <a:solidFill>
                <a:srgbClr val="000000"/>
              </a:solidFill>
              <a:prstDash val="solid"/>
              <a:round/>
            </a:ln>
          </p:spPr>
        </p:sp>
        <p:sp>
          <p:nvSpPr>
            <p:cNvPr name="TextBox 7" id="7"/>
            <p:cNvSpPr txBox="true"/>
            <p:nvPr/>
          </p:nvSpPr>
          <p:spPr>
            <a:xfrm>
              <a:off x="0" y="-66675"/>
              <a:ext cx="4013030" cy="930532"/>
            </a:xfrm>
            <a:prstGeom prst="rect">
              <a:avLst/>
            </a:prstGeom>
          </p:spPr>
          <p:txBody>
            <a:bodyPr anchor="ctr" rtlCol="false" tIns="127000" lIns="127000" bIns="127000" rIns="127000"/>
            <a:lstStyle/>
            <a:p>
              <a:pPr algn="ctr" marL="0" indent="0" lvl="0">
                <a:lnSpc>
                  <a:spcPts val="3120"/>
                </a:lnSpc>
                <a:spcBef>
                  <a:spcPct val="0"/>
                </a:spcBef>
              </a:pPr>
            </a:p>
          </p:txBody>
        </p:sp>
      </p:grpSp>
      <p:grpSp>
        <p:nvGrpSpPr>
          <p:cNvPr name="Group 8" id="8"/>
          <p:cNvGrpSpPr/>
          <p:nvPr/>
        </p:nvGrpSpPr>
        <p:grpSpPr>
          <a:xfrm rot="0">
            <a:off x="2261060" y="1831294"/>
            <a:ext cx="13765879" cy="2170530"/>
            <a:chOff x="0" y="0"/>
            <a:chExt cx="18354506" cy="2894040"/>
          </a:xfrm>
        </p:grpSpPr>
        <p:sp>
          <p:nvSpPr>
            <p:cNvPr name="TextBox 9" id="9"/>
            <p:cNvSpPr txBox="true"/>
            <p:nvPr/>
          </p:nvSpPr>
          <p:spPr>
            <a:xfrm rot="0">
              <a:off x="0" y="524474"/>
              <a:ext cx="18354506" cy="2369566"/>
            </a:xfrm>
            <a:prstGeom prst="rect">
              <a:avLst/>
            </a:prstGeom>
          </p:spPr>
          <p:txBody>
            <a:bodyPr anchor="t" rtlCol="false" tIns="0" lIns="0" bIns="0" rIns="0">
              <a:spAutoFit/>
            </a:bodyPr>
            <a:lstStyle/>
            <a:p>
              <a:pPr algn="l">
                <a:lnSpc>
                  <a:spcPts val="2847"/>
                </a:lnSpc>
              </a:pPr>
              <a:r>
                <a:rPr lang="en-US" sz="2190">
                  <a:solidFill>
                    <a:srgbClr val="6A5642"/>
                  </a:solidFill>
                  <a:latin typeface="Codec Pro"/>
                  <a:ea typeface="Codec Pro"/>
                  <a:cs typeface="Codec Pro"/>
                  <a:sym typeface="Codec Pro"/>
                </a:rPr>
                <a:t>Bảng orders lưu trữ thông tin về từng đơn hàng, bao gồm : </a:t>
              </a:r>
            </a:p>
            <a:p>
              <a:pPr algn="l" marL="472821" indent="-236410" lvl="1">
                <a:lnSpc>
                  <a:spcPts val="2847"/>
                </a:lnSpc>
                <a:buFont typeface="Arial"/>
                <a:buChar char="•"/>
              </a:pPr>
              <a:r>
                <a:rPr lang="en-US" sz="2190">
                  <a:solidFill>
                    <a:srgbClr val="6A5642"/>
                  </a:solidFill>
                  <a:latin typeface="Codec Pro"/>
                  <a:ea typeface="Codec Pro"/>
                  <a:cs typeface="Codec Pro"/>
                  <a:sym typeface="Codec Pro"/>
                </a:rPr>
                <a:t>order_id int primary key auto increment</a:t>
              </a:r>
            </a:p>
            <a:p>
              <a:pPr algn="l" marL="472821" indent="-236410" lvl="1">
                <a:lnSpc>
                  <a:spcPts val="2847"/>
                </a:lnSpc>
                <a:buFont typeface="Arial"/>
                <a:buChar char="•"/>
              </a:pPr>
              <a:r>
                <a:rPr lang="en-US" sz="2190">
                  <a:solidFill>
                    <a:srgbClr val="6A5642"/>
                  </a:solidFill>
                  <a:latin typeface="Codec Pro"/>
                  <a:ea typeface="Codec Pro"/>
                  <a:cs typeface="Codec Pro"/>
                  <a:sym typeface="Codec Pro"/>
                </a:rPr>
                <a:t> customer_id int not null</a:t>
              </a:r>
            </a:p>
            <a:p>
              <a:pPr algn="l" marL="472821" indent="-236410" lvl="1">
                <a:lnSpc>
                  <a:spcPts val="2847"/>
                </a:lnSpc>
                <a:buFont typeface="Arial"/>
                <a:buChar char="•"/>
              </a:pPr>
              <a:r>
                <a:rPr lang="en-US" sz="2190">
                  <a:solidFill>
                    <a:srgbClr val="6A5642"/>
                  </a:solidFill>
                  <a:latin typeface="Codec Pro"/>
                  <a:ea typeface="Codec Pro"/>
                  <a:cs typeface="Codec Pro"/>
                  <a:sym typeface="Codec Pro"/>
                </a:rPr>
                <a:t> order_date datetime default ( currentdate() )</a:t>
              </a:r>
            </a:p>
            <a:p>
              <a:pPr algn="l" marL="472821" indent="-236410" lvl="1">
                <a:lnSpc>
                  <a:spcPts val="2847"/>
                </a:lnSpc>
                <a:buFont typeface="Arial"/>
                <a:buChar char="•"/>
              </a:pPr>
              <a:r>
                <a:rPr lang="en-US" sz="2190">
                  <a:solidFill>
                    <a:srgbClr val="6A5642"/>
                  </a:solidFill>
                  <a:latin typeface="Codec Pro"/>
                  <a:ea typeface="Codec Pro"/>
                  <a:cs typeface="Codec Pro"/>
                  <a:sym typeface="Codec Pro"/>
                </a:rPr>
                <a:t> status enum ( ‘Pending’, ‘Completed’, ‘Cancel’ ) default ( ‘Pending’ )</a:t>
              </a:r>
            </a:p>
          </p:txBody>
        </p:sp>
        <p:sp>
          <p:nvSpPr>
            <p:cNvPr name="TextBox 10" id="10"/>
            <p:cNvSpPr txBox="true"/>
            <p:nvPr/>
          </p:nvSpPr>
          <p:spPr>
            <a:xfrm rot="0">
              <a:off x="12700" y="-66675"/>
              <a:ext cx="17210193" cy="546735"/>
            </a:xfrm>
            <a:prstGeom prst="rect">
              <a:avLst/>
            </a:prstGeom>
          </p:spPr>
          <p:txBody>
            <a:bodyPr anchor="t" rtlCol="false" tIns="0" lIns="0" bIns="0" rIns="0">
              <a:spAutoFit/>
            </a:bodyPr>
            <a:lstStyle/>
            <a:p>
              <a:pPr algn="l" marL="0" indent="0" lvl="0">
                <a:lnSpc>
                  <a:spcPts val="3120"/>
                </a:lnSpc>
              </a:pPr>
              <a:r>
                <a:rPr lang="en-US" b="true" sz="2400">
                  <a:solidFill>
                    <a:srgbClr val="6A5642"/>
                  </a:solidFill>
                  <a:latin typeface="Codec Pro Ultra-Bold"/>
                  <a:ea typeface="Codec Pro Ultra-Bold"/>
                  <a:cs typeface="Codec Pro Ultra-Bold"/>
                  <a:sym typeface="Codec Pro Ultra-Bold"/>
                </a:rPr>
                <a:t>Bảng orders</a:t>
              </a:r>
            </a:p>
          </p:txBody>
        </p:sp>
      </p:grpSp>
      <p:grpSp>
        <p:nvGrpSpPr>
          <p:cNvPr name="Group 11" id="11"/>
          <p:cNvGrpSpPr/>
          <p:nvPr/>
        </p:nvGrpSpPr>
        <p:grpSpPr>
          <a:xfrm rot="0">
            <a:off x="1525513" y="5303444"/>
            <a:ext cx="15082048" cy="3488030"/>
            <a:chOff x="0" y="0"/>
            <a:chExt cx="3972227" cy="918658"/>
          </a:xfrm>
        </p:grpSpPr>
        <p:sp>
          <p:nvSpPr>
            <p:cNvPr name="Freeform 12" id="12"/>
            <p:cNvSpPr/>
            <p:nvPr/>
          </p:nvSpPr>
          <p:spPr>
            <a:xfrm flipH="false" flipV="false" rot="0">
              <a:off x="0" y="0"/>
              <a:ext cx="3972227" cy="918658"/>
            </a:xfrm>
            <a:custGeom>
              <a:avLst/>
              <a:gdLst/>
              <a:ahLst/>
              <a:cxnLst/>
              <a:rect r="r" b="b" t="t" l="l"/>
              <a:pathLst>
                <a:path h="918658" w="3972227">
                  <a:moveTo>
                    <a:pt x="25666" y="0"/>
                  </a:moveTo>
                  <a:lnTo>
                    <a:pt x="3946561" y="0"/>
                  </a:lnTo>
                  <a:cubicBezTo>
                    <a:pt x="3953368" y="0"/>
                    <a:pt x="3959896" y="2704"/>
                    <a:pt x="3964709" y="7517"/>
                  </a:cubicBezTo>
                  <a:cubicBezTo>
                    <a:pt x="3969522" y="12331"/>
                    <a:pt x="3972227" y="18859"/>
                    <a:pt x="3972227" y="25666"/>
                  </a:cubicBezTo>
                  <a:lnTo>
                    <a:pt x="3972227" y="892992"/>
                  </a:lnTo>
                  <a:cubicBezTo>
                    <a:pt x="3972227" y="899799"/>
                    <a:pt x="3969522" y="906327"/>
                    <a:pt x="3964709" y="911141"/>
                  </a:cubicBezTo>
                  <a:cubicBezTo>
                    <a:pt x="3959896" y="915954"/>
                    <a:pt x="3953368" y="918658"/>
                    <a:pt x="3946561" y="918658"/>
                  </a:cubicBezTo>
                  <a:lnTo>
                    <a:pt x="25666" y="918658"/>
                  </a:lnTo>
                  <a:cubicBezTo>
                    <a:pt x="18859" y="918658"/>
                    <a:pt x="12331" y="915954"/>
                    <a:pt x="7517" y="911141"/>
                  </a:cubicBezTo>
                  <a:cubicBezTo>
                    <a:pt x="2704" y="906327"/>
                    <a:pt x="0" y="899799"/>
                    <a:pt x="0" y="892992"/>
                  </a:cubicBezTo>
                  <a:lnTo>
                    <a:pt x="0" y="25666"/>
                  </a:lnTo>
                  <a:cubicBezTo>
                    <a:pt x="0" y="18859"/>
                    <a:pt x="2704" y="12331"/>
                    <a:pt x="7517" y="7517"/>
                  </a:cubicBezTo>
                  <a:cubicBezTo>
                    <a:pt x="12331" y="2704"/>
                    <a:pt x="18859" y="0"/>
                    <a:pt x="25666" y="0"/>
                  </a:cubicBezTo>
                  <a:close/>
                </a:path>
              </a:pathLst>
            </a:custGeom>
            <a:solidFill>
              <a:srgbClr val="000000">
                <a:alpha val="0"/>
              </a:srgbClr>
            </a:solidFill>
            <a:ln w="38100" cap="rnd">
              <a:solidFill>
                <a:srgbClr val="000000"/>
              </a:solidFill>
              <a:prstDash val="solid"/>
              <a:round/>
            </a:ln>
          </p:spPr>
        </p:sp>
        <p:sp>
          <p:nvSpPr>
            <p:cNvPr name="TextBox 13" id="13"/>
            <p:cNvSpPr txBox="true"/>
            <p:nvPr/>
          </p:nvSpPr>
          <p:spPr>
            <a:xfrm>
              <a:off x="0" y="-66675"/>
              <a:ext cx="3972227" cy="985333"/>
            </a:xfrm>
            <a:prstGeom prst="rect">
              <a:avLst/>
            </a:prstGeom>
          </p:spPr>
          <p:txBody>
            <a:bodyPr anchor="ctr" rtlCol="false" tIns="127000" lIns="127000" bIns="127000" rIns="127000"/>
            <a:lstStyle/>
            <a:p>
              <a:pPr algn="ctr" marL="0" indent="0" lvl="0">
                <a:lnSpc>
                  <a:spcPts val="3120"/>
                </a:lnSpc>
                <a:spcBef>
                  <a:spcPct val="0"/>
                </a:spcBef>
              </a:pPr>
            </a:p>
          </p:txBody>
        </p:sp>
      </p:grpSp>
      <p:grpSp>
        <p:nvGrpSpPr>
          <p:cNvPr name="Group 14" id="14"/>
          <p:cNvGrpSpPr/>
          <p:nvPr/>
        </p:nvGrpSpPr>
        <p:grpSpPr>
          <a:xfrm rot="0">
            <a:off x="2261060" y="5987514"/>
            <a:ext cx="13894409" cy="2224888"/>
            <a:chOff x="0" y="0"/>
            <a:chExt cx="18525878" cy="2966518"/>
          </a:xfrm>
        </p:grpSpPr>
        <p:sp>
          <p:nvSpPr>
            <p:cNvPr name="TextBox 15" id="15"/>
            <p:cNvSpPr txBox="true"/>
            <p:nvPr/>
          </p:nvSpPr>
          <p:spPr>
            <a:xfrm rot="0">
              <a:off x="152289" y="389411"/>
              <a:ext cx="18373590" cy="2577107"/>
            </a:xfrm>
            <a:prstGeom prst="rect">
              <a:avLst/>
            </a:prstGeom>
          </p:spPr>
          <p:txBody>
            <a:bodyPr anchor="t" rtlCol="false" tIns="0" lIns="0" bIns="0" rIns="0">
              <a:spAutoFit/>
            </a:bodyPr>
            <a:lstStyle/>
            <a:p>
              <a:pPr algn="l">
                <a:lnSpc>
                  <a:spcPts val="3001"/>
                </a:lnSpc>
              </a:pPr>
              <a:r>
                <a:rPr lang="en-US" sz="2308">
                  <a:solidFill>
                    <a:srgbClr val="6A5642"/>
                  </a:solidFill>
                  <a:latin typeface="Codec Pro"/>
                  <a:ea typeface="Codec Pro"/>
                  <a:cs typeface="Codec Pro"/>
                  <a:sym typeface="Codec Pro"/>
                </a:rPr>
                <a:t>Bảng order_items chi tiết các sản phẩm trong mỗi đơn</a:t>
              </a:r>
              <a:r>
                <a:rPr lang="en-US" sz="2308">
                  <a:solidFill>
                    <a:srgbClr val="6A5642"/>
                  </a:solidFill>
                  <a:latin typeface="Codec Pro"/>
                  <a:ea typeface="Codec Pro"/>
                  <a:cs typeface="Codec Pro"/>
                  <a:sym typeface="Codec Pro"/>
                </a:rPr>
                <a:t> hàng gồm: </a:t>
              </a:r>
            </a:p>
            <a:p>
              <a:pPr algn="l" marL="498433" indent="-249216" lvl="1">
                <a:lnSpc>
                  <a:spcPts val="3001"/>
                </a:lnSpc>
                <a:buFont typeface="Arial"/>
                <a:buChar char="•"/>
              </a:pPr>
              <a:r>
                <a:rPr lang="en-US" sz="2308">
                  <a:solidFill>
                    <a:srgbClr val="6A5642"/>
                  </a:solidFill>
                  <a:latin typeface="Codec Pro"/>
                  <a:ea typeface="Codec Pro"/>
                  <a:cs typeface="Codec Pro"/>
                  <a:sym typeface="Codec Pro"/>
                </a:rPr>
                <a:t> order_item_id int primary key auto increment</a:t>
              </a:r>
            </a:p>
            <a:p>
              <a:pPr algn="l" marL="498433" indent="-249216" lvl="1">
                <a:lnSpc>
                  <a:spcPts val="3001"/>
                </a:lnSpc>
                <a:buFont typeface="Arial"/>
                <a:buChar char="•"/>
              </a:pPr>
              <a:r>
                <a:rPr lang="en-US" sz="2308">
                  <a:solidFill>
                    <a:srgbClr val="6A5642"/>
                  </a:solidFill>
                  <a:latin typeface="Codec Pro"/>
                  <a:ea typeface="Codec Pro"/>
                  <a:cs typeface="Codec Pro"/>
                  <a:sym typeface="Codec Pro"/>
                </a:rPr>
                <a:t> order_id int foreign key</a:t>
              </a:r>
            </a:p>
            <a:p>
              <a:pPr algn="l" marL="498433" indent="-249216" lvl="1">
                <a:lnSpc>
                  <a:spcPts val="3001"/>
                </a:lnSpc>
                <a:buFont typeface="Arial"/>
                <a:buChar char="•"/>
              </a:pPr>
              <a:r>
                <a:rPr lang="en-US" sz="2308">
                  <a:solidFill>
                    <a:srgbClr val="6A5642"/>
                  </a:solidFill>
                  <a:latin typeface="Codec Pro"/>
                  <a:ea typeface="Codec Pro"/>
                  <a:cs typeface="Codec Pro"/>
                  <a:sym typeface="Codec Pro"/>
                </a:rPr>
                <a:t> product_id int foreign key</a:t>
              </a:r>
            </a:p>
            <a:p>
              <a:pPr algn="l" marL="498433" indent="-249216" lvl="1">
                <a:lnSpc>
                  <a:spcPts val="3001"/>
                </a:lnSpc>
                <a:buFont typeface="Arial"/>
                <a:buChar char="•"/>
              </a:pPr>
              <a:r>
                <a:rPr lang="en-US" sz="2308">
                  <a:solidFill>
                    <a:srgbClr val="6A5642"/>
                  </a:solidFill>
                  <a:latin typeface="Codec Pro"/>
                  <a:ea typeface="Codec Pro"/>
                  <a:cs typeface="Codec Pro"/>
                  <a:sym typeface="Codec Pro"/>
                </a:rPr>
                <a:t>quantity int not null check ( quantity &gt; 0 )</a:t>
              </a:r>
            </a:p>
          </p:txBody>
        </p:sp>
        <p:sp>
          <p:nvSpPr>
            <p:cNvPr name="TextBox 16" id="16"/>
            <p:cNvSpPr txBox="true"/>
            <p:nvPr/>
          </p:nvSpPr>
          <p:spPr>
            <a:xfrm rot="0">
              <a:off x="0" y="-76200"/>
              <a:ext cx="18525878" cy="541811"/>
            </a:xfrm>
            <a:prstGeom prst="rect">
              <a:avLst/>
            </a:prstGeom>
          </p:spPr>
          <p:txBody>
            <a:bodyPr anchor="t" rtlCol="false" tIns="0" lIns="0" bIns="0" rIns="0">
              <a:spAutoFit/>
            </a:bodyPr>
            <a:lstStyle/>
            <a:p>
              <a:pPr algn="l" marL="0" indent="0" lvl="0">
                <a:lnSpc>
                  <a:spcPts val="3026"/>
                </a:lnSpc>
              </a:pPr>
              <a:r>
                <a:rPr lang="en-US" b="true" sz="2327">
                  <a:solidFill>
                    <a:srgbClr val="6A5642"/>
                  </a:solidFill>
                  <a:latin typeface="Codec Pro Ultra-Bold"/>
                  <a:ea typeface="Codec Pro Ultra-Bold"/>
                  <a:cs typeface="Codec Pro Ultra-Bold"/>
                  <a:sym typeface="Codec Pro Ultra-Bold"/>
                </a:rPr>
                <a:t>Bảng order_items</a:t>
              </a:r>
            </a:p>
          </p:txBody>
        </p:sp>
      </p:grpSp>
    </p:spTree>
  </p:cSld>
  <p:clrMapOvr>
    <a:masterClrMapping/>
  </p:clrMapOvr>
</p:sld>
</file>

<file path=ppt/slides/slide11.xml><?xml version="1.0" encoding="utf-8"?>
<p:sld xmlns:p="http://schemas.openxmlformats.org/presentationml/2006/main" xmlns:a="http://schemas.openxmlformats.org/drawingml/2006/main">
  <p:cSld>
    <p:bg>
      <p:bgPr>
        <a:solidFill>
          <a:srgbClr val="866A4F"/>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FFFFF"/>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EAE2D8"/>
            </a:solidFill>
          </p:spPr>
        </p:sp>
      </p:grpSp>
      <p:sp>
        <p:nvSpPr>
          <p:cNvPr name="TextBox 5" id="5"/>
          <p:cNvSpPr txBox="true"/>
          <p:nvPr/>
        </p:nvSpPr>
        <p:spPr>
          <a:xfrm rot="0">
            <a:off x="1733204" y="4267200"/>
            <a:ext cx="4010025" cy="1695450"/>
          </a:xfrm>
          <a:prstGeom prst="rect">
            <a:avLst/>
          </a:prstGeom>
        </p:spPr>
        <p:txBody>
          <a:bodyPr anchor="t" rtlCol="false" tIns="0" lIns="0" bIns="0" rIns="0">
            <a:spAutoFit/>
          </a:bodyPr>
          <a:lstStyle/>
          <a:p>
            <a:pPr algn="ctr" marL="0" indent="0" lvl="0">
              <a:lnSpc>
                <a:spcPts val="6480"/>
              </a:lnSpc>
            </a:pPr>
            <a:r>
              <a:rPr lang="en-US" b="true" sz="5400" spc="-135">
                <a:solidFill>
                  <a:srgbClr val="6A5642"/>
                </a:solidFill>
                <a:latin typeface="Gatwick Ultra-Bold"/>
                <a:ea typeface="Gatwick Ultra-Bold"/>
                <a:cs typeface="Gatwick Ultra-Bold"/>
                <a:sym typeface="Gatwick Ultra-Bold"/>
              </a:rPr>
              <a:t>Mối quan hệ bảng</a:t>
            </a:r>
          </a:p>
        </p:txBody>
      </p:sp>
      <p:grpSp>
        <p:nvGrpSpPr>
          <p:cNvPr name="Group 6" id="6"/>
          <p:cNvGrpSpPr/>
          <p:nvPr/>
        </p:nvGrpSpPr>
        <p:grpSpPr>
          <a:xfrm rot="0">
            <a:off x="6198935" y="895920"/>
            <a:ext cx="10631740" cy="8362380"/>
            <a:chOff x="0" y="0"/>
            <a:chExt cx="2800129" cy="2202438"/>
          </a:xfrm>
        </p:grpSpPr>
        <p:sp>
          <p:nvSpPr>
            <p:cNvPr name="Freeform 7" id="7"/>
            <p:cNvSpPr/>
            <p:nvPr/>
          </p:nvSpPr>
          <p:spPr>
            <a:xfrm flipH="false" flipV="false" rot="0">
              <a:off x="0" y="0"/>
              <a:ext cx="2800129" cy="2202438"/>
            </a:xfrm>
            <a:custGeom>
              <a:avLst/>
              <a:gdLst/>
              <a:ahLst/>
              <a:cxnLst/>
              <a:rect r="r" b="b" t="t" l="l"/>
              <a:pathLst>
                <a:path h="2202438" w="2800129">
                  <a:moveTo>
                    <a:pt x="36409" y="0"/>
                  </a:moveTo>
                  <a:lnTo>
                    <a:pt x="2763720" y="0"/>
                  </a:lnTo>
                  <a:cubicBezTo>
                    <a:pt x="2773376" y="0"/>
                    <a:pt x="2782637" y="3836"/>
                    <a:pt x="2789465" y="10664"/>
                  </a:cubicBezTo>
                  <a:cubicBezTo>
                    <a:pt x="2796293" y="17492"/>
                    <a:pt x="2800129" y="26753"/>
                    <a:pt x="2800129" y="36409"/>
                  </a:cubicBezTo>
                  <a:lnTo>
                    <a:pt x="2800129" y="2166028"/>
                  </a:lnTo>
                  <a:cubicBezTo>
                    <a:pt x="2800129" y="2175685"/>
                    <a:pt x="2796293" y="2184946"/>
                    <a:pt x="2789465" y="2191774"/>
                  </a:cubicBezTo>
                  <a:cubicBezTo>
                    <a:pt x="2782637" y="2198602"/>
                    <a:pt x="2773376" y="2202438"/>
                    <a:pt x="2763720" y="2202438"/>
                  </a:cubicBezTo>
                  <a:lnTo>
                    <a:pt x="36409" y="2202438"/>
                  </a:lnTo>
                  <a:cubicBezTo>
                    <a:pt x="26753" y="2202438"/>
                    <a:pt x="17492" y="2198602"/>
                    <a:pt x="10664" y="2191774"/>
                  </a:cubicBezTo>
                  <a:cubicBezTo>
                    <a:pt x="3836" y="2184946"/>
                    <a:pt x="0" y="2175685"/>
                    <a:pt x="0" y="2166028"/>
                  </a:cubicBezTo>
                  <a:lnTo>
                    <a:pt x="0" y="36409"/>
                  </a:lnTo>
                  <a:cubicBezTo>
                    <a:pt x="0" y="26753"/>
                    <a:pt x="3836" y="17492"/>
                    <a:pt x="10664" y="10664"/>
                  </a:cubicBezTo>
                  <a:cubicBezTo>
                    <a:pt x="17492" y="3836"/>
                    <a:pt x="26753" y="0"/>
                    <a:pt x="36409" y="0"/>
                  </a:cubicBezTo>
                  <a:close/>
                </a:path>
              </a:pathLst>
            </a:custGeom>
            <a:solidFill>
              <a:srgbClr val="000000">
                <a:alpha val="0"/>
              </a:srgbClr>
            </a:solidFill>
            <a:ln w="38100" cap="rnd">
              <a:solidFill>
                <a:srgbClr val="000000"/>
              </a:solidFill>
              <a:prstDash val="solid"/>
              <a:round/>
            </a:ln>
          </p:spPr>
        </p:sp>
        <p:sp>
          <p:nvSpPr>
            <p:cNvPr name="TextBox 8" id="8"/>
            <p:cNvSpPr txBox="true"/>
            <p:nvPr/>
          </p:nvSpPr>
          <p:spPr>
            <a:xfrm>
              <a:off x="0" y="-66675"/>
              <a:ext cx="2800129" cy="2269113"/>
            </a:xfrm>
            <a:prstGeom prst="rect">
              <a:avLst/>
            </a:prstGeom>
          </p:spPr>
          <p:txBody>
            <a:bodyPr anchor="ctr" rtlCol="false" tIns="127000" lIns="127000" bIns="127000" rIns="127000"/>
            <a:lstStyle/>
            <a:p>
              <a:pPr algn="ctr" marL="0" indent="0" lvl="0">
                <a:lnSpc>
                  <a:spcPts val="3120"/>
                </a:lnSpc>
              </a:pPr>
            </a:p>
          </p:txBody>
        </p:sp>
      </p:grpSp>
      <p:sp>
        <p:nvSpPr>
          <p:cNvPr name="TextBox 9" id="9"/>
          <p:cNvSpPr txBox="true"/>
          <p:nvPr/>
        </p:nvSpPr>
        <p:spPr>
          <a:xfrm rot="0">
            <a:off x="6500511" y="1340074"/>
            <a:ext cx="10100025" cy="7407396"/>
          </a:xfrm>
          <a:prstGeom prst="rect">
            <a:avLst/>
          </a:prstGeom>
        </p:spPr>
        <p:txBody>
          <a:bodyPr anchor="t" rtlCol="false" tIns="0" lIns="0" bIns="0" rIns="0">
            <a:spAutoFit/>
          </a:bodyPr>
          <a:lstStyle/>
          <a:p>
            <a:pPr algn="ctr" marL="0" indent="0" lvl="0">
              <a:lnSpc>
                <a:spcPts val="3237"/>
              </a:lnSpc>
            </a:pPr>
            <a:r>
              <a:rPr lang="en-US" sz="2490">
                <a:solidFill>
                  <a:srgbClr val="6A5642"/>
                </a:solidFill>
                <a:latin typeface="Codec Pro"/>
                <a:ea typeface="Codec Pro"/>
                <a:cs typeface="Codec Pro"/>
                <a:sym typeface="Codec Pro"/>
              </a:rPr>
              <a:t>Trong hệ thống bán hàng trực tuyến, các bảng có mối quan hệ chặt chẽ với nhau như sau: </a:t>
            </a:r>
          </a:p>
          <a:p>
            <a:pPr algn="l" marL="0" indent="0" lvl="0">
              <a:lnSpc>
                <a:spcPts val="3237"/>
              </a:lnSpc>
            </a:pPr>
          </a:p>
          <a:p>
            <a:pPr algn="l" marL="537688" indent="-268844" lvl="1">
              <a:lnSpc>
                <a:spcPts val="3237"/>
              </a:lnSpc>
              <a:buFont typeface="Arial"/>
              <a:buChar char="•"/>
            </a:pPr>
            <a:r>
              <a:rPr lang="en-US" b="true" sz="2490" u="sng">
                <a:solidFill>
                  <a:srgbClr val="6A5642"/>
                </a:solidFill>
                <a:latin typeface="Codec Pro Bold"/>
                <a:ea typeface="Codec Pro Bold"/>
                <a:cs typeface="Codec Pro Bold"/>
                <a:sym typeface="Codec Pro Bold"/>
              </a:rPr>
              <a:t>customer - 1 - N - orders</a:t>
            </a:r>
          </a:p>
          <a:p>
            <a:pPr algn="l" marL="0" indent="0" lvl="0">
              <a:lnSpc>
                <a:spcPts val="3237"/>
              </a:lnSpc>
            </a:pPr>
            <a:r>
              <a:rPr lang="en-US" sz="2490">
                <a:solidFill>
                  <a:srgbClr val="6A5642"/>
                </a:solidFill>
                <a:latin typeface="Codec Pro"/>
                <a:ea typeface="Codec Pro"/>
                <a:cs typeface="Codec Pro"/>
                <a:sym typeface="Codec Pro"/>
              </a:rPr>
              <a:t>        - </a:t>
            </a:r>
            <a:r>
              <a:rPr lang="en-US" sz="2490">
                <a:solidFill>
                  <a:srgbClr val="6A5642"/>
                </a:solidFill>
                <a:latin typeface="Codec Pro"/>
                <a:ea typeface="Codec Pro"/>
                <a:cs typeface="Codec Pro"/>
                <a:sym typeface="Codec Pro"/>
              </a:rPr>
              <a:t>Một khách hàng có thể có nhiều đơn hàng</a:t>
            </a:r>
          </a:p>
          <a:p>
            <a:pPr algn="l" marL="0" indent="0" lvl="0">
              <a:lnSpc>
                <a:spcPts val="3237"/>
              </a:lnSpc>
            </a:pPr>
            <a:r>
              <a:rPr lang="en-US" sz="2490">
                <a:solidFill>
                  <a:srgbClr val="6A5642"/>
                </a:solidFill>
                <a:latin typeface="Codec Pro"/>
                <a:ea typeface="Codec Pro"/>
                <a:cs typeface="Codec Pro"/>
                <a:sym typeface="Codec Pro"/>
              </a:rPr>
              <a:t>        - Một đơn hàng thuộc về một khách hàng</a:t>
            </a:r>
          </a:p>
          <a:p>
            <a:pPr algn="ctr" marL="0" indent="0" lvl="0">
              <a:lnSpc>
                <a:spcPts val="3237"/>
              </a:lnSpc>
            </a:pPr>
          </a:p>
          <a:p>
            <a:pPr algn="l" marL="537688" indent="-268844" lvl="1">
              <a:lnSpc>
                <a:spcPts val="3237"/>
              </a:lnSpc>
              <a:buFont typeface="Arial"/>
              <a:buChar char="•"/>
            </a:pPr>
            <a:r>
              <a:rPr lang="en-US" b="true" sz="2490" u="sng">
                <a:solidFill>
                  <a:srgbClr val="6A5642"/>
                </a:solidFill>
                <a:latin typeface="Codec Pro Bold"/>
                <a:ea typeface="Codec Pro Bold"/>
                <a:cs typeface="Codec Pro Bold"/>
                <a:sym typeface="Codec Pro Bold"/>
              </a:rPr>
              <a:t>orders - 1 - N - order_items</a:t>
            </a:r>
          </a:p>
          <a:p>
            <a:pPr algn="l">
              <a:lnSpc>
                <a:spcPts val="3237"/>
              </a:lnSpc>
            </a:pPr>
            <a:r>
              <a:rPr lang="en-US" sz="2490">
                <a:solidFill>
                  <a:srgbClr val="6A5642"/>
                </a:solidFill>
                <a:latin typeface="Codec Pro"/>
                <a:ea typeface="Codec Pro"/>
                <a:cs typeface="Codec Pro"/>
                <a:sym typeface="Codec Pro"/>
              </a:rPr>
              <a:t>        - </a:t>
            </a:r>
            <a:r>
              <a:rPr lang="en-US" sz="2490">
                <a:solidFill>
                  <a:srgbClr val="6A5642"/>
                </a:solidFill>
                <a:latin typeface="Codec Pro"/>
                <a:ea typeface="Codec Pro"/>
                <a:cs typeface="Codec Pro"/>
                <a:sym typeface="Codec Pro"/>
              </a:rPr>
              <a:t>Một đơn hàng có nhiều chi tiết đơn hàng</a:t>
            </a:r>
          </a:p>
          <a:p>
            <a:pPr algn="ctr" marL="0" indent="0" lvl="0">
              <a:lnSpc>
                <a:spcPts val="3237"/>
              </a:lnSpc>
            </a:pPr>
          </a:p>
          <a:p>
            <a:pPr algn="l" marL="537688" indent="-268844" lvl="1">
              <a:lnSpc>
                <a:spcPts val="3237"/>
              </a:lnSpc>
              <a:buFont typeface="Arial"/>
              <a:buChar char="•"/>
            </a:pPr>
            <a:r>
              <a:rPr lang="en-US" b="true" sz="2490" u="sng">
                <a:solidFill>
                  <a:srgbClr val="6A5642"/>
                </a:solidFill>
                <a:latin typeface="Codec Pro Bold"/>
                <a:ea typeface="Codec Pro Bold"/>
                <a:cs typeface="Codec Pro Bold"/>
                <a:sym typeface="Codec Pro Bold"/>
              </a:rPr>
              <a:t>products - 1 - N - order_items</a:t>
            </a:r>
          </a:p>
          <a:p>
            <a:pPr algn="l">
              <a:lnSpc>
                <a:spcPts val="3237"/>
              </a:lnSpc>
            </a:pPr>
            <a:r>
              <a:rPr lang="en-US" sz="2490">
                <a:solidFill>
                  <a:srgbClr val="6A5642"/>
                </a:solidFill>
                <a:latin typeface="Codec Pro"/>
                <a:ea typeface="Codec Pro"/>
                <a:cs typeface="Codec Pro"/>
                <a:sym typeface="Codec Pro"/>
              </a:rPr>
              <a:t>        - </a:t>
            </a:r>
            <a:r>
              <a:rPr lang="en-US" sz="2490">
                <a:solidFill>
                  <a:srgbClr val="6A5642"/>
                </a:solidFill>
                <a:latin typeface="Codec Pro"/>
                <a:ea typeface="Codec Pro"/>
                <a:cs typeface="Codec Pro"/>
                <a:sym typeface="Codec Pro"/>
              </a:rPr>
              <a:t>Một sản phẩm có thể xuất hiện trong nhiều chi tiết  đơn hàng</a:t>
            </a:r>
          </a:p>
          <a:p>
            <a:pPr algn="ctr" marL="0" indent="0" lvl="0">
              <a:lnSpc>
                <a:spcPts val="3237"/>
              </a:lnSpc>
            </a:pPr>
          </a:p>
          <a:p>
            <a:pPr algn="l" marL="537688" indent="-268844" lvl="1">
              <a:lnSpc>
                <a:spcPts val="3237"/>
              </a:lnSpc>
              <a:buFont typeface="Arial"/>
              <a:buChar char="•"/>
            </a:pPr>
            <a:r>
              <a:rPr lang="en-US" b="true" sz="2490" u="sng">
                <a:solidFill>
                  <a:srgbClr val="6A5642"/>
                </a:solidFill>
                <a:latin typeface="Codec Pro Bold"/>
                <a:ea typeface="Codec Pro Bold"/>
                <a:cs typeface="Codec Pro Bold"/>
                <a:sym typeface="Codec Pro Bold"/>
              </a:rPr>
              <a:t>categories - 1 - N - products</a:t>
            </a:r>
          </a:p>
          <a:p>
            <a:pPr algn="l">
              <a:lnSpc>
                <a:spcPts val="3237"/>
              </a:lnSpc>
            </a:pPr>
            <a:r>
              <a:rPr lang="en-US" sz="2490">
                <a:solidFill>
                  <a:srgbClr val="6A5642"/>
                </a:solidFill>
                <a:latin typeface="Codec Pro"/>
                <a:ea typeface="Codec Pro"/>
                <a:cs typeface="Codec Pro"/>
                <a:sym typeface="Codec Pro"/>
              </a:rPr>
              <a:t>        - </a:t>
            </a:r>
            <a:r>
              <a:rPr lang="en-US" sz="2490">
                <a:solidFill>
                  <a:srgbClr val="6A5642"/>
                </a:solidFill>
                <a:latin typeface="Codec Pro"/>
                <a:ea typeface="Codec Pro"/>
                <a:cs typeface="Codec Pro"/>
                <a:sym typeface="Codec Pro"/>
              </a:rPr>
              <a:t>Một danh mục có nhiều sản phẩm </a:t>
            </a:r>
          </a:p>
          <a:p>
            <a:pPr algn="ctr">
              <a:lnSpc>
                <a:spcPts val="3237"/>
              </a:lnSpc>
            </a:pPr>
          </a:p>
          <a:p>
            <a:pPr algn="ctr">
              <a:lnSpc>
                <a:spcPts val="3237"/>
              </a:lnSpc>
            </a:pPr>
            <a:r>
              <a:rPr lang="en-US" sz="2490">
                <a:solidFill>
                  <a:srgbClr val="6A5642"/>
                </a:solidFill>
                <a:latin typeface="Codec Pro"/>
                <a:ea typeface="Codec Pro"/>
                <a:cs typeface="Codec Pro"/>
                <a:sym typeface="Codec Pro"/>
              </a:rPr>
              <a:t> Các mối quan hệ này không chỉ giúp tổ chức dữ liệu mà còn hỗ trợ việc thực hiện các câu lệnh JOIN trong SQL một cách hiệu quả.</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866A4F"/>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FFFFF"/>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EAE2D8"/>
            </a:solidFill>
          </p:spPr>
        </p:sp>
      </p:grpSp>
      <p:grpSp>
        <p:nvGrpSpPr>
          <p:cNvPr name="Group 5" id="5"/>
          <p:cNvGrpSpPr/>
          <p:nvPr/>
        </p:nvGrpSpPr>
        <p:grpSpPr>
          <a:xfrm rot="0">
            <a:off x="4999705" y="1625631"/>
            <a:ext cx="12231940" cy="7304056"/>
            <a:chOff x="0" y="0"/>
            <a:chExt cx="3221581" cy="1923702"/>
          </a:xfrm>
        </p:grpSpPr>
        <p:sp>
          <p:nvSpPr>
            <p:cNvPr name="Freeform 6" id="6"/>
            <p:cNvSpPr/>
            <p:nvPr/>
          </p:nvSpPr>
          <p:spPr>
            <a:xfrm flipH="false" flipV="false" rot="0">
              <a:off x="0" y="0"/>
              <a:ext cx="3221581" cy="1923702"/>
            </a:xfrm>
            <a:custGeom>
              <a:avLst/>
              <a:gdLst/>
              <a:ahLst/>
              <a:cxnLst/>
              <a:rect r="r" b="b" t="t" l="l"/>
              <a:pathLst>
                <a:path h="1923702" w="3221581">
                  <a:moveTo>
                    <a:pt x="31646" y="0"/>
                  </a:moveTo>
                  <a:lnTo>
                    <a:pt x="3189935" y="0"/>
                  </a:lnTo>
                  <a:cubicBezTo>
                    <a:pt x="3207412" y="0"/>
                    <a:pt x="3221581" y="14169"/>
                    <a:pt x="3221581" y="31646"/>
                  </a:cubicBezTo>
                  <a:lnTo>
                    <a:pt x="3221581" y="1892056"/>
                  </a:lnTo>
                  <a:cubicBezTo>
                    <a:pt x="3221581" y="1900449"/>
                    <a:pt x="3218247" y="1908498"/>
                    <a:pt x="3212312" y="1914433"/>
                  </a:cubicBezTo>
                  <a:cubicBezTo>
                    <a:pt x="3206377" y="1920368"/>
                    <a:pt x="3198328" y="1923702"/>
                    <a:pt x="3189935" y="1923702"/>
                  </a:cubicBezTo>
                  <a:lnTo>
                    <a:pt x="31646" y="1923702"/>
                  </a:lnTo>
                  <a:cubicBezTo>
                    <a:pt x="23253" y="1923702"/>
                    <a:pt x="15204" y="1920368"/>
                    <a:pt x="9269" y="1914433"/>
                  </a:cubicBezTo>
                  <a:cubicBezTo>
                    <a:pt x="3334" y="1908498"/>
                    <a:pt x="0" y="1900449"/>
                    <a:pt x="0" y="1892056"/>
                  </a:cubicBezTo>
                  <a:lnTo>
                    <a:pt x="0" y="31646"/>
                  </a:lnTo>
                  <a:cubicBezTo>
                    <a:pt x="0" y="23253"/>
                    <a:pt x="3334" y="15204"/>
                    <a:pt x="9269" y="9269"/>
                  </a:cubicBezTo>
                  <a:cubicBezTo>
                    <a:pt x="15204" y="3334"/>
                    <a:pt x="23253" y="0"/>
                    <a:pt x="31646" y="0"/>
                  </a:cubicBezTo>
                  <a:close/>
                </a:path>
              </a:pathLst>
            </a:custGeom>
            <a:solidFill>
              <a:srgbClr val="000000">
                <a:alpha val="0"/>
              </a:srgbClr>
            </a:solidFill>
            <a:ln w="38100" cap="rnd">
              <a:solidFill>
                <a:srgbClr val="000000"/>
              </a:solidFill>
              <a:prstDash val="solid"/>
              <a:round/>
            </a:ln>
          </p:spPr>
        </p:sp>
        <p:sp>
          <p:nvSpPr>
            <p:cNvPr name="TextBox 7" id="7"/>
            <p:cNvSpPr txBox="true"/>
            <p:nvPr/>
          </p:nvSpPr>
          <p:spPr>
            <a:xfrm>
              <a:off x="0" y="-66675"/>
              <a:ext cx="3221581" cy="1990377"/>
            </a:xfrm>
            <a:prstGeom prst="rect">
              <a:avLst/>
            </a:prstGeom>
          </p:spPr>
          <p:txBody>
            <a:bodyPr anchor="ctr" rtlCol="false" tIns="127000" lIns="127000" bIns="127000" rIns="127000"/>
            <a:lstStyle/>
            <a:p>
              <a:pPr algn="ctr" marL="0" indent="0" lvl="0">
                <a:lnSpc>
                  <a:spcPts val="3120"/>
                </a:lnSpc>
              </a:pPr>
            </a:p>
          </p:txBody>
        </p:sp>
      </p:grpSp>
      <p:sp>
        <p:nvSpPr>
          <p:cNvPr name="Freeform 8" id="8"/>
          <p:cNvSpPr/>
          <p:nvPr/>
        </p:nvSpPr>
        <p:spPr>
          <a:xfrm flipH="false" flipV="false" rot="0">
            <a:off x="5465046" y="2783277"/>
            <a:ext cx="11301259" cy="4209719"/>
          </a:xfrm>
          <a:custGeom>
            <a:avLst/>
            <a:gdLst/>
            <a:ahLst/>
            <a:cxnLst/>
            <a:rect r="r" b="b" t="t" l="l"/>
            <a:pathLst>
              <a:path h="4209719" w="11301259">
                <a:moveTo>
                  <a:pt x="0" y="0"/>
                </a:moveTo>
                <a:lnTo>
                  <a:pt x="11301258" y="0"/>
                </a:lnTo>
                <a:lnTo>
                  <a:pt x="11301258" y="4209719"/>
                </a:lnTo>
                <a:lnTo>
                  <a:pt x="0" y="4209719"/>
                </a:lnTo>
                <a:lnTo>
                  <a:pt x="0" y="0"/>
                </a:lnTo>
                <a:close/>
              </a:path>
            </a:pathLst>
          </a:custGeom>
          <a:blipFill>
            <a:blip r:embed="rId2"/>
            <a:stretch>
              <a:fillRect l="0" t="0" r="0" b="0"/>
            </a:stretch>
          </a:blipFill>
        </p:spPr>
      </p:sp>
      <p:sp>
        <p:nvSpPr>
          <p:cNvPr name="TextBox 9" id="9"/>
          <p:cNvSpPr txBox="true"/>
          <p:nvPr/>
        </p:nvSpPr>
        <p:spPr>
          <a:xfrm rot="0">
            <a:off x="1733204" y="4267200"/>
            <a:ext cx="4010025" cy="1695450"/>
          </a:xfrm>
          <a:prstGeom prst="rect">
            <a:avLst/>
          </a:prstGeom>
        </p:spPr>
        <p:txBody>
          <a:bodyPr anchor="t" rtlCol="false" tIns="0" lIns="0" bIns="0" rIns="0">
            <a:spAutoFit/>
          </a:bodyPr>
          <a:lstStyle/>
          <a:p>
            <a:pPr algn="ctr" marL="0" indent="0" lvl="0">
              <a:lnSpc>
                <a:spcPts val="6480"/>
              </a:lnSpc>
            </a:pPr>
            <a:r>
              <a:rPr lang="en-US" b="true" sz="5400" spc="-135">
                <a:solidFill>
                  <a:srgbClr val="6A5642"/>
                </a:solidFill>
                <a:latin typeface="Gatwick Ultra-Bold"/>
                <a:ea typeface="Gatwick Ultra-Bold"/>
                <a:cs typeface="Gatwick Ultra-Bold"/>
                <a:sym typeface="Gatwick Ultra-Bold"/>
              </a:rPr>
              <a:t>Sơ đồ ERD</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866A4F"/>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FFFFF"/>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EAE2D8"/>
            </a:solidFill>
          </p:spPr>
        </p:sp>
      </p:grpSp>
      <p:sp>
        <p:nvSpPr>
          <p:cNvPr name="TextBox 5" id="5"/>
          <p:cNvSpPr txBox="true"/>
          <p:nvPr/>
        </p:nvSpPr>
        <p:spPr>
          <a:xfrm rot="0">
            <a:off x="1733204" y="3448050"/>
            <a:ext cx="4010025" cy="3333750"/>
          </a:xfrm>
          <a:prstGeom prst="rect">
            <a:avLst/>
          </a:prstGeom>
        </p:spPr>
        <p:txBody>
          <a:bodyPr anchor="t" rtlCol="false" tIns="0" lIns="0" bIns="0" rIns="0">
            <a:spAutoFit/>
          </a:bodyPr>
          <a:lstStyle/>
          <a:p>
            <a:pPr algn="ctr" marL="0" indent="0" lvl="0">
              <a:lnSpc>
                <a:spcPts val="6480"/>
              </a:lnSpc>
            </a:pPr>
            <a:r>
              <a:rPr lang="en-US" b="true" sz="5400" spc="-135">
                <a:solidFill>
                  <a:srgbClr val="6A5642"/>
                </a:solidFill>
                <a:latin typeface="Gatwick Ultra-Bold"/>
                <a:ea typeface="Gatwick Ultra-Bold"/>
                <a:cs typeface="Gatwick Ultra-Bold"/>
                <a:sym typeface="Gatwick Ultra-Bold"/>
              </a:rPr>
              <a:t>Phân tích từng nhóm truy vấn</a:t>
            </a:r>
          </a:p>
        </p:txBody>
      </p:sp>
      <p:grpSp>
        <p:nvGrpSpPr>
          <p:cNvPr name="Group 6" id="6"/>
          <p:cNvGrpSpPr/>
          <p:nvPr/>
        </p:nvGrpSpPr>
        <p:grpSpPr>
          <a:xfrm rot="0">
            <a:off x="5977708" y="895920"/>
            <a:ext cx="10631740" cy="8362380"/>
            <a:chOff x="0" y="0"/>
            <a:chExt cx="2800129" cy="2202438"/>
          </a:xfrm>
        </p:grpSpPr>
        <p:sp>
          <p:nvSpPr>
            <p:cNvPr name="Freeform 7" id="7"/>
            <p:cNvSpPr/>
            <p:nvPr/>
          </p:nvSpPr>
          <p:spPr>
            <a:xfrm flipH="false" flipV="false" rot="0">
              <a:off x="0" y="0"/>
              <a:ext cx="2800129" cy="2202438"/>
            </a:xfrm>
            <a:custGeom>
              <a:avLst/>
              <a:gdLst/>
              <a:ahLst/>
              <a:cxnLst/>
              <a:rect r="r" b="b" t="t" l="l"/>
              <a:pathLst>
                <a:path h="2202438" w="2800129">
                  <a:moveTo>
                    <a:pt x="36409" y="0"/>
                  </a:moveTo>
                  <a:lnTo>
                    <a:pt x="2763720" y="0"/>
                  </a:lnTo>
                  <a:cubicBezTo>
                    <a:pt x="2773376" y="0"/>
                    <a:pt x="2782637" y="3836"/>
                    <a:pt x="2789465" y="10664"/>
                  </a:cubicBezTo>
                  <a:cubicBezTo>
                    <a:pt x="2796293" y="17492"/>
                    <a:pt x="2800129" y="26753"/>
                    <a:pt x="2800129" y="36409"/>
                  </a:cubicBezTo>
                  <a:lnTo>
                    <a:pt x="2800129" y="2166028"/>
                  </a:lnTo>
                  <a:cubicBezTo>
                    <a:pt x="2800129" y="2175685"/>
                    <a:pt x="2796293" y="2184946"/>
                    <a:pt x="2789465" y="2191774"/>
                  </a:cubicBezTo>
                  <a:cubicBezTo>
                    <a:pt x="2782637" y="2198602"/>
                    <a:pt x="2773376" y="2202438"/>
                    <a:pt x="2763720" y="2202438"/>
                  </a:cubicBezTo>
                  <a:lnTo>
                    <a:pt x="36409" y="2202438"/>
                  </a:lnTo>
                  <a:cubicBezTo>
                    <a:pt x="26753" y="2202438"/>
                    <a:pt x="17492" y="2198602"/>
                    <a:pt x="10664" y="2191774"/>
                  </a:cubicBezTo>
                  <a:cubicBezTo>
                    <a:pt x="3836" y="2184946"/>
                    <a:pt x="0" y="2175685"/>
                    <a:pt x="0" y="2166028"/>
                  </a:cubicBezTo>
                  <a:lnTo>
                    <a:pt x="0" y="36409"/>
                  </a:lnTo>
                  <a:cubicBezTo>
                    <a:pt x="0" y="26753"/>
                    <a:pt x="3836" y="17492"/>
                    <a:pt x="10664" y="10664"/>
                  </a:cubicBezTo>
                  <a:cubicBezTo>
                    <a:pt x="17492" y="3836"/>
                    <a:pt x="26753" y="0"/>
                    <a:pt x="36409" y="0"/>
                  </a:cubicBezTo>
                  <a:close/>
                </a:path>
              </a:pathLst>
            </a:custGeom>
            <a:solidFill>
              <a:srgbClr val="000000">
                <a:alpha val="0"/>
              </a:srgbClr>
            </a:solidFill>
            <a:ln w="38100" cap="rnd">
              <a:solidFill>
                <a:srgbClr val="000000"/>
              </a:solidFill>
              <a:prstDash val="solid"/>
              <a:round/>
            </a:ln>
          </p:spPr>
        </p:sp>
        <p:sp>
          <p:nvSpPr>
            <p:cNvPr name="TextBox 8" id="8"/>
            <p:cNvSpPr txBox="true"/>
            <p:nvPr/>
          </p:nvSpPr>
          <p:spPr>
            <a:xfrm>
              <a:off x="0" y="-66675"/>
              <a:ext cx="2800129" cy="2269113"/>
            </a:xfrm>
            <a:prstGeom prst="rect">
              <a:avLst/>
            </a:prstGeom>
          </p:spPr>
          <p:txBody>
            <a:bodyPr anchor="ctr" rtlCol="false" tIns="127000" lIns="127000" bIns="127000" rIns="127000"/>
            <a:lstStyle/>
            <a:p>
              <a:pPr algn="l">
                <a:lnSpc>
                  <a:spcPts val="3120"/>
                </a:lnSpc>
              </a:pPr>
            </a:p>
            <a:p>
              <a:pPr algn="ctr" marL="0" indent="0" lvl="0">
                <a:lnSpc>
                  <a:spcPts val="3120"/>
                </a:lnSpc>
              </a:pPr>
            </a:p>
          </p:txBody>
        </p:sp>
      </p:grpSp>
      <p:sp>
        <p:nvSpPr>
          <p:cNvPr name="TextBox 9" id="9"/>
          <p:cNvSpPr txBox="true"/>
          <p:nvPr/>
        </p:nvSpPr>
        <p:spPr>
          <a:xfrm rot="0">
            <a:off x="6309549" y="810195"/>
            <a:ext cx="12358899" cy="2051729"/>
          </a:xfrm>
          <a:prstGeom prst="rect">
            <a:avLst/>
          </a:prstGeom>
        </p:spPr>
        <p:txBody>
          <a:bodyPr anchor="t" rtlCol="false" tIns="0" lIns="0" bIns="0" rIns="0">
            <a:spAutoFit/>
          </a:bodyPr>
          <a:lstStyle/>
          <a:p>
            <a:pPr algn="l" marL="0" indent="0" lvl="0">
              <a:lnSpc>
                <a:spcPts val="3961"/>
              </a:lnSpc>
            </a:pPr>
          </a:p>
          <a:p>
            <a:pPr algn="l">
              <a:lnSpc>
                <a:spcPts val="3961"/>
              </a:lnSpc>
            </a:pPr>
            <a:r>
              <a:rPr lang="en-US" sz="3047">
                <a:solidFill>
                  <a:srgbClr val="6A5642"/>
                </a:solidFill>
                <a:latin typeface="Codec Pro"/>
                <a:ea typeface="Codec Pro"/>
                <a:cs typeface="Codec Pro"/>
                <a:sym typeface="Codec Pro"/>
              </a:rPr>
              <a:t>PHẦN A – Truy vấn dữ liệu cơ bản</a:t>
            </a:r>
          </a:p>
          <a:p>
            <a:pPr algn="ctr">
              <a:lnSpc>
                <a:spcPts val="3961"/>
              </a:lnSpc>
            </a:pPr>
          </a:p>
          <a:p>
            <a:pPr algn="ctr">
              <a:lnSpc>
                <a:spcPts val="3961"/>
              </a:lnSpc>
            </a:pPr>
          </a:p>
        </p:txBody>
      </p:sp>
      <p:sp>
        <p:nvSpPr>
          <p:cNvPr name="TextBox 10" id="10"/>
          <p:cNvSpPr txBox="true"/>
          <p:nvPr/>
        </p:nvSpPr>
        <p:spPr>
          <a:xfrm rot="0">
            <a:off x="6198935" y="1906905"/>
            <a:ext cx="10631740" cy="1598295"/>
          </a:xfrm>
          <a:prstGeom prst="rect">
            <a:avLst/>
          </a:prstGeom>
        </p:spPr>
        <p:txBody>
          <a:bodyPr anchor="t" rtlCol="false" tIns="0" lIns="0" bIns="0" rIns="0">
            <a:spAutoFit/>
          </a:bodyPr>
          <a:lstStyle/>
          <a:p>
            <a:pPr algn="l">
              <a:lnSpc>
                <a:spcPts val="3120"/>
              </a:lnSpc>
              <a:spcBef>
                <a:spcPct val="0"/>
              </a:spcBef>
            </a:pPr>
            <a:r>
              <a:rPr lang="en-US" sz="2400">
                <a:solidFill>
                  <a:srgbClr val="000000"/>
                </a:solidFill>
                <a:latin typeface="Codec Pro"/>
                <a:ea typeface="Codec Pro"/>
                <a:cs typeface="Codec Pro"/>
                <a:sym typeface="Codec Pro"/>
              </a:rPr>
              <a:t>Nội d</a:t>
            </a:r>
            <a:r>
              <a:rPr lang="en-US" sz="2400">
                <a:solidFill>
                  <a:srgbClr val="000000"/>
                </a:solidFill>
                <a:latin typeface="Codec Pro"/>
                <a:ea typeface="Codec Pro"/>
                <a:cs typeface="Codec Pro"/>
                <a:sym typeface="Codec Pro"/>
              </a:rPr>
              <a:t>ung chính:</a:t>
            </a:r>
          </a:p>
          <a:p>
            <a:pPr algn="l" marL="518160" indent="-259080" lvl="1">
              <a:lnSpc>
                <a:spcPts val="3120"/>
              </a:lnSpc>
              <a:spcBef>
                <a:spcPct val="0"/>
              </a:spcBef>
              <a:buFont typeface="Arial"/>
              <a:buChar char="•"/>
            </a:pPr>
            <a:r>
              <a:rPr lang="en-US" sz="2400">
                <a:solidFill>
                  <a:srgbClr val="000000"/>
                </a:solidFill>
                <a:latin typeface="Codec Pro"/>
                <a:ea typeface="Codec Pro"/>
                <a:cs typeface="Codec Pro"/>
                <a:sym typeface="Codec Pro"/>
              </a:rPr>
              <a:t>Truy vấn dữ liệu trong một bảng</a:t>
            </a:r>
          </a:p>
          <a:p>
            <a:pPr algn="l" marL="518160" indent="-259080" lvl="1">
              <a:lnSpc>
                <a:spcPts val="3120"/>
              </a:lnSpc>
              <a:spcBef>
                <a:spcPct val="0"/>
              </a:spcBef>
              <a:buFont typeface="Arial"/>
              <a:buChar char="•"/>
            </a:pPr>
            <a:r>
              <a:rPr lang="en-US" sz="2400">
                <a:solidFill>
                  <a:srgbClr val="000000"/>
                </a:solidFill>
                <a:latin typeface="Codec Pro"/>
                <a:ea typeface="Codec Pro"/>
                <a:cs typeface="Codec Pro"/>
                <a:sym typeface="Codec Pro"/>
              </a:rPr>
              <a:t>Không sử dụng JOIN hay GROUP BY</a:t>
            </a:r>
          </a:p>
          <a:p>
            <a:pPr algn="ctr">
              <a:lnSpc>
                <a:spcPts val="3120"/>
              </a:lnSpc>
              <a:spcBef>
                <a:spcPct val="0"/>
              </a:spcBef>
            </a:pPr>
          </a:p>
        </p:txBody>
      </p:sp>
      <p:sp>
        <p:nvSpPr>
          <p:cNvPr name="TextBox 11" id="11"/>
          <p:cNvSpPr txBox="true"/>
          <p:nvPr/>
        </p:nvSpPr>
        <p:spPr>
          <a:xfrm rot="0">
            <a:off x="6198935" y="3179493"/>
            <a:ext cx="7425946" cy="5894070"/>
          </a:xfrm>
          <a:prstGeom prst="rect">
            <a:avLst/>
          </a:prstGeom>
        </p:spPr>
        <p:txBody>
          <a:bodyPr anchor="t" rtlCol="false" tIns="0" lIns="0" bIns="0" rIns="0">
            <a:spAutoFit/>
          </a:bodyPr>
          <a:lstStyle/>
          <a:p>
            <a:pPr algn="l">
              <a:lnSpc>
                <a:spcPts val="3120"/>
              </a:lnSpc>
            </a:pPr>
            <a:r>
              <a:rPr lang="en-US" sz="2400">
                <a:solidFill>
                  <a:srgbClr val="000000"/>
                </a:solidFill>
                <a:latin typeface="Codec Pro"/>
                <a:ea typeface="Codec Pro"/>
                <a:cs typeface="Codec Pro"/>
                <a:sym typeface="Codec Pro"/>
              </a:rPr>
              <a:t>Kỹ thuật SQL áp dụng:</a:t>
            </a:r>
          </a:p>
          <a:p>
            <a:pPr algn="l" marL="518160" indent="-259080" lvl="1">
              <a:lnSpc>
                <a:spcPts val="3120"/>
              </a:lnSpc>
              <a:buFont typeface="Arial"/>
              <a:buChar char="•"/>
            </a:pPr>
            <a:r>
              <a:rPr lang="en-US" sz="2400">
                <a:solidFill>
                  <a:srgbClr val="000000"/>
                </a:solidFill>
                <a:latin typeface="Codec Pro"/>
                <a:ea typeface="Codec Pro"/>
                <a:cs typeface="Codec Pro"/>
                <a:sym typeface="Codec Pro"/>
              </a:rPr>
              <a:t>SELECT</a:t>
            </a:r>
          </a:p>
          <a:p>
            <a:pPr algn="l" marL="518160" indent="-259080" lvl="1">
              <a:lnSpc>
                <a:spcPts val="3120"/>
              </a:lnSpc>
              <a:buFont typeface="Arial"/>
              <a:buChar char="•"/>
            </a:pPr>
            <a:r>
              <a:rPr lang="en-US" sz="2400">
                <a:solidFill>
                  <a:srgbClr val="000000"/>
                </a:solidFill>
                <a:latin typeface="Codec Pro"/>
                <a:ea typeface="Codec Pro"/>
                <a:cs typeface="Codec Pro"/>
                <a:sym typeface="Codec Pro"/>
              </a:rPr>
              <a:t>WHERE</a:t>
            </a:r>
          </a:p>
          <a:p>
            <a:pPr algn="l" marL="518160" indent="-259080" lvl="1">
              <a:lnSpc>
                <a:spcPts val="3120"/>
              </a:lnSpc>
              <a:spcBef>
                <a:spcPct val="0"/>
              </a:spcBef>
              <a:buFont typeface="Arial"/>
              <a:buChar char="•"/>
            </a:pPr>
            <a:r>
              <a:rPr lang="en-US" sz="2400">
                <a:solidFill>
                  <a:srgbClr val="000000"/>
                </a:solidFill>
                <a:latin typeface="Codec Pro"/>
                <a:ea typeface="Codec Pro"/>
                <a:cs typeface="Codec Pro"/>
                <a:sym typeface="Codec Pro"/>
              </a:rPr>
              <a:t>ORDER B</a:t>
            </a:r>
            <a:r>
              <a:rPr lang="en-US" sz="2400">
                <a:solidFill>
                  <a:srgbClr val="000000"/>
                </a:solidFill>
                <a:latin typeface="Codec Pro"/>
                <a:ea typeface="Codec Pro"/>
                <a:cs typeface="Codec Pro"/>
                <a:sym typeface="Codec Pro"/>
              </a:rPr>
              <a:t>Y</a:t>
            </a:r>
          </a:p>
          <a:p>
            <a:pPr algn="l" marL="518160" indent="-259080" lvl="1">
              <a:lnSpc>
                <a:spcPts val="3120"/>
              </a:lnSpc>
              <a:spcBef>
                <a:spcPct val="0"/>
              </a:spcBef>
              <a:buFont typeface="Arial"/>
              <a:buChar char="•"/>
            </a:pPr>
            <a:r>
              <a:rPr lang="en-US" sz="2400">
                <a:solidFill>
                  <a:srgbClr val="000000"/>
                </a:solidFill>
                <a:latin typeface="Codec Pro"/>
                <a:ea typeface="Codec Pro"/>
                <a:cs typeface="Codec Pro"/>
                <a:sym typeface="Codec Pro"/>
              </a:rPr>
              <a:t>LIMIT, OFFSET</a:t>
            </a:r>
          </a:p>
          <a:p>
            <a:pPr algn="l">
              <a:lnSpc>
                <a:spcPts val="3120"/>
              </a:lnSpc>
              <a:spcBef>
                <a:spcPct val="0"/>
              </a:spcBef>
            </a:pPr>
            <a:r>
              <a:rPr lang="en-US" sz="2400">
                <a:solidFill>
                  <a:srgbClr val="000000"/>
                </a:solidFill>
                <a:latin typeface="Codec Pro"/>
                <a:ea typeface="Codec Pro"/>
                <a:cs typeface="Codec Pro"/>
                <a:sym typeface="Codec Pro"/>
              </a:rPr>
              <a:t>Các yêu cầu tiêu biểu:</a:t>
            </a:r>
          </a:p>
          <a:p>
            <a:pPr algn="l" marL="518160" indent="-259080" lvl="1">
              <a:lnSpc>
                <a:spcPts val="3120"/>
              </a:lnSpc>
              <a:spcBef>
                <a:spcPct val="0"/>
              </a:spcBef>
              <a:buFont typeface="Arial"/>
              <a:buChar char="•"/>
            </a:pPr>
            <a:r>
              <a:rPr lang="en-US" sz="2400">
                <a:solidFill>
                  <a:srgbClr val="000000"/>
                </a:solidFill>
                <a:latin typeface="Codec Pro"/>
                <a:ea typeface="Codec Pro"/>
                <a:cs typeface="Codec Pro"/>
                <a:sym typeface="Codec Pro"/>
              </a:rPr>
              <a:t>Lấy danh sách danh mục sản phẩm</a:t>
            </a:r>
          </a:p>
          <a:p>
            <a:pPr algn="l" marL="518160" indent="-259080" lvl="1">
              <a:lnSpc>
                <a:spcPts val="3120"/>
              </a:lnSpc>
              <a:spcBef>
                <a:spcPct val="0"/>
              </a:spcBef>
              <a:buFont typeface="Arial"/>
              <a:buChar char="•"/>
            </a:pPr>
            <a:r>
              <a:rPr lang="en-US" sz="2400">
                <a:solidFill>
                  <a:srgbClr val="000000"/>
                </a:solidFill>
                <a:latin typeface="Codec Pro"/>
                <a:ea typeface="Codec Pro"/>
                <a:cs typeface="Codec Pro"/>
                <a:sym typeface="Codec Pro"/>
              </a:rPr>
              <a:t>Lọc đơn hàng theo trạng thái Completed</a:t>
            </a:r>
          </a:p>
          <a:p>
            <a:pPr algn="l" marL="518160" indent="-259080" lvl="1">
              <a:lnSpc>
                <a:spcPts val="3120"/>
              </a:lnSpc>
              <a:spcBef>
                <a:spcPct val="0"/>
              </a:spcBef>
              <a:buFont typeface="Arial"/>
              <a:buChar char="•"/>
            </a:pPr>
            <a:r>
              <a:rPr lang="en-US" sz="2400">
                <a:solidFill>
                  <a:srgbClr val="000000"/>
                </a:solidFill>
                <a:latin typeface="Codec Pro"/>
                <a:ea typeface="Codec Pro"/>
                <a:cs typeface="Codec Pro"/>
                <a:sym typeface="Codec Pro"/>
              </a:rPr>
              <a:t>Sắp xếp sản phẩm theo giá</a:t>
            </a:r>
          </a:p>
          <a:p>
            <a:pPr algn="l" marL="518160" indent="-259080" lvl="1">
              <a:lnSpc>
                <a:spcPts val="3120"/>
              </a:lnSpc>
              <a:spcBef>
                <a:spcPct val="0"/>
              </a:spcBef>
              <a:buFont typeface="Arial"/>
              <a:buChar char="•"/>
            </a:pPr>
            <a:r>
              <a:rPr lang="en-US" sz="2400">
                <a:solidFill>
                  <a:srgbClr val="000000"/>
                </a:solidFill>
                <a:latin typeface="Codec Pro"/>
                <a:ea typeface="Codec Pro"/>
                <a:cs typeface="Codec Pro"/>
                <a:sym typeface="Codec Pro"/>
              </a:rPr>
              <a:t>Phân trang dữ liệu</a:t>
            </a:r>
          </a:p>
          <a:p>
            <a:pPr algn="l">
              <a:lnSpc>
                <a:spcPts val="3120"/>
              </a:lnSpc>
              <a:spcBef>
                <a:spcPct val="0"/>
              </a:spcBef>
            </a:pPr>
            <a:r>
              <a:rPr lang="en-US" sz="2400">
                <a:solidFill>
                  <a:srgbClr val="000000"/>
                </a:solidFill>
                <a:latin typeface="Codec Pro"/>
                <a:ea typeface="Codec Pro"/>
                <a:cs typeface="Codec Pro"/>
                <a:sym typeface="Codec Pro"/>
              </a:rPr>
              <a:t>Ý nghĩa:</a:t>
            </a:r>
          </a:p>
          <a:p>
            <a:pPr algn="l" marL="518160" indent="-259080" lvl="1">
              <a:lnSpc>
                <a:spcPts val="3120"/>
              </a:lnSpc>
              <a:spcBef>
                <a:spcPct val="0"/>
              </a:spcBef>
              <a:buFont typeface="Arial"/>
              <a:buChar char="•"/>
            </a:pPr>
            <a:r>
              <a:rPr lang="en-US" sz="2400">
                <a:solidFill>
                  <a:srgbClr val="000000"/>
                </a:solidFill>
                <a:latin typeface="Codec Pro"/>
                <a:ea typeface="Codec Pro"/>
                <a:cs typeface="Codec Pro"/>
                <a:sym typeface="Codec Pro"/>
              </a:rPr>
              <a:t>Giúp làm quen cấu trúc câu lệnh SELECT</a:t>
            </a:r>
          </a:p>
          <a:p>
            <a:pPr algn="l" marL="518160" indent="-259080" lvl="1">
              <a:lnSpc>
                <a:spcPts val="3120"/>
              </a:lnSpc>
              <a:spcBef>
                <a:spcPct val="0"/>
              </a:spcBef>
              <a:buFont typeface="Arial"/>
              <a:buChar char="•"/>
            </a:pPr>
            <a:r>
              <a:rPr lang="en-US" sz="2400">
                <a:solidFill>
                  <a:srgbClr val="000000"/>
                </a:solidFill>
                <a:latin typeface="Codec Pro"/>
                <a:ea typeface="Codec Pro"/>
                <a:cs typeface="Codec Pro"/>
                <a:sym typeface="Codec Pro"/>
              </a:rPr>
              <a:t>Rèn kỹ năng lọc, sắp xếp, giới hạn dữ liệu</a:t>
            </a:r>
          </a:p>
          <a:p>
            <a:pPr algn="l" marL="518160" indent="-259080" lvl="1">
              <a:lnSpc>
                <a:spcPts val="3120"/>
              </a:lnSpc>
              <a:spcBef>
                <a:spcPct val="0"/>
              </a:spcBef>
              <a:buFont typeface="Arial"/>
              <a:buChar char="•"/>
            </a:pPr>
            <a:r>
              <a:rPr lang="en-US" sz="2400">
                <a:solidFill>
                  <a:srgbClr val="000000"/>
                </a:solidFill>
                <a:latin typeface="Codec Pro"/>
                <a:ea typeface="Codec Pro"/>
                <a:cs typeface="Codec Pro"/>
                <a:sym typeface="Codec Pro"/>
              </a:rPr>
              <a:t>Là nền tảng cho các truy vấn phức tạp hơn</a:t>
            </a:r>
          </a:p>
          <a:p>
            <a:pPr algn="ctr">
              <a:lnSpc>
                <a:spcPts val="3120"/>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866A4F"/>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FFFFF"/>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EAE2D8"/>
            </a:solidFill>
          </p:spPr>
        </p:sp>
      </p:grpSp>
      <p:sp>
        <p:nvSpPr>
          <p:cNvPr name="TextBox 5" id="5"/>
          <p:cNvSpPr txBox="true"/>
          <p:nvPr/>
        </p:nvSpPr>
        <p:spPr>
          <a:xfrm rot="0">
            <a:off x="1733204" y="3448050"/>
            <a:ext cx="4010025" cy="3333750"/>
          </a:xfrm>
          <a:prstGeom prst="rect">
            <a:avLst/>
          </a:prstGeom>
        </p:spPr>
        <p:txBody>
          <a:bodyPr anchor="t" rtlCol="false" tIns="0" lIns="0" bIns="0" rIns="0">
            <a:spAutoFit/>
          </a:bodyPr>
          <a:lstStyle/>
          <a:p>
            <a:pPr algn="ctr" marL="0" indent="0" lvl="0">
              <a:lnSpc>
                <a:spcPts val="6480"/>
              </a:lnSpc>
            </a:pPr>
            <a:r>
              <a:rPr lang="en-US" b="true" sz="5400" spc="-135">
                <a:solidFill>
                  <a:srgbClr val="6A5642"/>
                </a:solidFill>
                <a:latin typeface="Gatwick Ultra-Bold"/>
                <a:ea typeface="Gatwick Ultra-Bold"/>
                <a:cs typeface="Gatwick Ultra-Bold"/>
                <a:sym typeface="Gatwick Ultra-Bold"/>
              </a:rPr>
              <a:t>Phân tích từng nhóm truy vấn</a:t>
            </a:r>
          </a:p>
        </p:txBody>
      </p:sp>
      <p:grpSp>
        <p:nvGrpSpPr>
          <p:cNvPr name="Group 6" id="6"/>
          <p:cNvGrpSpPr/>
          <p:nvPr/>
        </p:nvGrpSpPr>
        <p:grpSpPr>
          <a:xfrm rot="0">
            <a:off x="5977708" y="895920"/>
            <a:ext cx="10631740" cy="8362380"/>
            <a:chOff x="0" y="0"/>
            <a:chExt cx="2800129" cy="2202438"/>
          </a:xfrm>
        </p:grpSpPr>
        <p:sp>
          <p:nvSpPr>
            <p:cNvPr name="Freeform 7" id="7"/>
            <p:cNvSpPr/>
            <p:nvPr/>
          </p:nvSpPr>
          <p:spPr>
            <a:xfrm flipH="false" flipV="false" rot="0">
              <a:off x="0" y="0"/>
              <a:ext cx="2800129" cy="2202438"/>
            </a:xfrm>
            <a:custGeom>
              <a:avLst/>
              <a:gdLst/>
              <a:ahLst/>
              <a:cxnLst/>
              <a:rect r="r" b="b" t="t" l="l"/>
              <a:pathLst>
                <a:path h="2202438" w="2800129">
                  <a:moveTo>
                    <a:pt x="36409" y="0"/>
                  </a:moveTo>
                  <a:lnTo>
                    <a:pt x="2763720" y="0"/>
                  </a:lnTo>
                  <a:cubicBezTo>
                    <a:pt x="2773376" y="0"/>
                    <a:pt x="2782637" y="3836"/>
                    <a:pt x="2789465" y="10664"/>
                  </a:cubicBezTo>
                  <a:cubicBezTo>
                    <a:pt x="2796293" y="17492"/>
                    <a:pt x="2800129" y="26753"/>
                    <a:pt x="2800129" y="36409"/>
                  </a:cubicBezTo>
                  <a:lnTo>
                    <a:pt x="2800129" y="2166028"/>
                  </a:lnTo>
                  <a:cubicBezTo>
                    <a:pt x="2800129" y="2175685"/>
                    <a:pt x="2796293" y="2184946"/>
                    <a:pt x="2789465" y="2191774"/>
                  </a:cubicBezTo>
                  <a:cubicBezTo>
                    <a:pt x="2782637" y="2198602"/>
                    <a:pt x="2773376" y="2202438"/>
                    <a:pt x="2763720" y="2202438"/>
                  </a:cubicBezTo>
                  <a:lnTo>
                    <a:pt x="36409" y="2202438"/>
                  </a:lnTo>
                  <a:cubicBezTo>
                    <a:pt x="26753" y="2202438"/>
                    <a:pt x="17492" y="2198602"/>
                    <a:pt x="10664" y="2191774"/>
                  </a:cubicBezTo>
                  <a:cubicBezTo>
                    <a:pt x="3836" y="2184946"/>
                    <a:pt x="0" y="2175685"/>
                    <a:pt x="0" y="2166028"/>
                  </a:cubicBezTo>
                  <a:lnTo>
                    <a:pt x="0" y="36409"/>
                  </a:lnTo>
                  <a:cubicBezTo>
                    <a:pt x="0" y="26753"/>
                    <a:pt x="3836" y="17492"/>
                    <a:pt x="10664" y="10664"/>
                  </a:cubicBezTo>
                  <a:cubicBezTo>
                    <a:pt x="17492" y="3836"/>
                    <a:pt x="26753" y="0"/>
                    <a:pt x="36409" y="0"/>
                  </a:cubicBezTo>
                  <a:close/>
                </a:path>
              </a:pathLst>
            </a:custGeom>
            <a:solidFill>
              <a:srgbClr val="000000">
                <a:alpha val="0"/>
              </a:srgbClr>
            </a:solidFill>
            <a:ln w="38100" cap="rnd">
              <a:solidFill>
                <a:srgbClr val="000000"/>
              </a:solidFill>
              <a:prstDash val="solid"/>
              <a:round/>
            </a:ln>
          </p:spPr>
        </p:sp>
        <p:sp>
          <p:nvSpPr>
            <p:cNvPr name="TextBox 8" id="8"/>
            <p:cNvSpPr txBox="true"/>
            <p:nvPr/>
          </p:nvSpPr>
          <p:spPr>
            <a:xfrm>
              <a:off x="0" y="-66675"/>
              <a:ext cx="2800129" cy="2269113"/>
            </a:xfrm>
            <a:prstGeom prst="rect">
              <a:avLst/>
            </a:prstGeom>
          </p:spPr>
          <p:txBody>
            <a:bodyPr anchor="ctr" rtlCol="false" tIns="127000" lIns="127000" bIns="127000" rIns="127000"/>
            <a:lstStyle/>
            <a:p>
              <a:pPr algn="l">
                <a:lnSpc>
                  <a:spcPts val="3120"/>
                </a:lnSpc>
              </a:pPr>
            </a:p>
            <a:p>
              <a:pPr algn="ctr" marL="0" indent="0" lvl="0">
                <a:lnSpc>
                  <a:spcPts val="3120"/>
                </a:lnSpc>
              </a:pPr>
            </a:p>
          </p:txBody>
        </p:sp>
      </p:grpSp>
      <p:sp>
        <p:nvSpPr>
          <p:cNvPr name="TextBox 9" id="9"/>
          <p:cNvSpPr txBox="true"/>
          <p:nvPr/>
        </p:nvSpPr>
        <p:spPr>
          <a:xfrm rot="0">
            <a:off x="6309549" y="810195"/>
            <a:ext cx="12358899" cy="2051729"/>
          </a:xfrm>
          <a:prstGeom prst="rect">
            <a:avLst/>
          </a:prstGeom>
        </p:spPr>
        <p:txBody>
          <a:bodyPr anchor="t" rtlCol="false" tIns="0" lIns="0" bIns="0" rIns="0">
            <a:spAutoFit/>
          </a:bodyPr>
          <a:lstStyle/>
          <a:p>
            <a:pPr algn="l" marL="0" indent="0" lvl="0">
              <a:lnSpc>
                <a:spcPts val="3961"/>
              </a:lnSpc>
            </a:pPr>
          </a:p>
          <a:p>
            <a:pPr algn="l">
              <a:lnSpc>
                <a:spcPts val="3961"/>
              </a:lnSpc>
            </a:pPr>
            <a:r>
              <a:rPr lang="en-US" sz="3047">
                <a:solidFill>
                  <a:srgbClr val="6A5642"/>
                </a:solidFill>
                <a:latin typeface="Codec Pro"/>
                <a:ea typeface="Codec Pro"/>
                <a:cs typeface="Codec Pro"/>
                <a:sym typeface="Codec Pro"/>
              </a:rPr>
              <a:t>PHẦN B – Truy vấn nâng cao (JOIN &amp; Tổng hợp)</a:t>
            </a:r>
          </a:p>
          <a:p>
            <a:pPr algn="ctr">
              <a:lnSpc>
                <a:spcPts val="3961"/>
              </a:lnSpc>
            </a:pPr>
          </a:p>
          <a:p>
            <a:pPr algn="ctr">
              <a:lnSpc>
                <a:spcPts val="3961"/>
              </a:lnSpc>
            </a:pPr>
          </a:p>
        </p:txBody>
      </p:sp>
      <p:sp>
        <p:nvSpPr>
          <p:cNvPr name="TextBox 10" id="10"/>
          <p:cNvSpPr txBox="true"/>
          <p:nvPr/>
        </p:nvSpPr>
        <p:spPr>
          <a:xfrm rot="0">
            <a:off x="6309549" y="1802722"/>
            <a:ext cx="8944585" cy="8005158"/>
          </a:xfrm>
          <a:prstGeom prst="rect">
            <a:avLst/>
          </a:prstGeom>
        </p:spPr>
        <p:txBody>
          <a:bodyPr anchor="t" rtlCol="false" tIns="0" lIns="0" bIns="0" rIns="0">
            <a:spAutoFit/>
          </a:bodyPr>
          <a:lstStyle/>
          <a:p>
            <a:pPr algn="l">
              <a:lnSpc>
                <a:spcPts val="3027"/>
              </a:lnSpc>
            </a:pPr>
            <a:r>
              <a:rPr lang="en-US" sz="2329">
                <a:solidFill>
                  <a:srgbClr val="000000"/>
                </a:solidFill>
                <a:latin typeface="Codec Pro"/>
                <a:ea typeface="Codec Pro"/>
                <a:cs typeface="Codec Pro"/>
                <a:sym typeface="Codec Pro"/>
              </a:rPr>
              <a:t>Nội dung chính:</a:t>
            </a:r>
          </a:p>
          <a:p>
            <a:pPr algn="l" marL="502839" indent="-251420" lvl="1">
              <a:lnSpc>
                <a:spcPts val="3027"/>
              </a:lnSpc>
              <a:buFont typeface="Arial"/>
              <a:buChar char="•"/>
            </a:pPr>
            <a:r>
              <a:rPr lang="en-US" sz="2329">
                <a:solidFill>
                  <a:srgbClr val="000000"/>
                </a:solidFill>
                <a:latin typeface="Codec Pro"/>
                <a:ea typeface="Codec Pro"/>
                <a:cs typeface="Codec Pro"/>
                <a:sym typeface="Codec Pro"/>
              </a:rPr>
              <a:t>Truy vấn nhiều bảng có quan hệ</a:t>
            </a:r>
          </a:p>
          <a:p>
            <a:pPr algn="l" marL="502839" indent="-251420" lvl="1">
              <a:lnSpc>
                <a:spcPts val="3027"/>
              </a:lnSpc>
              <a:buFont typeface="Arial"/>
              <a:buChar char="•"/>
            </a:pPr>
            <a:r>
              <a:rPr lang="en-US" sz="2329">
                <a:solidFill>
                  <a:srgbClr val="000000"/>
                </a:solidFill>
                <a:latin typeface="Codec Pro"/>
                <a:ea typeface="Codec Pro"/>
                <a:cs typeface="Codec Pro"/>
                <a:sym typeface="Codec Pro"/>
              </a:rPr>
              <a:t>Thống kê và tổng hợp dữ liệu</a:t>
            </a:r>
          </a:p>
          <a:p>
            <a:pPr algn="l">
              <a:lnSpc>
                <a:spcPts val="3027"/>
              </a:lnSpc>
            </a:pPr>
            <a:r>
              <a:rPr lang="en-US" sz="2329">
                <a:solidFill>
                  <a:srgbClr val="000000"/>
                </a:solidFill>
                <a:latin typeface="Codec Pro"/>
                <a:ea typeface="Codec Pro"/>
                <a:cs typeface="Codec Pro"/>
                <a:sym typeface="Codec Pro"/>
              </a:rPr>
              <a:t>Kỹ thuật SQL áp dụng:</a:t>
            </a:r>
          </a:p>
          <a:p>
            <a:pPr algn="l" marL="502839" indent="-251420" lvl="1">
              <a:lnSpc>
                <a:spcPts val="3027"/>
              </a:lnSpc>
              <a:buFont typeface="Arial"/>
              <a:buChar char="•"/>
            </a:pPr>
            <a:r>
              <a:rPr lang="en-US" sz="2329">
                <a:solidFill>
                  <a:srgbClr val="000000"/>
                </a:solidFill>
                <a:latin typeface="Codec Pro"/>
                <a:ea typeface="Codec Pro"/>
                <a:cs typeface="Codec Pro"/>
                <a:sym typeface="Codec Pro"/>
              </a:rPr>
              <a:t>INN</a:t>
            </a:r>
            <a:r>
              <a:rPr lang="en-US" sz="2329">
                <a:solidFill>
                  <a:srgbClr val="000000"/>
                </a:solidFill>
                <a:latin typeface="Codec Pro"/>
                <a:ea typeface="Codec Pro"/>
                <a:cs typeface="Codec Pro"/>
                <a:sym typeface="Codec Pro"/>
              </a:rPr>
              <a:t>ER JOIN, LEFT JOIN</a:t>
            </a:r>
          </a:p>
          <a:p>
            <a:pPr algn="l" marL="502839" indent="-251420" lvl="1">
              <a:lnSpc>
                <a:spcPts val="3027"/>
              </a:lnSpc>
              <a:spcBef>
                <a:spcPct val="0"/>
              </a:spcBef>
              <a:buFont typeface="Arial"/>
              <a:buChar char="•"/>
            </a:pPr>
            <a:r>
              <a:rPr lang="en-US" sz="2329">
                <a:solidFill>
                  <a:srgbClr val="000000"/>
                </a:solidFill>
                <a:latin typeface="Codec Pro"/>
                <a:ea typeface="Codec Pro"/>
                <a:cs typeface="Codec Pro"/>
                <a:sym typeface="Codec Pro"/>
              </a:rPr>
              <a:t>G</a:t>
            </a:r>
            <a:r>
              <a:rPr lang="en-US" sz="2329">
                <a:solidFill>
                  <a:srgbClr val="000000"/>
                </a:solidFill>
                <a:latin typeface="Codec Pro"/>
                <a:ea typeface="Codec Pro"/>
                <a:cs typeface="Codec Pro"/>
                <a:sym typeface="Codec Pro"/>
              </a:rPr>
              <a:t>ROUP B</a:t>
            </a:r>
            <a:r>
              <a:rPr lang="en-US" sz="2329">
                <a:solidFill>
                  <a:srgbClr val="000000"/>
                </a:solidFill>
                <a:latin typeface="Codec Pro"/>
                <a:ea typeface="Codec Pro"/>
                <a:cs typeface="Codec Pro"/>
                <a:sym typeface="Codec Pro"/>
              </a:rPr>
              <a:t>Y</a:t>
            </a:r>
          </a:p>
          <a:p>
            <a:pPr algn="l" marL="502839" indent="-251420" lvl="1">
              <a:lnSpc>
                <a:spcPts val="3027"/>
              </a:lnSpc>
              <a:spcBef>
                <a:spcPct val="0"/>
              </a:spcBef>
              <a:buFont typeface="Arial"/>
              <a:buChar char="•"/>
            </a:pPr>
            <a:r>
              <a:rPr lang="en-US" sz="2329">
                <a:solidFill>
                  <a:srgbClr val="000000"/>
                </a:solidFill>
                <a:latin typeface="Codec Pro"/>
                <a:ea typeface="Codec Pro"/>
                <a:cs typeface="Codec Pro"/>
                <a:sym typeface="Codec Pro"/>
              </a:rPr>
              <a:t>HAV</a:t>
            </a:r>
            <a:r>
              <a:rPr lang="en-US" sz="2329">
                <a:solidFill>
                  <a:srgbClr val="000000"/>
                </a:solidFill>
                <a:latin typeface="Codec Pro"/>
                <a:ea typeface="Codec Pro"/>
                <a:cs typeface="Codec Pro"/>
                <a:sym typeface="Codec Pro"/>
              </a:rPr>
              <a:t>ING</a:t>
            </a:r>
          </a:p>
          <a:p>
            <a:pPr algn="l" marL="502839" indent="-251420" lvl="1">
              <a:lnSpc>
                <a:spcPts val="3027"/>
              </a:lnSpc>
              <a:spcBef>
                <a:spcPct val="0"/>
              </a:spcBef>
              <a:buFont typeface="Arial"/>
              <a:buChar char="•"/>
            </a:pPr>
            <a:r>
              <a:rPr lang="en-US" sz="2329">
                <a:solidFill>
                  <a:srgbClr val="000000"/>
                </a:solidFill>
                <a:latin typeface="Codec Pro"/>
                <a:ea typeface="Codec Pro"/>
                <a:cs typeface="Codec Pro"/>
                <a:sym typeface="Codec Pro"/>
              </a:rPr>
              <a:t>Hàm tổng hợp:</a:t>
            </a:r>
          </a:p>
          <a:p>
            <a:pPr algn="l" marL="1005678" indent="-335226" lvl="2">
              <a:lnSpc>
                <a:spcPts val="3027"/>
              </a:lnSpc>
              <a:spcBef>
                <a:spcPct val="0"/>
              </a:spcBef>
              <a:buFont typeface="Arial"/>
              <a:buChar char="⚬"/>
            </a:pPr>
            <a:r>
              <a:rPr lang="en-US" sz="2329">
                <a:solidFill>
                  <a:srgbClr val="000000"/>
                </a:solidFill>
                <a:latin typeface="Codec Pro"/>
                <a:ea typeface="Codec Pro"/>
                <a:cs typeface="Codec Pro"/>
                <a:sym typeface="Codec Pro"/>
              </a:rPr>
              <a:t>COUNT()</a:t>
            </a:r>
          </a:p>
          <a:p>
            <a:pPr algn="l" marL="1005678" indent="-335226" lvl="2">
              <a:lnSpc>
                <a:spcPts val="3027"/>
              </a:lnSpc>
              <a:spcBef>
                <a:spcPct val="0"/>
              </a:spcBef>
              <a:buFont typeface="Arial"/>
              <a:buChar char="⚬"/>
            </a:pPr>
            <a:r>
              <a:rPr lang="en-US" sz="2329">
                <a:solidFill>
                  <a:srgbClr val="000000"/>
                </a:solidFill>
                <a:latin typeface="Codec Pro"/>
                <a:ea typeface="Codec Pro"/>
                <a:cs typeface="Codec Pro"/>
                <a:sym typeface="Codec Pro"/>
              </a:rPr>
              <a:t>SUM()</a:t>
            </a:r>
          </a:p>
          <a:p>
            <a:pPr algn="l" marL="1005678" indent="-335226" lvl="2">
              <a:lnSpc>
                <a:spcPts val="3027"/>
              </a:lnSpc>
              <a:spcBef>
                <a:spcPct val="0"/>
              </a:spcBef>
              <a:buFont typeface="Arial"/>
              <a:buChar char="⚬"/>
            </a:pPr>
            <a:r>
              <a:rPr lang="en-US" sz="2329">
                <a:solidFill>
                  <a:srgbClr val="000000"/>
                </a:solidFill>
                <a:latin typeface="Codec Pro"/>
                <a:ea typeface="Codec Pro"/>
                <a:cs typeface="Codec Pro"/>
                <a:sym typeface="Codec Pro"/>
              </a:rPr>
              <a:t>AVG()</a:t>
            </a:r>
          </a:p>
          <a:p>
            <a:pPr algn="l" marL="1005678" indent="-335226" lvl="2">
              <a:lnSpc>
                <a:spcPts val="3027"/>
              </a:lnSpc>
              <a:spcBef>
                <a:spcPct val="0"/>
              </a:spcBef>
              <a:buFont typeface="Arial"/>
              <a:buChar char="⚬"/>
            </a:pPr>
            <a:r>
              <a:rPr lang="en-US" sz="2329">
                <a:solidFill>
                  <a:srgbClr val="000000"/>
                </a:solidFill>
                <a:latin typeface="Codec Pro"/>
                <a:ea typeface="Codec Pro"/>
                <a:cs typeface="Codec Pro"/>
                <a:sym typeface="Codec Pro"/>
              </a:rPr>
              <a:t>MIN(), MAX()</a:t>
            </a:r>
          </a:p>
          <a:p>
            <a:pPr algn="l">
              <a:lnSpc>
                <a:spcPts val="3027"/>
              </a:lnSpc>
              <a:spcBef>
                <a:spcPct val="0"/>
              </a:spcBef>
            </a:pPr>
            <a:r>
              <a:rPr lang="en-US" sz="2329">
                <a:solidFill>
                  <a:srgbClr val="000000"/>
                </a:solidFill>
                <a:latin typeface="Codec Pro"/>
                <a:ea typeface="Codec Pro"/>
                <a:cs typeface="Codec Pro"/>
                <a:sym typeface="Codec Pro"/>
              </a:rPr>
              <a:t>Các yêu cầu tiêu biểu:</a:t>
            </a:r>
          </a:p>
          <a:p>
            <a:pPr algn="l" marL="502839" indent="-251420" lvl="1">
              <a:lnSpc>
                <a:spcPts val="3027"/>
              </a:lnSpc>
              <a:spcBef>
                <a:spcPct val="0"/>
              </a:spcBef>
              <a:buFont typeface="Arial"/>
              <a:buChar char="•"/>
            </a:pPr>
            <a:r>
              <a:rPr lang="en-US" sz="2329">
                <a:solidFill>
                  <a:srgbClr val="000000"/>
                </a:solidFill>
                <a:latin typeface="Codec Pro"/>
                <a:ea typeface="Codec Pro"/>
                <a:cs typeface="Codec Pro"/>
                <a:sym typeface="Codec Pro"/>
              </a:rPr>
              <a:t>Lấy sản phẩm kèm tên danh mục</a:t>
            </a:r>
          </a:p>
          <a:p>
            <a:pPr algn="l" marL="502839" indent="-251420" lvl="1">
              <a:lnSpc>
                <a:spcPts val="3027"/>
              </a:lnSpc>
              <a:spcBef>
                <a:spcPct val="0"/>
              </a:spcBef>
              <a:buFont typeface="Arial"/>
              <a:buChar char="•"/>
            </a:pPr>
            <a:r>
              <a:rPr lang="en-US" sz="2329">
                <a:solidFill>
                  <a:srgbClr val="000000"/>
                </a:solidFill>
                <a:latin typeface="Codec Pro"/>
                <a:ea typeface="Codec Pro"/>
                <a:cs typeface="Codec Pro"/>
                <a:sym typeface="Codec Pro"/>
              </a:rPr>
              <a:t>Hiển thị đơn hàng cùng tên khách hàng</a:t>
            </a:r>
          </a:p>
          <a:p>
            <a:pPr algn="l" marL="502839" indent="-251420" lvl="1">
              <a:lnSpc>
                <a:spcPts val="3027"/>
              </a:lnSpc>
              <a:spcBef>
                <a:spcPct val="0"/>
              </a:spcBef>
              <a:buFont typeface="Arial"/>
              <a:buChar char="•"/>
            </a:pPr>
            <a:r>
              <a:rPr lang="en-US" sz="2329">
                <a:solidFill>
                  <a:srgbClr val="000000"/>
                </a:solidFill>
                <a:latin typeface="Codec Pro"/>
                <a:ea typeface="Codec Pro"/>
                <a:cs typeface="Codec Pro"/>
                <a:sym typeface="Codec Pro"/>
              </a:rPr>
              <a:t>Tính tổng số lượng sản phẩm trong mỗi đơn hàng</a:t>
            </a:r>
          </a:p>
          <a:p>
            <a:pPr algn="l" marL="502839" indent="-251420" lvl="1">
              <a:lnSpc>
                <a:spcPts val="3027"/>
              </a:lnSpc>
              <a:spcBef>
                <a:spcPct val="0"/>
              </a:spcBef>
              <a:buFont typeface="Arial"/>
              <a:buChar char="•"/>
            </a:pPr>
            <a:r>
              <a:rPr lang="en-US" sz="2329">
                <a:solidFill>
                  <a:srgbClr val="000000"/>
                </a:solidFill>
                <a:latin typeface="Codec Pro"/>
                <a:ea typeface="Codec Pro"/>
                <a:cs typeface="Codec Pro"/>
                <a:sym typeface="Codec Pro"/>
              </a:rPr>
              <a:t>Thống kê số đơn hàng của từng khách hàng</a:t>
            </a:r>
          </a:p>
          <a:p>
            <a:pPr algn="l" marL="502839" indent="-251420" lvl="1">
              <a:lnSpc>
                <a:spcPts val="3027"/>
              </a:lnSpc>
              <a:spcBef>
                <a:spcPct val="0"/>
              </a:spcBef>
              <a:buFont typeface="Arial"/>
              <a:buChar char="•"/>
            </a:pPr>
            <a:r>
              <a:rPr lang="en-US" sz="2329">
                <a:solidFill>
                  <a:srgbClr val="000000"/>
                </a:solidFill>
                <a:latin typeface="Codec Pro"/>
                <a:ea typeface="Codec Pro"/>
                <a:cs typeface="Codec Pro"/>
                <a:sym typeface="Codec Pro"/>
              </a:rPr>
              <a:t>Lọc k</a:t>
            </a:r>
            <a:r>
              <a:rPr lang="en-US" sz="2329">
                <a:solidFill>
                  <a:srgbClr val="000000"/>
                </a:solidFill>
                <a:latin typeface="Codec Pro"/>
                <a:ea typeface="Codec Pro"/>
                <a:cs typeface="Codec Pro"/>
                <a:sym typeface="Codec Pro"/>
              </a:rPr>
              <a:t>hách hàng có từ 2 đơn hàng trở lên</a:t>
            </a:r>
          </a:p>
          <a:p>
            <a:pPr algn="l" marL="502839" indent="-251420" lvl="1">
              <a:lnSpc>
                <a:spcPts val="3027"/>
              </a:lnSpc>
              <a:spcBef>
                <a:spcPct val="0"/>
              </a:spcBef>
              <a:buFont typeface="Arial"/>
              <a:buChar char="•"/>
            </a:pPr>
            <a:r>
              <a:rPr lang="en-US" sz="2329">
                <a:solidFill>
                  <a:srgbClr val="000000"/>
                </a:solidFill>
                <a:latin typeface="Codec Pro"/>
                <a:ea typeface="Codec Pro"/>
                <a:cs typeface="Codec Pro"/>
                <a:sym typeface="Codec Pro"/>
              </a:rPr>
              <a:t>Thống kê giá theo danh mục</a:t>
            </a:r>
          </a:p>
          <a:p>
            <a:pPr algn="l">
              <a:lnSpc>
                <a:spcPts val="3027"/>
              </a:lnSpc>
              <a:spcBef>
                <a:spcPct val="0"/>
              </a:spcBef>
            </a:pPr>
          </a:p>
          <a:p>
            <a:pPr algn="ctr">
              <a:lnSpc>
                <a:spcPts val="3027"/>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866A4F"/>
        </a:solidFill>
      </p:bgPr>
    </p:bg>
    <p:spTree>
      <p:nvGrpSpPr>
        <p:cNvPr id="1" name=""/>
        <p:cNvGrpSpPr/>
        <p:nvPr/>
      </p:nvGrpSpPr>
      <p:grpSpPr>
        <a:xfrm>
          <a:off x="0" y="0"/>
          <a:ext cx="0" cy="0"/>
          <a:chOff x="0" y="0"/>
          <a:chExt cx="0" cy="0"/>
        </a:xfrm>
      </p:grpSpPr>
      <p:grpSp>
        <p:nvGrpSpPr>
          <p:cNvPr name="Group 2" id="2"/>
          <p:cNvGrpSpPr/>
          <p:nvPr/>
        </p:nvGrpSpPr>
        <p:grpSpPr>
          <a:xfrm rot="0">
            <a:off x="6286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FFFFF"/>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EAE2D8"/>
            </a:solidFill>
          </p:spPr>
        </p:sp>
      </p:grpSp>
      <p:sp>
        <p:nvSpPr>
          <p:cNvPr name="TextBox 5" id="5"/>
          <p:cNvSpPr txBox="true"/>
          <p:nvPr/>
        </p:nvSpPr>
        <p:spPr>
          <a:xfrm rot="0">
            <a:off x="1733204" y="3448050"/>
            <a:ext cx="4010025" cy="3333750"/>
          </a:xfrm>
          <a:prstGeom prst="rect">
            <a:avLst/>
          </a:prstGeom>
        </p:spPr>
        <p:txBody>
          <a:bodyPr anchor="t" rtlCol="false" tIns="0" lIns="0" bIns="0" rIns="0">
            <a:spAutoFit/>
          </a:bodyPr>
          <a:lstStyle/>
          <a:p>
            <a:pPr algn="ctr" marL="0" indent="0" lvl="0">
              <a:lnSpc>
                <a:spcPts val="6480"/>
              </a:lnSpc>
            </a:pPr>
            <a:r>
              <a:rPr lang="en-US" b="true" sz="5400" spc="-135">
                <a:solidFill>
                  <a:srgbClr val="6A5642"/>
                </a:solidFill>
                <a:latin typeface="Gatwick Ultra-Bold"/>
                <a:ea typeface="Gatwick Ultra-Bold"/>
                <a:cs typeface="Gatwick Ultra-Bold"/>
                <a:sym typeface="Gatwick Ultra-Bold"/>
              </a:rPr>
              <a:t>Phân tích từng nhóm truy vấn</a:t>
            </a:r>
          </a:p>
        </p:txBody>
      </p:sp>
      <p:grpSp>
        <p:nvGrpSpPr>
          <p:cNvPr name="Group 6" id="6"/>
          <p:cNvGrpSpPr/>
          <p:nvPr/>
        </p:nvGrpSpPr>
        <p:grpSpPr>
          <a:xfrm rot="0">
            <a:off x="5977708" y="895920"/>
            <a:ext cx="10631740" cy="8362380"/>
            <a:chOff x="0" y="0"/>
            <a:chExt cx="2800129" cy="2202438"/>
          </a:xfrm>
        </p:grpSpPr>
        <p:sp>
          <p:nvSpPr>
            <p:cNvPr name="Freeform 7" id="7"/>
            <p:cNvSpPr/>
            <p:nvPr/>
          </p:nvSpPr>
          <p:spPr>
            <a:xfrm flipH="false" flipV="false" rot="0">
              <a:off x="0" y="0"/>
              <a:ext cx="2800129" cy="2202438"/>
            </a:xfrm>
            <a:custGeom>
              <a:avLst/>
              <a:gdLst/>
              <a:ahLst/>
              <a:cxnLst/>
              <a:rect r="r" b="b" t="t" l="l"/>
              <a:pathLst>
                <a:path h="2202438" w="2800129">
                  <a:moveTo>
                    <a:pt x="36409" y="0"/>
                  </a:moveTo>
                  <a:lnTo>
                    <a:pt x="2763720" y="0"/>
                  </a:lnTo>
                  <a:cubicBezTo>
                    <a:pt x="2773376" y="0"/>
                    <a:pt x="2782637" y="3836"/>
                    <a:pt x="2789465" y="10664"/>
                  </a:cubicBezTo>
                  <a:cubicBezTo>
                    <a:pt x="2796293" y="17492"/>
                    <a:pt x="2800129" y="26753"/>
                    <a:pt x="2800129" y="36409"/>
                  </a:cubicBezTo>
                  <a:lnTo>
                    <a:pt x="2800129" y="2166028"/>
                  </a:lnTo>
                  <a:cubicBezTo>
                    <a:pt x="2800129" y="2175685"/>
                    <a:pt x="2796293" y="2184946"/>
                    <a:pt x="2789465" y="2191774"/>
                  </a:cubicBezTo>
                  <a:cubicBezTo>
                    <a:pt x="2782637" y="2198602"/>
                    <a:pt x="2773376" y="2202438"/>
                    <a:pt x="2763720" y="2202438"/>
                  </a:cubicBezTo>
                  <a:lnTo>
                    <a:pt x="36409" y="2202438"/>
                  </a:lnTo>
                  <a:cubicBezTo>
                    <a:pt x="26753" y="2202438"/>
                    <a:pt x="17492" y="2198602"/>
                    <a:pt x="10664" y="2191774"/>
                  </a:cubicBezTo>
                  <a:cubicBezTo>
                    <a:pt x="3836" y="2184946"/>
                    <a:pt x="0" y="2175685"/>
                    <a:pt x="0" y="2166028"/>
                  </a:cubicBezTo>
                  <a:lnTo>
                    <a:pt x="0" y="36409"/>
                  </a:lnTo>
                  <a:cubicBezTo>
                    <a:pt x="0" y="26753"/>
                    <a:pt x="3836" y="17492"/>
                    <a:pt x="10664" y="10664"/>
                  </a:cubicBezTo>
                  <a:cubicBezTo>
                    <a:pt x="17492" y="3836"/>
                    <a:pt x="26753" y="0"/>
                    <a:pt x="36409" y="0"/>
                  </a:cubicBezTo>
                  <a:close/>
                </a:path>
              </a:pathLst>
            </a:custGeom>
            <a:solidFill>
              <a:srgbClr val="000000">
                <a:alpha val="0"/>
              </a:srgbClr>
            </a:solidFill>
            <a:ln w="38100" cap="rnd">
              <a:solidFill>
                <a:srgbClr val="000000"/>
              </a:solidFill>
              <a:prstDash val="solid"/>
              <a:round/>
            </a:ln>
          </p:spPr>
        </p:sp>
        <p:sp>
          <p:nvSpPr>
            <p:cNvPr name="TextBox 8" id="8"/>
            <p:cNvSpPr txBox="true"/>
            <p:nvPr/>
          </p:nvSpPr>
          <p:spPr>
            <a:xfrm>
              <a:off x="0" y="-66675"/>
              <a:ext cx="2800129" cy="2269113"/>
            </a:xfrm>
            <a:prstGeom prst="rect">
              <a:avLst/>
            </a:prstGeom>
          </p:spPr>
          <p:txBody>
            <a:bodyPr anchor="ctr" rtlCol="false" tIns="127000" lIns="127000" bIns="127000" rIns="127000"/>
            <a:lstStyle/>
            <a:p>
              <a:pPr algn="l">
                <a:lnSpc>
                  <a:spcPts val="3120"/>
                </a:lnSpc>
              </a:pPr>
            </a:p>
            <a:p>
              <a:pPr algn="ctr" marL="0" indent="0" lvl="0">
                <a:lnSpc>
                  <a:spcPts val="3120"/>
                </a:lnSpc>
              </a:pPr>
            </a:p>
          </p:txBody>
        </p:sp>
      </p:grpSp>
      <p:sp>
        <p:nvSpPr>
          <p:cNvPr name="TextBox 9" id="9"/>
          <p:cNvSpPr txBox="true"/>
          <p:nvPr/>
        </p:nvSpPr>
        <p:spPr>
          <a:xfrm rot="0">
            <a:off x="6309549" y="581025"/>
            <a:ext cx="12358899" cy="2051729"/>
          </a:xfrm>
          <a:prstGeom prst="rect">
            <a:avLst/>
          </a:prstGeom>
        </p:spPr>
        <p:txBody>
          <a:bodyPr anchor="t" rtlCol="false" tIns="0" lIns="0" bIns="0" rIns="0">
            <a:spAutoFit/>
          </a:bodyPr>
          <a:lstStyle/>
          <a:p>
            <a:pPr algn="l" marL="0" indent="0" lvl="0">
              <a:lnSpc>
                <a:spcPts val="3961"/>
              </a:lnSpc>
            </a:pPr>
          </a:p>
          <a:p>
            <a:pPr algn="l">
              <a:lnSpc>
                <a:spcPts val="3961"/>
              </a:lnSpc>
            </a:pPr>
            <a:r>
              <a:rPr lang="en-US" sz="3047">
                <a:solidFill>
                  <a:srgbClr val="6A5642"/>
                </a:solidFill>
                <a:latin typeface="Codec Pro"/>
                <a:ea typeface="Codec Pro"/>
                <a:cs typeface="Codec Pro"/>
                <a:sym typeface="Codec Pro"/>
              </a:rPr>
              <a:t>PHẦN C – Truy vấn lồng (Subquery)</a:t>
            </a:r>
          </a:p>
          <a:p>
            <a:pPr algn="ctr">
              <a:lnSpc>
                <a:spcPts val="3961"/>
              </a:lnSpc>
            </a:pPr>
          </a:p>
          <a:p>
            <a:pPr algn="ctr">
              <a:lnSpc>
                <a:spcPts val="3961"/>
              </a:lnSpc>
            </a:pPr>
          </a:p>
        </p:txBody>
      </p:sp>
      <p:sp>
        <p:nvSpPr>
          <p:cNvPr name="TextBox 10" id="10"/>
          <p:cNvSpPr txBox="true"/>
          <p:nvPr/>
        </p:nvSpPr>
        <p:spPr>
          <a:xfrm rot="0">
            <a:off x="6309549" y="1802722"/>
            <a:ext cx="8944585" cy="6868224"/>
          </a:xfrm>
          <a:prstGeom prst="rect">
            <a:avLst/>
          </a:prstGeom>
        </p:spPr>
        <p:txBody>
          <a:bodyPr anchor="t" rtlCol="false" tIns="0" lIns="0" bIns="0" rIns="0">
            <a:spAutoFit/>
          </a:bodyPr>
          <a:lstStyle/>
          <a:p>
            <a:pPr algn="l">
              <a:lnSpc>
                <a:spcPts val="3027"/>
              </a:lnSpc>
            </a:pPr>
            <a:r>
              <a:rPr lang="en-US" sz="2329">
                <a:solidFill>
                  <a:srgbClr val="000000"/>
                </a:solidFill>
                <a:latin typeface="Codec Pro"/>
                <a:ea typeface="Codec Pro"/>
                <a:cs typeface="Codec Pro"/>
                <a:sym typeface="Codec Pro"/>
              </a:rPr>
              <a:t>Nội dung chính:</a:t>
            </a:r>
          </a:p>
          <a:p>
            <a:pPr algn="l" marL="502839" indent="-251420" lvl="1">
              <a:lnSpc>
                <a:spcPts val="3027"/>
              </a:lnSpc>
              <a:buFont typeface="Arial"/>
              <a:buChar char="•"/>
            </a:pPr>
            <a:r>
              <a:rPr lang="en-US" sz="2329">
                <a:solidFill>
                  <a:srgbClr val="000000"/>
                </a:solidFill>
                <a:latin typeface="Codec Pro"/>
                <a:ea typeface="Codec Pro"/>
                <a:cs typeface="Codec Pro"/>
                <a:sym typeface="Codec Pro"/>
              </a:rPr>
              <a:t>Sử dụng kết quả của một t</a:t>
            </a:r>
            <a:r>
              <a:rPr lang="en-US" sz="2329">
                <a:solidFill>
                  <a:srgbClr val="000000"/>
                </a:solidFill>
                <a:latin typeface="Codec Pro"/>
                <a:ea typeface="Codec Pro"/>
                <a:cs typeface="Codec Pro"/>
                <a:sym typeface="Codec Pro"/>
              </a:rPr>
              <a:t>ruy vấn làm điều kiện cho truy vấn khác</a:t>
            </a:r>
          </a:p>
          <a:p>
            <a:pPr algn="l" marL="502839" indent="-251420" lvl="1">
              <a:lnSpc>
                <a:spcPts val="3027"/>
              </a:lnSpc>
              <a:buFont typeface="Arial"/>
              <a:buChar char="•"/>
            </a:pPr>
            <a:r>
              <a:rPr lang="en-US" sz="2329">
                <a:solidFill>
                  <a:srgbClr val="000000"/>
                </a:solidFill>
                <a:latin typeface="Codec Pro"/>
                <a:ea typeface="Codec Pro"/>
                <a:cs typeface="Codec Pro"/>
                <a:sym typeface="Codec Pro"/>
              </a:rPr>
              <a:t>Giải</a:t>
            </a:r>
            <a:r>
              <a:rPr lang="en-US" sz="2329">
                <a:solidFill>
                  <a:srgbClr val="000000"/>
                </a:solidFill>
                <a:latin typeface="Codec Pro"/>
                <a:ea typeface="Codec Pro"/>
                <a:cs typeface="Codec Pro"/>
                <a:sym typeface="Codec Pro"/>
              </a:rPr>
              <a:t> quyết các bài toán phân tích nâng cao</a:t>
            </a:r>
          </a:p>
          <a:p>
            <a:pPr algn="l">
              <a:lnSpc>
                <a:spcPts val="3027"/>
              </a:lnSpc>
            </a:pPr>
            <a:r>
              <a:rPr lang="en-US" sz="2329">
                <a:solidFill>
                  <a:srgbClr val="000000"/>
                </a:solidFill>
                <a:latin typeface="Codec Pro"/>
                <a:ea typeface="Codec Pro"/>
                <a:cs typeface="Codec Pro"/>
                <a:sym typeface="Codec Pro"/>
              </a:rPr>
              <a:t>Kỹ thuật SQL áp dụng:</a:t>
            </a:r>
          </a:p>
          <a:p>
            <a:pPr algn="l" marL="502839" indent="-251420" lvl="1">
              <a:lnSpc>
                <a:spcPts val="3027"/>
              </a:lnSpc>
              <a:buFont typeface="Arial"/>
              <a:buChar char="•"/>
            </a:pPr>
            <a:r>
              <a:rPr lang="en-US" sz="2329">
                <a:solidFill>
                  <a:srgbClr val="000000"/>
                </a:solidFill>
                <a:latin typeface="Codec Pro"/>
                <a:ea typeface="Codec Pro"/>
                <a:cs typeface="Codec Pro"/>
                <a:sym typeface="Codec Pro"/>
              </a:rPr>
              <a:t>Subquery trong WH</a:t>
            </a:r>
            <a:r>
              <a:rPr lang="en-US" sz="2329">
                <a:solidFill>
                  <a:srgbClr val="000000"/>
                </a:solidFill>
                <a:latin typeface="Codec Pro"/>
                <a:ea typeface="Codec Pro"/>
                <a:cs typeface="Codec Pro"/>
                <a:sym typeface="Codec Pro"/>
              </a:rPr>
              <a:t>ERE</a:t>
            </a:r>
          </a:p>
          <a:p>
            <a:pPr algn="l" marL="502839" indent="-251420" lvl="1">
              <a:lnSpc>
                <a:spcPts val="3027"/>
              </a:lnSpc>
              <a:spcBef>
                <a:spcPct val="0"/>
              </a:spcBef>
              <a:buFont typeface="Arial"/>
              <a:buChar char="•"/>
            </a:pPr>
            <a:r>
              <a:rPr lang="en-US" sz="2329">
                <a:solidFill>
                  <a:srgbClr val="000000"/>
                </a:solidFill>
                <a:latin typeface="Codec Pro"/>
                <a:ea typeface="Codec Pro"/>
                <a:cs typeface="Codec Pro"/>
                <a:sym typeface="Codec Pro"/>
              </a:rPr>
              <a:t>Subquery trong FROM (bảng tạm)</a:t>
            </a:r>
          </a:p>
          <a:p>
            <a:pPr algn="l" marL="502839" indent="-251420" lvl="1">
              <a:lnSpc>
                <a:spcPts val="3027"/>
              </a:lnSpc>
              <a:spcBef>
                <a:spcPct val="0"/>
              </a:spcBef>
              <a:buFont typeface="Arial"/>
              <a:buChar char="•"/>
            </a:pPr>
            <a:r>
              <a:rPr lang="en-US" sz="2329">
                <a:solidFill>
                  <a:srgbClr val="000000"/>
                </a:solidFill>
                <a:latin typeface="Codec Pro"/>
                <a:ea typeface="Codec Pro"/>
                <a:cs typeface="Codec Pro"/>
                <a:sym typeface="Codec Pro"/>
              </a:rPr>
              <a:t>Kế</a:t>
            </a:r>
            <a:r>
              <a:rPr lang="en-US" sz="2329">
                <a:solidFill>
                  <a:srgbClr val="000000"/>
                </a:solidFill>
                <a:latin typeface="Codec Pro"/>
                <a:ea typeface="Codec Pro"/>
                <a:cs typeface="Codec Pro"/>
                <a:sym typeface="Codec Pro"/>
              </a:rPr>
              <a:t>t hợp Subquery với JOIN, GROUP BY</a:t>
            </a:r>
          </a:p>
          <a:p>
            <a:pPr algn="l">
              <a:lnSpc>
                <a:spcPts val="3027"/>
              </a:lnSpc>
              <a:spcBef>
                <a:spcPct val="0"/>
              </a:spcBef>
            </a:pPr>
            <a:r>
              <a:rPr lang="en-US" sz="2329">
                <a:solidFill>
                  <a:srgbClr val="000000"/>
                </a:solidFill>
                <a:latin typeface="Codec Pro"/>
                <a:ea typeface="Codec Pro"/>
                <a:cs typeface="Codec Pro"/>
                <a:sym typeface="Codec Pro"/>
              </a:rPr>
              <a:t>Các yêu cầu tiêu biểu:</a:t>
            </a:r>
          </a:p>
          <a:p>
            <a:pPr algn="l" marL="502839" indent="-251420" lvl="1">
              <a:lnSpc>
                <a:spcPts val="3027"/>
              </a:lnSpc>
              <a:spcBef>
                <a:spcPct val="0"/>
              </a:spcBef>
              <a:buFont typeface="Arial"/>
              <a:buChar char="•"/>
            </a:pPr>
            <a:r>
              <a:rPr lang="en-US" sz="2329">
                <a:solidFill>
                  <a:srgbClr val="000000"/>
                </a:solidFill>
                <a:latin typeface="Codec Pro"/>
                <a:ea typeface="Codec Pro"/>
                <a:cs typeface="Codec Pro"/>
                <a:sym typeface="Codec Pro"/>
              </a:rPr>
              <a:t>Tìm</a:t>
            </a:r>
            <a:r>
              <a:rPr lang="en-US" sz="2329">
                <a:solidFill>
                  <a:srgbClr val="000000"/>
                </a:solidFill>
                <a:latin typeface="Codec Pro"/>
                <a:ea typeface="Codec Pro"/>
                <a:cs typeface="Codec Pro"/>
                <a:sym typeface="Codec Pro"/>
              </a:rPr>
              <a:t> sản phẩm có giá cao hơn giá trung bình</a:t>
            </a:r>
          </a:p>
          <a:p>
            <a:pPr algn="l" marL="502839" indent="-251420" lvl="1">
              <a:lnSpc>
                <a:spcPts val="3027"/>
              </a:lnSpc>
              <a:spcBef>
                <a:spcPct val="0"/>
              </a:spcBef>
              <a:buFont typeface="Arial"/>
              <a:buChar char="•"/>
            </a:pPr>
            <a:r>
              <a:rPr lang="en-US" sz="2329">
                <a:solidFill>
                  <a:srgbClr val="000000"/>
                </a:solidFill>
                <a:latin typeface="Codec Pro"/>
                <a:ea typeface="Codec Pro"/>
                <a:cs typeface="Codec Pro"/>
                <a:sym typeface="Codec Pro"/>
              </a:rPr>
              <a:t>Tìm khách hàng đã từng đặt đơn hàng</a:t>
            </a:r>
          </a:p>
          <a:p>
            <a:pPr algn="l" marL="502839" indent="-251420" lvl="1">
              <a:lnSpc>
                <a:spcPts val="3027"/>
              </a:lnSpc>
              <a:spcBef>
                <a:spcPct val="0"/>
              </a:spcBef>
              <a:buFont typeface="Arial"/>
              <a:buChar char="•"/>
            </a:pPr>
            <a:r>
              <a:rPr lang="en-US" sz="2329">
                <a:solidFill>
                  <a:srgbClr val="000000"/>
                </a:solidFill>
                <a:latin typeface="Codec Pro"/>
                <a:ea typeface="Codec Pro"/>
                <a:cs typeface="Codec Pro"/>
                <a:sym typeface="Codec Pro"/>
              </a:rPr>
              <a:t>Tìm đơn hàng có tổng số lượng sản phẩm lớn nhất</a:t>
            </a:r>
          </a:p>
          <a:p>
            <a:pPr algn="l" marL="502839" indent="-251420" lvl="1">
              <a:lnSpc>
                <a:spcPts val="3027"/>
              </a:lnSpc>
              <a:spcBef>
                <a:spcPct val="0"/>
              </a:spcBef>
              <a:buFont typeface="Arial"/>
              <a:buChar char="•"/>
            </a:pPr>
            <a:r>
              <a:rPr lang="en-US" sz="2329">
                <a:solidFill>
                  <a:srgbClr val="000000"/>
                </a:solidFill>
                <a:latin typeface="Codec Pro"/>
                <a:ea typeface="Codec Pro"/>
                <a:cs typeface="Codec Pro"/>
                <a:sym typeface="Codec Pro"/>
              </a:rPr>
              <a:t>Xác định khách hàng mua sản phẩm thuộc danh mục có giá trung bình cao nhất</a:t>
            </a:r>
          </a:p>
          <a:p>
            <a:pPr algn="l" marL="502839" indent="-251420" lvl="1">
              <a:lnSpc>
                <a:spcPts val="3027"/>
              </a:lnSpc>
              <a:spcBef>
                <a:spcPct val="0"/>
              </a:spcBef>
              <a:buFont typeface="Arial"/>
              <a:buChar char="•"/>
            </a:pPr>
            <a:r>
              <a:rPr lang="en-US" sz="2329">
                <a:solidFill>
                  <a:srgbClr val="000000"/>
                </a:solidFill>
                <a:latin typeface="Codec Pro"/>
                <a:ea typeface="Codec Pro"/>
                <a:cs typeface="Codec Pro"/>
                <a:sym typeface="Codec Pro"/>
              </a:rPr>
              <a:t>Thống kê tổng số lượng sản phẩm đã mua của mỗi khách hàng</a:t>
            </a:r>
          </a:p>
          <a:p>
            <a:pPr algn="l" marL="502839" indent="-251420" lvl="1">
              <a:lnSpc>
                <a:spcPts val="3027"/>
              </a:lnSpc>
              <a:spcBef>
                <a:spcPct val="0"/>
              </a:spcBef>
              <a:buFont typeface="Arial"/>
              <a:buChar char="•"/>
            </a:pPr>
            <a:r>
              <a:rPr lang="en-US" sz="2329">
                <a:solidFill>
                  <a:srgbClr val="000000"/>
                </a:solidFill>
                <a:latin typeface="Codec Pro"/>
                <a:ea typeface="Codec Pro"/>
                <a:cs typeface="Codec Pro"/>
                <a:sym typeface="Codec Pro"/>
              </a:rPr>
              <a:t>Tìm sản</a:t>
            </a:r>
            <a:r>
              <a:rPr lang="en-US" sz="2329">
                <a:solidFill>
                  <a:srgbClr val="000000"/>
                </a:solidFill>
                <a:latin typeface="Codec Pro"/>
                <a:ea typeface="Codec Pro"/>
                <a:cs typeface="Codec Pro"/>
                <a:sym typeface="Codec Pro"/>
              </a:rPr>
              <a:t> phẩm có giá cao nhất</a:t>
            </a:r>
          </a:p>
          <a:p>
            <a:pPr algn="ctr">
              <a:lnSpc>
                <a:spcPts val="3027"/>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866A4F"/>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FFFFF"/>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EAE2D8"/>
            </a:solidFill>
          </p:spPr>
        </p:sp>
      </p:grpSp>
      <p:sp>
        <p:nvSpPr>
          <p:cNvPr name="TextBox 5" id="5"/>
          <p:cNvSpPr txBox="true"/>
          <p:nvPr/>
        </p:nvSpPr>
        <p:spPr>
          <a:xfrm rot="0">
            <a:off x="2105025" y="3857625"/>
            <a:ext cx="4010025" cy="2514600"/>
          </a:xfrm>
          <a:prstGeom prst="rect">
            <a:avLst/>
          </a:prstGeom>
        </p:spPr>
        <p:txBody>
          <a:bodyPr anchor="t" rtlCol="false" tIns="0" lIns="0" bIns="0" rIns="0">
            <a:spAutoFit/>
          </a:bodyPr>
          <a:lstStyle/>
          <a:p>
            <a:pPr algn="ctr" marL="0" indent="0" lvl="0">
              <a:lnSpc>
                <a:spcPts val="6480"/>
              </a:lnSpc>
            </a:pPr>
            <a:r>
              <a:rPr lang="en-US" b="true" sz="5400" spc="-135">
                <a:solidFill>
                  <a:srgbClr val="6A5642"/>
                </a:solidFill>
                <a:latin typeface="Gatwick Ultra-Bold"/>
                <a:ea typeface="Gatwick Ultra-Bold"/>
                <a:cs typeface="Gatwick Ultra-Bold"/>
                <a:sym typeface="Gatwick Ultra-Bold"/>
              </a:rPr>
              <a:t>Phạm vi kiến thức SQL</a:t>
            </a:r>
          </a:p>
        </p:txBody>
      </p:sp>
      <p:grpSp>
        <p:nvGrpSpPr>
          <p:cNvPr name="Group 6" id="6"/>
          <p:cNvGrpSpPr/>
          <p:nvPr/>
        </p:nvGrpSpPr>
        <p:grpSpPr>
          <a:xfrm rot="0">
            <a:off x="6909150" y="1562100"/>
            <a:ext cx="9578625" cy="7162800"/>
            <a:chOff x="0" y="0"/>
            <a:chExt cx="2522765" cy="1886499"/>
          </a:xfrm>
        </p:grpSpPr>
        <p:sp>
          <p:nvSpPr>
            <p:cNvPr name="Freeform 7" id="7"/>
            <p:cNvSpPr/>
            <p:nvPr/>
          </p:nvSpPr>
          <p:spPr>
            <a:xfrm flipH="false" flipV="false" rot="0">
              <a:off x="0" y="0"/>
              <a:ext cx="2522765" cy="1886499"/>
            </a:xfrm>
            <a:custGeom>
              <a:avLst/>
              <a:gdLst/>
              <a:ahLst/>
              <a:cxnLst/>
              <a:rect r="r" b="b" t="t" l="l"/>
              <a:pathLst>
                <a:path h="1886499" w="2522765">
                  <a:moveTo>
                    <a:pt x="40412" y="0"/>
                  </a:moveTo>
                  <a:lnTo>
                    <a:pt x="2482353" y="0"/>
                  </a:lnTo>
                  <a:cubicBezTo>
                    <a:pt x="2493071" y="0"/>
                    <a:pt x="2503350" y="4258"/>
                    <a:pt x="2510929" y="11837"/>
                  </a:cubicBezTo>
                  <a:cubicBezTo>
                    <a:pt x="2518508" y="19415"/>
                    <a:pt x="2522765" y="29694"/>
                    <a:pt x="2522765" y="40412"/>
                  </a:cubicBezTo>
                  <a:lnTo>
                    <a:pt x="2522765" y="1846086"/>
                  </a:lnTo>
                  <a:cubicBezTo>
                    <a:pt x="2522765" y="1856804"/>
                    <a:pt x="2518508" y="1867084"/>
                    <a:pt x="2510929" y="1874662"/>
                  </a:cubicBezTo>
                  <a:cubicBezTo>
                    <a:pt x="2503350" y="1882241"/>
                    <a:pt x="2493071" y="1886499"/>
                    <a:pt x="2482353" y="1886499"/>
                  </a:cubicBezTo>
                  <a:lnTo>
                    <a:pt x="40412" y="1886499"/>
                  </a:lnTo>
                  <a:cubicBezTo>
                    <a:pt x="29694" y="1886499"/>
                    <a:pt x="19415" y="1882241"/>
                    <a:pt x="11837" y="1874662"/>
                  </a:cubicBezTo>
                  <a:cubicBezTo>
                    <a:pt x="4258" y="1867084"/>
                    <a:pt x="0" y="1856804"/>
                    <a:pt x="0" y="1846086"/>
                  </a:cubicBezTo>
                  <a:lnTo>
                    <a:pt x="0" y="40412"/>
                  </a:lnTo>
                  <a:cubicBezTo>
                    <a:pt x="0" y="29694"/>
                    <a:pt x="4258" y="19415"/>
                    <a:pt x="11837" y="11837"/>
                  </a:cubicBezTo>
                  <a:cubicBezTo>
                    <a:pt x="19415" y="4258"/>
                    <a:pt x="29694" y="0"/>
                    <a:pt x="40412" y="0"/>
                  </a:cubicBezTo>
                  <a:close/>
                </a:path>
              </a:pathLst>
            </a:custGeom>
            <a:solidFill>
              <a:srgbClr val="000000">
                <a:alpha val="0"/>
              </a:srgbClr>
            </a:solidFill>
            <a:ln w="38100" cap="rnd">
              <a:solidFill>
                <a:srgbClr val="000000"/>
              </a:solidFill>
              <a:prstDash val="solid"/>
              <a:round/>
            </a:ln>
          </p:spPr>
        </p:sp>
        <p:sp>
          <p:nvSpPr>
            <p:cNvPr name="TextBox 8" id="8"/>
            <p:cNvSpPr txBox="true"/>
            <p:nvPr/>
          </p:nvSpPr>
          <p:spPr>
            <a:xfrm>
              <a:off x="0" y="-66675"/>
              <a:ext cx="2522765" cy="1953174"/>
            </a:xfrm>
            <a:prstGeom prst="rect">
              <a:avLst/>
            </a:prstGeom>
          </p:spPr>
          <p:txBody>
            <a:bodyPr anchor="ctr" rtlCol="false" tIns="127000" lIns="127000" bIns="127000" rIns="127000"/>
            <a:lstStyle/>
            <a:p>
              <a:pPr algn="ctr" marL="0" indent="0" lvl="0">
                <a:lnSpc>
                  <a:spcPts val="3120"/>
                </a:lnSpc>
              </a:pPr>
            </a:p>
          </p:txBody>
        </p:sp>
      </p:grpSp>
      <p:sp>
        <p:nvSpPr>
          <p:cNvPr name="TextBox 9" id="9"/>
          <p:cNvSpPr txBox="true"/>
          <p:nvPr/>
        </p:nvSpPr>
        <p:spPr>
          <a:xfrm rot="0">
            <a:off x="7553325" y="3481387"/>
            <a:ext cx="8290275" cy="3160395"/>
          </a:xfrm>
          <a:prstGeom prst="rect">
            <a:avLst/>
          </a:prstGeom>
        </p:spPr>
        <p:txBody>
          <a:bodyPr anchor="t" rtlCol="false" tIns="0" lIns="0" bIns="0" rIns="0">
            <a:spAutoFit/>
          </a:bodyPr>
          <a:lstStyle/>
          <a:p>
            <a:pPr algn="ctr" marL="0" indent="0" lvl="0">
              <a:lnSpc>
                <a:spcPts val="3120"/>
              </a:lnSpc>
            </a:pPr>
            <a:r>
              <a:rPr lang="en-US" sz="2400">
                <a:solidFill>
                  <a:srgbClr val="6A5642"/>
                </a:solidFill>
                <a:latin typeface="Codec Pro"/>
                <a:ea typeface="Codec Pro"/>
                <a:cs typeface="Codec Pro"/>
                <a:sym typeface="Codec Pro"/>
              </a:rPr>
              <a:t>Trong nghiên cứu hệ thống bán hàng trực tuyến, </a:t>
            </a:r>
            <a:r>
              <a:rPr lang="en-US" b="true" sz="2400">
                <a:solidFill>
                  <a:srgbClr val="6A5642"/>
                </a:solidFill>
                <a:latin typeface="Codec Pro Bold"/>
                <a:ea typeface="Codec Pro Bold"/>
                <a:cs typeface="Codec Pro Bold"/>
                <a:sym typeface="Codec Pro Bold"/>
              </a:rPr>
              <a:t>các câu lệnh SQL cơ bản</a:t>
            </a:r>
            <a:r>
              <a:rPr lang="en-US" sz="2400">
                <a:solidFill>
                  <a:srgbClr val="6A5642"/>
                </a:solidFill>
                <a:latin typeface="Codec Pro"/>
                <a:ea typeface="Codec Pro"/>
                <a:cs typeface="Codec Pro"/>
                <a:sym typeface="Codec Pro"/>
              </a:rPr>
              <a:t> mà sinh viên cần nắm vững bao gồm SELECT, WHERE, ORDER BY, và JOIN. Cùng với đó, cần hiểu rõ các khái niệm như GROUP BY và các hàm tổng hợp như SUM, AVG, và COUNT. Những kiến thức này sẽ giúp sinh viên viết truy vấn hiệu quả, phục vụ cho mục đích phân tích và quản lý cơ sở dữ liệu trong thế giới thực.</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866A4F"/>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FFFFFF"/>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EAE2D8"/>
            </a:solidFill>
          </p:spPr>
        </p:sp>
      </p:grpSp>
      <p:grpSp>
        <p:nvGrpSpPr>
          <p:cNvPr name="Group 5" id="5"/>
          <p:cNvGrpSpPr/>
          <p:nvPr/>
        </p:nvGrpSpPr>
        <p:grpSpPr>
          <a:xfrm rot="0">
            <a:off x="1800225" y="3764449"/>
            <a:ext cx="4717524" cy="4960451"/>
            <a:chOff x="0" y="0"/>
            <a:chExt cx="1242476" cy="1306456"/>
          </a:xfrm>
        </p:grpSpPr>
        <p:sp>
          <p:nvSpPr>
            <p:cNvPr name="Freeform 6" id="6"/>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7" id="7"/>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grpSp>
        <p:nvGrpSpPr>
          <p:cNvPr name="Group 8" id="8"/>
          <p:cNvGrpSpPr/>
          <p:nvPr/>
        </p:nvGrpSpPr>
        <p:grpSpPr>
          <a:xfrm rot="0">
            <a:off x="6785238" y="3764449"/>
            <a:ext cx="4717524" cy="4960451"/>
            <a:chOff x="0" y="0"/>
            <a:chExt cx="1242476" cy="1306456"/>
          </a:xfrm>
        </p:grpSpPr>
        <p:sp>
          <p:nvSpPr>
            <p:cNvPr name="Freeform 9" id="9"/>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10" id="10"/>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grpSp>
        <p:nvGrpSpPr>
          <p:cNvPr name="Group 11" id="11"/>
          <p:cNvGrpSpPr/>
          <p:nvPr/>
        </p:nvGrpSpPr>
        <p:grpSpPr>
          <a:xfrm rot="0">
            <a:off x="11770251" y="3764449"/>
            <a:ext cx="4717524" cy="4960451"/>
            <a:chOff x="0" y="0"/>
            <a:chExt cx="1242476" cy="1306456"/>
          </a:xfrm>
        </p:grpSpPr>
        <p:sp>
          <p:nvSpPr>
            <p:cNvPr name="Freeform 12" id="12"/>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13" id="13"/>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sp>
        <p:nvSpPr>
          <p:cNvPr name="TextBox 14" id="14"/>
          <p:cNvSpPr txBox="true"/>
          <p:nvPr/>
        </p:nvSpPr>
        <p:spPr>
          <a:xfrm rot="0">
            <a:off x="2105025" y="1504950"/>
            <a:ext cx="14077950" cy="1695450"/>
          </a:xfrm>
          <a:prstGeom prst="rect">
            <a:avLst/>
          </a:prstGeom>
        </p:spPr>
        <p:txBody>
          <a:bodyPr anchor="t" rtlCol="false" tIns="0" lIns="0" bIns="0" rIns="0">
            <a:spAutoFit/>
          </a:bodyPr>
          <a:lstStyle/>
          <a:p>
            <a:pPr algn="ctr" marL="0" indent="0" lvl="0">
              <a:lnSpc>
                <a:spcPts val="6480"/>
              </a:lnSpc>
            </a:pPr>
            <a:r>
              <a:rPr lang="en-US" b="true" sz="5400" spc="-135">
                <a:solidFill>
                  <a:srgbClr val="6A5642"/>
                </a:solidFill>
                <a:latin typeface="Gatwick Ultra-Bold"/>
                <a:ea typeface="Gatwick Ultra-Bold"/>
                <a:cs typeface="Gatwick Ultra-Bold"/>
                <a:sym typeface="Gatwick Ultra-Bold"/>
              </a:rPr>
              <a:t>Các câu lệnh và khái niệm SQL cần biết</a:t>
            </a:r>
          </a:p>
        </p:txBody>
      </p:sp>
      <p:grpSp>
        <p:nvGrpSpPr>
          <p:cNvPr name="Group 15" id="15"/>
          <p:cNvGrpSpPr/>
          <p:nvPr/>
        </p:nvGrpSpPr>
        <p:grpSpPr>
          <a:xfrm rot="0">
            <a:off x="2178450" y="4248150"/>
            <a:ext cx="3961075" cy="2367888"/>
            <a:chOff x="0" y="0"/>
            <a:chExt cx="5281434" cy="3157184"/>
          </a:xfrm>
        </p:grpSpPr>
        <p:sp>
          <p:nvSpPr>
            <p:cNvPr name="TextBox 16" id="16"/>
            <p:cNvSpPr txBox="true"/>
            <p:nvPr/>
          </p:nvSpPr>
          <p:spPr>
            <a:xfrm rot="0">
              <a:off x="0" y="527649"/>
              <a:ext cx="5281434" cy="2629535"/>
            </a:xfrm>
            <a:prstGeom prst="rect">
              <a:avLst/>
            </a:prstGeom>
          </p:spPr>
          <p:txBody>
            <a:bodyPr anchor="t" rtlCol="false" tIns="0" lIns="0" bIns="0" rIns="0">
              <a:spAutoFit/>
            </a:bodyPr>
            <a:lstStyle/>
            <a:p>
              <a:pPr algn="ctr" marL="0" indent="0" lvl="0">
                <a:lnSpc>
                  <a:spcPts val="3120"/>
                </a:lnSpc>
              </a:pPr>
              <a:r>
                <a:rPr lang="en-US" sz="2400">
                  <a:solidFill>
                    <a:srgbClr val="6A5642"/>
                  </a:solidFill>
                  <a:latin typeface="Codec Pro"/>
                  <a:ea typeface="Codec Pro"/>
                  <a:cs typeface="Codec Pro"/>
                  <a:sym typeface="Codec Pro"/>
                </a:rPr>
                <a:t>Lệnh SELECT cho phép bạn truy vấn dữ liệu từ bảng, lấy thông tin cụ thể về khách hàng, sản phẩm và đơn hàng.</a:t>
              </a:r>
            </a:p>
          </p:txBody>
        </p:sp>
        <p:sp>
          <p:nvSpPr>
            <p:cNvPr name="TextBox 17" id="17"/>
            <p:cNvSpPr txBox="true"/>
            <p:nvPr/>
          </p:nvSpPr>
          <p:spPr>
            <a:xfrm rot="0">
              <a:off x="0" y="-66675"/>
              <a:ext cx="5281434" cy="559435"/>
            </a:xfrm>
            <a:prstGeom prst="rect">
              <a:avLst/>
            </a:prstGeom>
          </p:spPr>
          <p:txBody>
            <a:bodyPr anchor="t" rtlCol="false" tIns="0" lIns="0" bIns="0" rIns="0">
              <a:spAutoFit/>
            </a:bodyPr>
            <a:lstStyle/>
            <a:p>
              <a:pPr algn="ctr" marL="0" indent="0" lvl="0">
                <a:lnSpc>
                  <a:spcPts val="3120"/>
                </a:lnSpc>
              </a:pPr>
              <a:r>
                <a:rPr lang="en-US" b="true" sz="2400">
                  <a:solidFill>
                    <a:srgbClr val="6A5642"/>
                  </a:solidFill>
                  <a:latin typeface="Codec Pro Ultra-Bold"/>
                  <a:ea typeface="Codec Pro Ultra-Bold"/>
                  <a:cs typeface="Codec Pro Ultra-Bold"/>
                  <a:sym typeface="Codec Pro Ultra-Bold"/>
                </a:rPr>
                <a:t>Lệnh SELECT cơ bản</a:t>
              </a:r>
            </a:p>
          </p:txBody>
        </p:sp>
      </p:grpSp>
      <p:grpSp>
        <p:nvGrpSpPr>
          <p:cNvPr name="Group 18" id="18"/>
          <p:cNvGrpSpPr/>
          <p:nvPr/>
        </p:nvGrpSpPr>
        <p:grpSpPr>
          <a:xfrm rot="0">
            <a:off x="7163462" y="4248150"/>
            <a:ext cx="3961075" cy="2367915"/>
            <a:chOff x="0" y="0"/>
            <a:chExt cx="5281434" cy="3157220"/>
          </a:xfrm>
        </p:grpSpPr>
        <p:sp>
          <p:nvSpPr>
            <p:cNvPr name="TextBox 19" id="19"/>
            <p:cNvSpPr txBox="true"/>
            <p:nvPr/>
          </p:nvSpPr>
          <p:spPr>
            <a:xfrm rot="0">
              <a:off x="0" y="527685"/>
              <a:ext cx="5281434" cy="2629535"/>
            </a:xfrm>
            <a:prstGeom prst="rect">
              <a:avLst/>
            </a:prstGeom>
          </p:spPr>
          <p:txBody>
            <a:bodyPr anchor="t" rtlCol="false" tIns="0" lIns="0" bIns="0" rIns="0">
              <a:spAutoFit/>
            </a:bodyPr>
            <a:lstStyle/>
            <a:p>
              <a:pPr algn="ctr" marL="0" indent="0" lvl="0">
                <a:lnSpc>
                  <a:spcPts val="3120"/>
                </a:lnSpc>
              </a:pPr>
              <a:r>
                <a:rPr lang="en-US" sz="2400">
                  <a:solidFill>
                    <a:srgbClr val="6A5642"/>
                  </a:solidFill>
                  <a:latin typeface="Codec Pro"/>
                  <a:ea typeface="Codec Pro"/>
                  <a:cs typeface="Codec Pro"/>
                  <a:sym typeface="Codec Pro"/>
                </a:rPr>
                <a:t>Câu lệnh WHERE giúp lọc dữ liệu theo điều kiện nhất định, giúp tinh chỉnh kết quả truy vấn theo yêu cầu cụ thể.</a:t>
              </a:r>
            </a:p>
          </p:txBody>
        </p:sp>
        <p:sp>
          <p:nvSpPr>
            <p:cNvPr name="TextBox 20" id="20"/>
            <p:cNvSpPr txBox="true"/>
            <p:nvPr/>
          </p:nvSpPr>
          <p:spPr>
            <a:xfrm rot="0">
              <a:off x="0" y="-66675"/>
              <a:ext cx="5281434" cy="559435"/>
            </a:xfrm>
            <a:prstGeom prst="rect">
              <a:avLst/>
            </a:prstGeom>
          </p:spPr>
          <p:txBody>
            <a:bodyPr anchor="t" rtlCol="false" tIns="0" lIns="0" bIns="0" rIns="0">
              <a:spAutoFit/>
            </a:bodyPr>
            <a:lstStyle/>
            <a:p>
              <a:pPr algn="ctr" marL="0" indent="0" lvl="0">
                <a:lnSpc>
                  <a:spcPts val="3120"/>
                </a:lnSpc>
              </a:pPr>
              <a:r>
                <a:rPr lang="en-US" b="true" sz="2400">
                  <a:solidFill>
                    <a:srgbClr val="6A5642"/>
                  </a:solidFill>
                  <a:latin typeface="Codec Pro Ultra-Bold"/>
                  <a:ea typeface="Codec Pro Ultra-Bold"/>
                  <a:cs typeface="Codec Pro Ultra-Bold"/>
                  <a:sym typeface="Codec Pro Ultra-Bold"/>
                </a:rPr>
                <a:t>Sử dụng WHERE</a:t>
              </a:r>
            </a:p>
          </p:txBody>
        </p:sp>
      </p:grpSp>
      <p:grpSp>
        <p:nvGrpSpPr>
          <p:cNvPr name="Group 21" id="21"/>
          <p:cNvGrpSpPr/>
          <p:nvPr/>
        </p:nvGrpSpPr>
        <p:grpSpPr>
          <a:xfrm rot="0">
            <a:off x="12148475" y="4248150"/>
            <a:ext cx="3961075" cy="2367915"/>
            <a:chOff x="0" y="0"/>
            <a:chExt cx="5281434" cy="3157220"/>
          </a:xfrm>
        </p:grpSpPr>
        <p:sp>
          <p:nvSpPr>
            <p:cNvPr name="TextBox 22" id="22"/>
            <p:cNvSpPr txBox="true"/>
            <p:nvPr/>
          </p:nvSpPr>
          <p:spPr>
            <a:xfrm rot="0">
              <a:off x="0" y="527685"/>
              <a:ext cx="5281434" cy="2629535"/>
            </a:xfrm>
            <a:prstGeom prst="rect">
              <a:avLst/>
            </a:prstGeom>
          </p:spPr>
          <p:txBody>
            <a:bodyPr anchor="t" rtlCol="false" tIns="0" lIns="0" bIns="0" rIns="0">
              <a:spAutoFit/>
            </a:bodyPr>
            <a:lstStyle/>
            <a:p>
              <a:pPr algn="ctr" marL="0" indent="0" lvl="0">
                <a:lnSpc>
                  <a:spcPts val="3120"/>
                </a:lnSpc>
              </a:pPr>
              <a:r>
                <a:rPr lang="en-US" sz="2400">
                  <a:solidFill>
                    <a:srgbClr val="6A5642"/>
                  </a:solidFill>
                  <a:latin typeface="Codec Pro"/>
                  <a:ea typeface="Codec Pro"/>
                  <a:cs typeface="Codec Pro"/>
                  <a:sym typeface="Codec Pro"/>
                </a:rPr>
                <a:t>Hàm tổng hợp như SUM, AVG, COUNT cho phép bạn tính toán tổng số, trung bình và đếm các mục trong tập dữ liệu.</a:t>
              </a:r>
            </a:p>
          </p:txBody>
        </p:sp>
        <p:sp>
          <p:nvSpPr>
            <p:cNvPr name="TextBox 23" id="23"/>
            <p:cNvSpPr txBox="true"/>
            <p:nvPr/>
          </p:nvSpPr>
          <p:spPr>
            <a:xfrm rot="0">
              <a:off x="0" y="-66675"/>
              <a:ext cx="5281434" cy="559435"/>
            </a:xfrm>
            <a:prstGeom prst="rect">
              <a:avLst/>
            </a:prstGeom>
          </p:spPr>
          <p:txBody>
            <a:bodyPr anchor="t" rtlCol="false" tIns="0" lIns="0" bIns="0" rIns="0">
              <a:spAutoFit/>
            </a:bodyPr>
            <a:lstStyle/>
            <a:p>
              <a:pPr algn="ctr" marL="0" indent="0" lvl="0">
                <a:lnSpc>
                  <a:spcPts val="3120"/>
                </a:lnSpc>
              </a:pPr>
              <a:r>
                <a:rPr lang="en-US" b="true" sz="2400">
                  <a:solidFill>
                    <a:srgbClr val="6A5642"/>
                  </a:solidFill>
                  <a:latin typeface="Codec Pro Ultra-Bold"/>
                  <a:ea typeface="Codec Pro Ultra-Bold"/>
                  <a:cs typeface="Codec Pro Ultra-Bold"/>
                  <a:sym typeface="Codec Pro Ultra-Bold"/>
                </a:rPr>
                <a:t>Các hàm tổng hợp</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866A4F"/>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EAE2D8"/>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FFFFFF"/>
            </a:solidFill>
          </p:spPr>
        </p:sp>
      </p:grpSp>
      <p:grpSp>
        <p:nvGrpSpPr>
          <p:cNvPr name="Group 5" id="5"/>
          <p:cNvGrpSpPr/>
          <p:nvPr/>
        </p:nvGrpSpPr>
        <p:grpSpPr>
          <a:xfrm rot="0">
            <a:off x="7021527" y="4199582"/>
            <a:ext cx="9763125" cy="1887835"/>
            <a:chOff x="0" y="0"/>
            <a:chExt cx="13017500" cy="2517114"/>
          </a:xfrm>
        </p:grpSpPr>
        <p:sp>
          <p:nvSpPr>
            <p:cNvPr name="TextBox 6" id="6"/>
            <p:cNvSpPr txBox="true"/>
            <p:nvPr/>
          </p:nvSpPr>
          <p:spPr>
            <a:xfrm rot="0">
              <a:off x="0" y="-95250"/>
              <a:ext cx="13017500" cy="1867656"/>
            </a:xfrm>
            <a:prstGeom prst="rect">
              <a:avLst/>
            </a:prstGeom>
          </p:spPr>
          <p:txBody>
            <a:bodyPr anchor="t" rtlCol="false" tIns="0" lIns="0" bIns="0" rIns="0">
              <a:spAutoFit/>
            </a:bodyPr>
            <a:lstStyle/>
            <a:p>
              <a:pPr algn="ctr" marL="0" indent="0" lvl="0">
                <a:lnSpc>
                  <a:spcPts val="10554"/>
                </a:lnSpc>
              </a:pPr>
              <a:r>
                <a:rPr lang="en-US" b="true" sz="8795" spc="-219">
                  <a:solidFill>
                    <a:srgbClr val="6A5642"/>
                  </a:solidFill>
                  <a:latin typeface="Gatwick Ultra-Bold"/>
                  <a:ea typeface="Gatwick Ultra-Bold"/>
                  <a:cs typeface="Gatwick Ultra-Bold"/>
                  <a:sym typeface="Gatwick Ultra-Bold"/>
                </a:rPr>
                <a:t>Kết thúc</a:t>
              </a:r>
            </a:p>
          </p:txBody>
        </p:sp>
        <p:sp>
          <p:nvSpPr>
            <p:cNvPr name="TextBox 7" id="7"/>
            <p:cNvSpPr txBox="true"/>
            <p:nvPr/>
          </p:nvSpPr>
          <p:spPr>
            <a:xfrm rot="0">
              <a:off x="0" y="1877914"/>
              <a:ext cx="13017500" cy="639199"/>
            </a:xfrm>
            <a:prstGeom prst="rect">
              <a:avLst/>
            </a:prstGeom>
          </p:spPr>
          <p:txBody>
            <a:bodyPr anchor="t" rtlCol="false" tIns="0" lIns="0" bIns="0" rIns="0">
              <a:spAutoFit/>
            </a:bodyPr>
            <a:lstStyle/>
            <a:p>
              <a:pPr algn="ctr" marL="0" indent="0" lvl="0">
                <a:lnSpc>
                  <a:spcPts val="3659"/>
                </a:lnSpc>
              </a:pPr>
              <a:r>
                <a:rPr lang="en-US" b="true" sz="2814">
                  <a:solidFill>
                    <a:srgbClr val="6A5642"/>
                  </a:solidFill>
                  <a:latin typeface="Codec Pro Ultra-Bold"/>
                  <a:ea typeface="Codec Pro Ultra-Bold"/>
                  <a:cs typeface="Codec Pro Ultra-Bold"/>
                  <a:sym typeface="Codec Pro Ultra-Bold"/>
                </a:rPr>
                <a:t>Cảm ơn mọi người đã lắng nghe</a:t>
              </a:r>
            </a:p>
          </p:txBody>
        </p:sp>
      </p:grpSp>
      <p:sp>
        <p:nvSpPr>
          <p:cNvPr name="TextBox 8" id="8"/>
          <p:cNvSpPr txBox="true"/>
          <p:nvPr/>
        </p:nvSpPr>
        <p:spPr>
          <a:xfrm rot="0">
            <a:off x="8991600" y="8324864"/>
            <a:ext cx="6057900" cy="400050"/>
          </a:xfrm>
          <a:prstGeom prst="rect">
            <a:avLst/>
          </a:prstGeom>
        </p:spPr>
        <p:txBody>
          <a:bodyPr anchor="t" rtlCol="false" tIns="0" lIns="0" bIns="0" rIns="0">
            <a:spAutoFit/>
          </a:bodyPr>
          <a:lstStyle/>
          <a:p>
            <a:pPr algn="ctr" marL="0" indent="0" lvl="0">
              <a:lnSpc>
                <a:spcPts val="2880"/>
              </a:lnSpc>
            </a:pPr>
          </a:p>
        </p:txBody>
      </p:sp>
      <p:sp>
        <p:nvSpPr>
          <p:cNvPr name="Freeform 9" id="9"/>
          <p:cNvSpPr/>
          <p:nvPr/>
        </p:nvSpPr>
        <p:spPr>
          <a:xfrm flipH="false" flipV="false" rot="5400000">
            <a:off x="727580" y="2266950"/>
            <a:ext cx="7158835" cy="5753100"/>
          </a:xfrm>
          <a:custGeom>
            <a:avLst/>
            <a:gdLst/>
            <a:ahLst/>
            <a:cxnLst/>
            <a:rect r="r" b="b" t="t" l="l"/>
            <a:pathLst>
              <a:path h="5753100" w="7158835">
                <a:moveTo>
                  <a:pt x="0" y="0"/>
                </a:moveTo>
                <a:lnTo>
                  <a:pt x="7158835" y="0"/>
                </a:lnTo>
                <a:lnTo>
                  <a:pt x="7158835" y="5753100"/>
                </a:lnTo>
                <a:lnTo>
                  <a:pt x="0" y="5753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Bài thuyết trình - SRS hệ thống bán hàng</dc:description>
  <dc:identifier>DAG9qKTw_cM</dc:identifier>
  <dcterms:modified xsi:type="dcterms:W3CDTF">2011-08-01T06:04:30Z</dcterms:modified>
  <cp:revision>1</cp:revision>
  <dc:title>Bài thuyết trình - SRS hệ thống bán hàng</dc:title>
</cp:coreProperties>
</file>