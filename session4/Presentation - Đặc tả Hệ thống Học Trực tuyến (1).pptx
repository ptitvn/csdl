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" charset="1" panose="020B0500040000020004"/>
      <p:regular r:id="rId19"/>
    </p:embeddedFont>
    <p:embeddedFont>
      <p:font typeface="Georgia Pro Condensed" charset="1" panose="02040506050405020303"/>
      <p:regular r:id="rId20"/>
    </p:embeddedFont>
    <p:embeddedFont>
      <p:font typeface="Helvetica World Bold" charset="1" panose="020B0800040000020004"/>
      <p:regular r:id="rId21"/>
    </p:embeddedFont>
    <p:embeddedFont>
      <p:font typeface="Canva Sans" charset="1" panose="020B0503030501040103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A506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HN-K24-CNTT5-G2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A9BCD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Phân tích tài liệu đặc tả SRS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A50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6748231"/>
            <a:chOff x="0" y="0"/>
            <a:chExt cx="17259300" cy="899764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84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919"/>
                </a:lnSpc>
              </a:pPr>
              <a:r>
                <a:rPr lang="en-US" sz="8399" spc="-251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Mục đích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79341"/>
              <a:ext cx="17259300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1761" y="2739716"/>
              <a:ext cx="13512134" cy="6257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2999" spc="-44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Tài liệu này giúp:</a:t>
              </a:r>
            </a:p>
            <a:p>
              <a:pPr algn="l" marL="669285" indent="-334642" lvl="1">
                <a:lnSpc>
                  <a:spcPts val="4339"/>
                </a:lnSpc>
                <a:buFont typeface="Arial"/>
                <a:buChar char="•"/>
              </a:pPr>
              <a:r>
                <a:rPr lang="en-US" sz="3099" spc="-46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Hiểu hệ thống học trực tuyến hoạt động như thế nào</a:t>
              </a:r>
            </a:p>
            <a:p>
              <a:pPr algn="l" marL="647695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 spc="-44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Xác định các bảng dữ liệu cần thiết</a:t>
              </a:r>
            </a:p>
            <a:p>
              <a:pPr algn="l" marL="647695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 spc="-44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Xác định thuộc tính – kiểu dữ liệu – ràng buộc</a:t>
              </a:r>
            </a:p>
            <a:p>
              <a:pPr algn="l" marL="647695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 spc="-44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Hiểu mối quan hệ giữa các bảng</a:t>
              </a:r>
            </a:p>
            <a:p>
              <a:pPr algn="l" marL="647695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 spc="-44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Là cơ sở để thiết kế CSDL &amp; viết SQL</a:t>
              </a:r>
            </a:p>
            <a:p>
              <a:pPr algn="l" marL="0" indent="0" lvl="0">
                <a:lnSpc>
                  <a:spcPts val="4199"/>
                </a:lnSpc>
              </a:pPr>
              <a:r>
                <a:rPr lang="en-US" sz="2999" spc="-44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👉 Hệ thống chỉ tập trung vào CSDL, không có giao diện, không đăng nhập</a:t>
              </a:r>
            </a:p>
            <a:p>
              <a:pPr algn="l" marL="0" indent="0" lvl="0">
                <a:lnSpc>
                  <a:spcPts val="41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162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6195197"/>
            <a:chOff x="0" y="0"/>
            <a:chExt cx="17259300" cy="82602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PHẠM</a:t>
              </a: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 VI HỆ THỐNG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880628"/>
              <a:ext cx="13512134" cy="6379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Hệ</a:t>
              </a: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thống quản lý: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Sinh viên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Giảng viên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Khóa học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Đăng ký học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Kết quả học tập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📌 Phục vụ cho việc: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Lưu trữ dữ liệu chính xác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Tránh trùng lặp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Dễ truy vấn &amp; mở rộng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1939" y="606425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A50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A9BCD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CÁC ĐỐI TƯỢNG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0084" y="3099752"/>
            <a:ext cx="13312401" cy="538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4"/>
              </a:lnSpc>
            </a:pP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Hệ thống gồm 5 thực thể (Entity):</a:t>
            </a:r>
          </a:p>
          <a:p>
            <a:pPr algn="just" marL="828753" indent="-414376" lvl="1">
              <a:lnSpc>
                <a:spcPts val="5374"/>
              </a:lnSpc>
              <a:buAutoNum type="arabicPeriod" startAt="1"/>
            </a:pP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Student (Sinh viên)</a:t>
            </a:r>
          </a:p>
          <a:p>
            <a:pPr algn="just" marL="828753" indent="-414376" lvl="1">
              <a:lnSpc>
                <a:spcPts val="5374"/>
              </a:lnSpc>
              <a:buAutoNum type="arabicPeriod" startAt="1"/>
            </a:pP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Teacher (Giảng viên)</a:t>
            </a:r>
          </a:p>
          <a:p>
            <a:pPr algn="just" marL="828753" indent="-414376" lvl="1">
              <a:lnSpc>
                <a:spcPts val="5374"/>
              </a:lnSpc>
              <a:spcBef>
                <a:spcPct val="0"/>
              </a:spcBef>
              <a:buAutoNum type="arabicPeriod" startAt="1"/>
            </a:pP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ourse (Khóa học)</a:t>
            </a:r>
          </a:p>
          <a:p>
            <a:pPr algn="just" marL="828753" indent="-414376" lvl="1">
              <a:lnSpc>
                <a:spcPts val="5374"/>
              </a:lnSpc>
              <a:spcBef>
                <a:spcPct val="0"/>
              </a:spcBef>
              <a:buAutoNum type="arabicPeriod" startAt="1"/>
            </a:pP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Enrollment (Đăng ký học)</a:t>
            </a:r>
          </a:p>
          <a:p>
            <a:pPr algn="just" marL="828753" indent="-414376" lvl="1">
              <a:lnSpc>
                <a:spcPts val="5374"/>
              </a:lnSpc>
              <a:spcBef>
                <a:spcPct val="0"/>
              </a:spcBef>
              <a:buAutoNum type="arabicPeriod" startAt="1"/>
            </a:pP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Score (Kết quả học tập)</a:t>
            </a:r>
          </a:p>
          <a:p>
            <a:pPr algn="just">
              <a:lnSpc>
                <a:spcPts val="5374"/>
              </a:lnSpc>
              <a:spcBef>
                <a:spcPct val="0"/>
              </a:spcBef>
            </a:pPr>
            <a:r>
              <a:rPr lang="en-US" sz="3838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👉 Mỗi đối tượng tương ứng 1 bảng trong CSDL</a:t>
            </a:r>
          </a:p>
          <a:p>
            <a:pPr algn="just">
              <a:lnSpc>
                <a:spcPts val="53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162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30496"/>
            <a:ext cx="12944475" cy="4194259"/>
            <a:chOff x="0" y="0"/>
            <a:chExt cx="17259300" cy="559234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STUDENT</a:t>
              </a: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 (SINH VIÊN)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Các thuộc tính, kiểu dữ liệu và các ràng buộc đi kèm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302112"/>
              <a:ext cx="13512134" cy="2290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student_id int primary key auto-increment</a:t>
              </a:r>
            </a:p>
            <a:p>
              <a:pPr algn="l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full_name varchar(100) not null</a:t>
              </a:r>
            </a:p>
            <a:p>
              <a:pPr algn="l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date_of_birth date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email varchar(50) unique not null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800225" y="5938121"/>
            <a:ext cx="12944475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spc="-37" b="true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Quy tắc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Mỗi sinh viên có mã duy nhất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Email không trùng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Họ tên bắt buộc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A50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194259"/>
            <a:chOff x="0" y="0"/>
            <a:chExt cx="17259300" cy="559234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</a:t>
              </a: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EACHER (GIẢNG VIÊN)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Các </a:t>
              </a: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thuộc tính, kiểu dữ liệu và các ràng buộc đi kèm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302112"/>
              <a:ext cx="13512134" cy="2290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teach</a:t>
              </a: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r_id INT PRIMARY KEY AUTO_INCREMENT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full_name VARCHAR(100) NOT NULL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email VARCHAR(100) UNIQUE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800225" y="5877333"/>
            <a:ext cx="1294447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Quy </a:t>
            </a: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tắc</a:t>
            </a:r>
          </a:p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Một giảng viên có thể dạy nhiều khóa học</a:t>
            </a:r>
          </a:p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Email không trùng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162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632409"/>
            <a:chOff x="0" y="0"/>
            <a:chExt cx="17259300" cy="617654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 COURSE (KHÓA HỌC)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Các </a:t>
              </a: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thuộc tính, kiểu dữ liệu và các ràng buộc đi kèm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302112"/>
              <a:ext cx="13512134" cy="2874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cours</a:t>
              </a: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e_id </a:t>
              </a: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 PRIMARY KEY AUTO_INCREMENT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course_name VARCHAR(100) NOT NULL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description TEXT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total_sessions INT CHECK (total_sessions &gt; 0)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teacher_id INT FOREIGN KEY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800225" y="6789801"/>
            <a:ext cx="1294447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Quy </a:t>
            </a: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tắc</a:t>
            </a:r>
          </a:p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Mỗi khóa học có 1 giảng viên phụ trách</a:t>
            </a:r>
          </a:p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teacher_id tham chiếu Teacher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A50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4034807" cy="3600093"/>
            <a:chOff x="0" y="0"/>
            <a:chExt cx="18713076" cy="48001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8713076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ENROLLMENT (ĐĂNG KÝ HỌ</a:t>
              </a: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64275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Các </a:t>
              </a: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thuộc tính, kiểu dữ liệu và các ràng buộc đi kèm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94090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student_id INT FOREIGN KEY 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course_id INT FOREIGN KEY enroll_date DATE NOT NULL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800225" y="5703512"/>
            <a:ext cx="1294447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Quy </a:t>
            </a: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tắc</a:t>
            </a:r>
          </a:p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Không cho phép đăng ký trùng khóa học</a:t>
            </a:r>
          </a:p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Thể hiện quan hệ N–N giữa Student &amp; Course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162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457700"/>
            <a:chOff x="0" y="0"/>
            <a:chExt cx="17259300" cy="5943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SCOR</a:t>
              </a:r>
              <a:r>
                <a:rPr lang="en-US" sz="8000" spc="-240">
                  <a:solidFill>
                    <a:srgbClr val="A9BCD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 (KẾT QUẢ HỌC TẬP)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Các </a:t>
              </a:r>
              <a:r>
                <a:rPr lang="en-US" b="true" sz="2500" spc="-37">
                  <a:solidFill>
                    <a:srgbClr val="A9BCD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thuộc tính, kiểu dữ liệu và các ràng buộc đi kèm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2874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tudent_id INT FOREIGN KEY 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course_id INT FOREIGN KEY 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mid_score DECIMAL(3,1) CHECK (0 &lt;= mid_score &lt;= 10)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A9BCD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final_score DECIMAL(3,1) CHECK (0 &lt;= final_score &lt;= 10)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800225" y="6019800"/>
            <a:ext cx="1294447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Khóa c</a:t>
            </a: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hính</a:t>
            </a:r>
          </a:p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PRIMARY KEY (student_id, course_id)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📌 Mỗi sinh viên chỉ có 1 kết quả / khóa học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9BC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A50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303063" y="3098791"/>
          <a:ext cx="13904598" cy="5539681"/>
        </p:xfrm>
        <a:graphic>
          <a:graphicData uri="http://schemas.openxmlformats.org/drawingml/2006/table">
            <a:tbl>
              <a:tblPr/>
              <a:tblGrid>
                <a:gridCol w="4634866"/>
                <a:gridCol w="4634866"/>
                <a:gridCol w="4634866"/>
              </a:tblGrid>
              <a:tr h="9590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Thực thể 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Thực thể 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Mối quan hệ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930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Enrollment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1 - 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</a:t>
                      </a: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urse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Enrollm</a:t>
                      </a: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1 - 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eacher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</a:t>
                      </a: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urse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1 - 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1 - 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1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Course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1 - 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A9BCD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Mối Quan Hệ Thực Thể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03063" y="9048750"/>
            <a:ext cx="1064953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👉 Enr</a:t>
            </a:r>
            <a:r>
              <a:rPr lang="en-US" b="true" sz="2500" spc="-37">
                <a:solidFill>
                  <a:srgbClr val="A9BCD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ollment &amp; Score là bảng liên kết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A506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4340" y="2052883"/>
            <a:ext cx="17439320" cy="7781908"/>
          </a:xfrm>
          <a:custGeom>
            <a:avLst/>
            <a:gdLst/>
            <a:ahLst/>
            <a:cxnLst/>
            <a:rect r="r" b="b" t="t" l="l"/>
            <a:pathLst>
              <a:path h="7781908" w="17439320">
                <a:moveTo>
                  <a:pt x="0" y="0"/>
                </a:moveTo>
                <a:lnTo>
                  <a:pt x="17439320" y="0"/>
                </a:lnTo>
                <a:lnTo>
                  <a:pt x="17439320" y="7781907"/>
                </a:lnTo>
                <a:lnTo>
                  <a:pt x="0" y="7781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05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4340" y="565150"/>
            <a:ext cx="15500139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A9BCD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Sơ đồ ERD minh họa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5080" y="688024"/>
            <a:ext cx="9290197" cy="8910951"/>
          </a:xfrm>
          <a:custGeom>
            <a:avLst/>
            <a:gdLst/>
            <a:ahLst/>
            <a:cxnLst/>
            <a:rect r="r" b="b" t="t" l="l"/>
            <a:pathLst>
              <a:path h="8910951" w="9290197">
                <a:moveTo>
                  <a:pt x="0" y="0"/>
                </a:moveTo>
                <a:lnTo>
                  <a:pt x="9290198" y="0"/>
                </a:lnTo>
                <a:lnTo>
                  <a:pt x="9290198" y="8910952"/>
                </a:lnTo>
                <a:lnTo>
                  <a:pt x="0" y="8910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27" r="0" b="-2127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313" y="707181"/>
            <a:ext cx="15773579" cy="8872638"/>
          </a:xfrm>
          <a:custGeom>
            <a:avLst/>
            <a:gdLst/>
            <a:ahLst/>
            <a:cxnLst/>
            <a:rect r="r" b="b" t="t" l="l"/>
            <a:pathLst>
              <a:path h="8872638" w="15773579">
                <a:moveTo>
                  <a:pt x="0" y="0"/>
                </a:moveTo>
                <a:lnTo>
                  <a:pt x="15773579" y="0"/>
                </a:lnTo>
                <a:lnTo>
                  <a:pt x="15773579" y="8872638"/>
                </a:lnTo>
                <a:lnTo>
                  <a:pt x="0" y="8872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Đặc tả Hệ thống Học Trực tuyến</dc:description>
  <dc:identifier>DAG88y0_9Ng</dc:identifier>
  <dcterms:modified xsi:type="dcterms:W3CDTF">2011-08-01T06:04:30Z</dcterms:modified>
  <cp:revision>1</cp:revision>
  <dc:title>Presentation - Đặc tả Hệ thống Học Trực tuyến</dc:title>
</cp:coreProperties>
</file>