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Work Sans Semi-Bold" charset="1" panose="00000000000000000000"/>
      <p:regular r:id="rId21"/>
    </p:embeddedFont>
    <p:embeddedFont>
      <p:font typeface="Work Sans" charset="1" panose="00000000000000000000"/>
      <p:regular r:id="rId22"/>
    </p:embeddedFont>
    <p:embeddedFont>
      <p:font typeface="Work Sans Bold"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2686050"/>
            <a:chOff x="0" y="0"/>
            <a:chExt cx="4987154" cy="790100"/>
          </a:xfrm>
        </p:grpSpPr>
        <p:sp>
          <p:nvSpPr>
            <p:cNvPr name="Freeform 3" id="3"/>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1B263B"/>
            </a:solidFill>
            <a:ln w="12700">
              <a:solidFill>
                <a:srgbClr val="000000"/>
              </a:solidFill>
            </a:ln>
          </p:spPr>
        </p:sp>
      </p:grpSp>
      <p:grpSp>
        <p:nvGrpSpPr>
          <p:cNvPr name="Group 4" id="4"/>
          <p:cNvGrpSpPr/>
          <p:nvPr/>
        </p:nvGrpSpPr>
        <p:grpSpPr>
          <a:xfrm rot="0">
            <a:off x="10734675" y="7834471"/>
            <a:ext cx="6886575" cy="1785779"/>
            <a:chOff x="0" y="0"/>
            <a:chExt cx="1813748" cy="470329"/>
          </a:xfrm>
        </p:grpSpPr>
        <p:sp>
          <p:nvSpPr>
            <p:cNvPr name="Freeform 5" id="5"/>
            <p:cNvSpPr/>
            <p:nvPr/>
          </p:nvSpPr>
          <p:spPr>
            <a:xfrm flipH="false" flipV="false" rot="0">
              <a:off x="0" y="0"/>
              <a:ext cx="1813748" cy="470329"/>
            </a:xfrm>
            <a:custGeom>
              <a:avLst/>
              <a:gdLst/>
              <a:ahLst/>
              <a:cxnLst/>
              <a:rect r="r" b="b" t="t" l="l"/>
              <a:pathLst>
                <a:path h="470329" w="1813748">
                  <a:moveTo>
                    <a:pt x="44968" y="0"/>
                  </a:moveTo>
                  <a:lnTo>
                    <a:pt x="1768780" y="0"/>
                  </a:lnTo>
                  <a:cubicBezTo>
                    <a:pt x="1780706" y="0"/>
                    <a:pt x="1792144" y="4738"/>
                    <a:pt x="1800577" y="13171"/>
                  </a:cubicBezTo>
                  <a:cubicBezTo>
                    <a:pt x="1809011" y="21604"/>
                    <a:pt x="1813748" y="33042"/>
                    <a:pt x="1813748" y="44968"/>
                  </a:cubicBezTo>
                  <a:lnTo>
                    <a:pt x="1813748" y="425360"/>
                  </a:lnTo>
                  <a:cubicBezTo>
                    <a:pt x="1813748" y="437287"/>
                    <a:pt x="1809011" y="448724"/>
                    <a:pt x="1800577" y="457158"/>
                  </a:cubicBezTo>
                  <a:cubicBezTo>
                    <a:pt x="1792144" y="465591"/>
                    <a:pt x="1780706" y="470329"/>
                    <a:pt x="1768780" y="470329"/>
                  </a:cubicBezTo>
                  <a:lnTo>
                    <a:pt x="44968" y="470329"/>
                  </a:lnTo>
                  <a:cubicBezTo>
                    <a:pt x="33042" y="470329"/>
                    <a:pt x="21604" y="465591"/>
                    <a:pt x="13171" y="457158"/>
                  </a:cubicBezTo>
                  <a:cubicBezTo>
                    <a:pt x="4738" y="448724"/>
                    <a:pt x="0" y="437287"/>
                    <a:pt x="0" y="425360"/>
                  </a:cubicBezTo>
                  <a:lnTo>
                    <a:pt x="0" y="44968"/>
                  </a:lnTo>
                  <a:cubicBezTo>
                    <a:pt x="0" y="33042"/>
                    <a:pt x="4738" y="21604"/>
                    <a:pt x="13171" y="13171"/>
                  </a:cubicBezTo>
                  <a:cubicBezTo>
                    <a:pt x="21604" y="4738"/>
                    <a:pt x="33042" y="0"/>
                    <a:pt x="44968" y="0"/>
                  </a:cubicBezTo>
                  <a:close/>
                </a:path>
              </a:pathLst>
            </a:custGeom>
            <a:solidFill>
              <a:srgbClr val="415A77"/>
            </a:solidFill>
          </p:spPr>
        </p:sp>
        <p:sp>
          <p:nvSpPr>
            <p:cNvPr name="TextBox 6" id="6"/>
            <p:cNvSpPr txBox="true"/>
            <p:nvPr/>
          </p:nvSpPr>
          <p:spPr>
            <a:xfrm>
              <a:off x="0" y="-57150"/>
              <a:ext cx="1813748" cy="527479"/>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0734675" y="3657600"/>
            <a:ext cx="6886575" cy="3872071"/>
            <a:chOff x="0" y="0"/>
            <a:chExt cx="1066911" cy="599885"/>
          </a:xfrm>
        </p:grpSpPr>
        <p:sp>
          <p:nvSpPr>
            <p:cNvPr name="Freeform 8" id="8"/>
            <p:cNvSpPr/>
            <p:nvPr/>
          </p:nvSpPr>
          <p:spPr>
            <a:xfrm flipH="false" flipV="false" rot="0">
              <a:off x="0" y="0"/>
              <a:ext cx="1066911" cy="599885"/>
            </a:xfrm>
            <a:custGeom>
              <a:avLst/>
              <a:gdLst/>
              <a:ahLst/>
              <a:cxnLst/>
              <a:rect r="r" b="b" t="t" l="l"/>
              <a:pathLst>
                <a:path h="599885" w="1066911">
                  <a:moveTo>
                    <a:pt x="44968" y="0"/>
                  </a:moveTo>
                  <a:lnTo>
                    <a:pt x="1021942" y="0"/>
                  </a:lnTo>
                  <a:cubicBezTo>
                    <a:pt x="1033869" y="0"/>
                    <a:pt x="1045307" y="4738"/>
                    <a:pt x="1053740" y="13171"/>
                  </a:cubicBezTo>
                  <a:cubicBezTo>
                    <a:pt x="1062173" y="21604"/>
                    <a:pt x="1066911" y="33042"/>
                    <a:pt x="1066911" y="44968"/>
                  </a:cubicBezTo>
                  <a:lnTo>
                    <a:pt x="1066911" y="554917"/>
                  </a:lnTo>
                  <a:cubicBezTo>
                    <a:pt x="1066911" y="566843"/>
                    <a:pt x="1062173" y="578281"/>
                    <a:pt x="1053740" y="586714"/>
                  </a:cubicBezTo>
                  <a:cubicBezTo>
                    <a:pt x="1045307" y="595147"/>
                    <a:pt x="1033869" y="599885"/>
                    <a:pt x="1021942" y="599885"/>
                  </a:cubicBezTo>
                  <a:lnTo>
                    <a:pt x="44968" y="599885"/>
                  </a:lnTo>
                  <a:cubicBezTo>
                    <a:pt x="33042" y="599885"/>
                    <a:pt x="21604" y="595147"/>
                    <a:pt x="13171" y="586714"/>
                  </a:cubicBezTo>
                  <a:cubicBezTo>
                    <a:pt x="4738" y="578281"/>
                    <a:pt x="0" y="566843"/>
                    <a:pt x="0" y="554917"/>
                  </a:cubicBezTo>
                  <a:lnTo>
                    <a:pt x="0" y="44968"/>
                  </a:lnTo>
                  <a:cubicBezTo>
                    <a:pt x="0" y="33042"/>
                    <a:pt x="4738" y="21604"/>
                    <a:pt x="13171" y="13171"/>
                  </a:cubicBezTo>
                  <a:cubicBezTo>
                    <a:pt x="21604" y="4738"/>
                    <a:pt x="33042" y="0"/>
                    <a:pt x="44968" y="0"/>
                  </a:cubicBezTo>
                  <a:close/>
                </a:path>
              </a:pathLst>
            </a:custGeom>
            <a:blipFill>
              <a:blip r:embed="rId2"/>
              <a:stretch>
                <a:fillRect l="-202" t="0" r="-202" b="0"/>
              </a:stretch>
            </a:blipFill>
          </p:spPr>
        </p:sp>
      </p:grpSp>
      <p:grpSp>
        <p:nvGrpSpPr>
          <p:cNvPr name="Group 9" id="9"/>
          <p:cNvGrpSpPr/>
          <p:nvPr/>
        </p:nvGrpSpPr>
        <p:grpSpPr>
          <a:xfrm rot="0">
            <a:off x="666750" y="3657600"/>
            <a:ext cx="9763125" cy="5962650"/>
            <a:chOff x="0" y="0"/>
            <a:chExt cx="4083676" cy="2494030"/>
          </a:xfrm>
        </p:grpSpPr>
        <p:sp>
          <p:nvSpPr>
            <p:cNvPr name="Freeform 10" id="10"/>
            <p:cNvSpPr/>
            <p:nvPr/>
          </p:nvSpPr>
          <p:spPr>
            <a:xfrm flipH="false" flipV="false" rot="0">
              <a:off x="54483" y="50038"/>
              <a:ext cx="3974583" cy="2394589"/>
            </a:xfrm>
            <a:custGeom>
              <a:avLst/>
              <a:gdLst/>
              <a:ahLst/>
              <a:cxnLst/>
              <a:rect r="r" b="b" t="t" l="l"/>
              <a:pathLst>
                <a:path h="2394589" w="3974583">
                  <a:moveTo>
                    <a:pt x="3886953" y="2394589"/>
                  </a:moveTo>
                  <a:lnTo>
                    <a:pt x="87757" y="2394589"/>
                  </a:lnTo>
                  <a:cubicBezTo>
                    <a:pt x="39370" y="2394589"/>
                    <a:pt x="0" y="2355346"/>
                    <a:pt x="0" y="2306832"/>
                  </a:cubicBezTo>
                  <a:lnTo>
                    <a:pt x="0" y="87757"/>
                  </a:lnTo>
                  <a:cubicBezTo>
                    <a:pt x="0" y="39370"/>
                    <a:pt x="39243" y="0"/>
                    <a:pt x="87757" y="0"/>
                  </a:cubicBezTo>
                  <a:lnTo>
                    <a:pt x="3886826" y="0"/>
                  </a:lnTo>
                  <a:cubicBezTo>
                    <a:pt x="3935213" y="0"/>
                    <a:pt x="3974583" y="39243"/>
                    <a:pt x="3974583" y="87757"/>
                  </a:cubicBezTo>
                  <a:lnTo>
                    <a:pt x="3974583" y="2306832"/>
                  </a:lnTo>
                  <a:cubicBezTo>
                    <a:pt x="3974583" y="2355219"/>
                    <a:pt x="3935340" y="2394589"/>
                    <a:pt x="3886826" y="2394589"/>
                  </a:cubicBezTo>
                  <a:close/>
                </a:path>
              </a:pathLst>
            </a:custGeom>
            <a:blipFill>
              <a:blip r:embed="rId3"/>
              <a:stretch>
                <a:fillRect l="0" t="-209" r="0" b="-209"/>
              </a:stretch>
            </a:blipFill>
          </p:spPr>
        </p:sp>
        <p:sp>
          <p:nvSpPr>
            <p:cNvPr name="Freeform 11" id="11"/>
            <p:cNvSpPr/>
            <p:nvPr/>
          </p:nvSpPr>
          <p:spPr>
            <a:xfrm flipH="false" flipV="false" rot="0">
              <a:off x="0" y="0"/>
              <a:ext cx="4083549" cy="2493903"/>
            </a:xfrm>
            <a:custGeom>
              <a:avLst/>
              <a:gdLst/>
              <a:ahLst/>
              <a:cxnLst/>
              <a:rect r="r" b="b" t="t" l="l"/>
              <a:pathLst>
                <a:path h="2493903" w="4083549">
                  <a:moveTo>
                    <a:pt x="0" y="91567"/>
                  </a:moveTo>
                  <a:lnTo>
                    <a:pt x="0" y="2402337"/>
                  </a:lnTo>
                  <a:cubicBezTo>
                    <a:pt x="0" y="2452882"/>
                    <a:pt x="41021" y="2493903"/>
                    <a:pt x="91567" y="2493903"/>
                  </a:cubicBezTo>
                  <a:lnTo>
                    <a:pt x="3991982" y="2493903"/>
                  </a:lnTo>
                  <a:cubicBezTo>
                    <a:pt x="4042528" y="2493903"/>
                    <a:pt x="4083549" y="2452882"/>
                    <a:pt x="4083549" y="2402337"/>
                  </a:cubicBezTo>
                  <a:lnTo>
                    <a:pt x="4083549" y="91567"/>
                  </a:lnTo>
                  <a:cubicBezTo>
                    <a:pt x="4083549" y="41021"/>
                    <a:pt x="4042528" y="0"/>
                    <a:pt x="3991982" y="0"/>
                  </a:cubicBezTo>
                  <a:lnTo>
                    <a:pt x="91567" y="0"/>
                  </a:lnTo>
                  <a:cubicBezTo>
                    <a:pt x="41021" y="0"/>
                    <a:pt x="0" y="41021"/>
                    <a:pt x="0" y="91567"/>
                  </a:cubicBezTo>
                  <a:close/>
                  <a:moveTo>
                    <a:pt x="3241793" y="331724"/>
                  </a:moveTo>
                  <a:lnTo>
                    <a:pt x="3900923" y="331724"/>
                  </a:lnTo>
                  <a:cubicBezTo>
                    <a:pt x="3951469" y="331724"/>
                    <a:pt x="3992490" y="372745"/>
                    <a:pt x="3992490" y="423291"/>
                  </a:cubicBezTo>
                  <a:lnTo>
                    <a:pt x="3992490" y="2311277"/>
                  </a:lnTo>
                  <a:cubicBezTo>
                    <a:pt x="3992490" y="2361823"/>
                    <a:pt x="3951469" y="2402844"/>
                    <a:pt x="3900923" y="2402844"/>
                  </a:cubicBezTo>
                  <a:lnTo>
                    <a:pt x="182753" y="2402844"/>
                  </a:lnTo>
                  <a:cubicBezTo>
                    <a:pt x="132207" y="2402844"/>
                    <a:pt x="91186" y="2361823"/>
                    <a:pt x="91186" y="2311277"/>
                  </a:cubicBezTo>
                  <a:lnTo>
                    <a:pt x="91186" y="182753"/>
                  </a:lnTo>
                  <a:cubicBezTo>
                    <a:pt x="91186" y="132207"/>
                    <a:pt x="132207" y="91186"/>
                    <a:pt x="182753" y="91186"/>
                  </a:cubicBezTo>
                  <a:lnTo>
                    <a:pt x="2944740" y="91186"/>
                  </a:lnTo>
                  <a:cubicBezTo>
                    <a:pt x="2970775" y="91186"/>
                    <a:pt x="2995667" y="102235"/>
                    <a:pt x="3013066" y="121666"/>
                  </a:cubicBezTo>
                  <a:lnTo>
                    <a:pt x="3173721" y="301244"/>
                  </a:lnTo>
                  <a:cubicBezTo>
                    <a:pt x="3191120" y="320675"/>
                    <a:pt x="3215885" y="331724"/>
                    <a:pt x="3242047" y="331724"/>
                  </a:cubicBezTo>
                  <a:lnTo>
                    <a:pt x="3241793" y="331724"/>
                  </a:lnTo>
                  <a:close/>
                </a:path>
              </a:pathLst>
            </a:custGeom>
            <a:solidFill>
              <a:srgbClr val="778DA9"/>
            </a:solidFill>
          </p:spPr>
        </p:sp>
      </p:grpSp>
      <p:sp>
        <p:nvSpPr>
          <p:cNvPr name="Freeform 12" id="12"/>
          <p:cNvSpPr/>
          <p:nvPr/>
        </p:nvSpPr>
        <p:spPr>
          <a:xfrm flipH="false" flipV="false" rot="0">
            <a:off x="15220953" y="1376364"/>
            <a:ext cx="1266822" cy="1266822"/>
          </a:xfrm>
          <a:custGeom>
            <a:avLst/>
            <a:gdLst/>
            <a:ahLst/>
            <a:cxnLst/>
            <a:rect r="r" b="b" t="t" l="l"/>
            <a:pathLst>
              <a:path h="1266822" w="1266822">
                <a:moveTo>
                  <a:pt x="0" y="0"/>
                </a:moveTo>
                <a:lnTo>
                  <a:pt x="1266822" y="0"/>
                </a:lnTo>
                <a:lnTo>
                  <a:pt x="1266822" y="1266822"/>
                </a:lnTo>
                <a:lnTo>
                  <a:pt x="0" y="1266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320434" y="1570221"/>
            <a:ext cx="13424266" cy="1035051"/>
          </a:xfrm>
          <a:prstGeom prst="rect">
            <a:avLst/>
          </a:prstGeom>
        </p:spPr>
        <p:txBody>
          <a:bodyPr anchor="t" rtlCol="false" tIns="0" lIns="0" bIns="0" rIns="0">
            <a:spAutoFit/>
          </a:bodyPr>
          <a:lstStyle/>
          <a:p>
            <a:pPr algn="l" marL="0" indent="0" lvl="0">
              <a:lnSpc>
                <a:spcPts val="7600"/>
              </a:lnSpc>
            </a:pPr>
            <a:r>
              <a:rPr lang="en-US" b="true" sz="8000" spc="-440">
                <a:solidFill>
                  <a:srgbClr val="E0E1DD"/>
                </a:solidFill>
                <a:latin typeface="Work Sans Semi-Bold"/>
                <a:ea typeface="Work Sans Semi-Bold"/>
                <a:cs typeface="Work Sans Semi-Bold"/>
                <a:sym typeface="Work Sans Semi-Bold"/>
              </a:rPr>
              <a:t>MINI SOCIAL NETWORK</a:t>
            </a:r>
          </a:p>
        </p:txBody>
      </p:sp>
      <p:grpSp>
        <p:nvGrpSpPr>
          <p:cNvPr name="Group 14" id="14"/>
          <p:cNvGrpSpPr/>
          <p:nvPr/>
        </p:nvGrpSpPr>
        <p:grpSpPr>
          <a:xfrm rot="0">
            <a:off x="11388359" y="8167816"/>
            <a:ext cx="5603210" cy="999890"/>
            <a:chOff x="0" y="0"/>
            <a:chExt cx="7470947" cy="1333187"/>
          </a:xfrm>
        </p:grpSpPr>
        <p:sp>
          <p:nvSpPr>
            <p:cNvPr name="TextBox 15" id="15"/>
            <p:cNvSpPr txBox="true"/>
            <p:nvPr/>
          </p:nvSpPr>
          <p:spPr>
            <a:xfrm rot="0">
              <a:off x="0" y="-47625"/>
              <a:ext cx="7470947" cy="657225"/>
            </a:xfrm>
            <a:prstGeom prst="rect">
              <a:avLst/>
            </a:prstGeom>
          </p:spPr>
          <p:txBody>
            <a:bodyPr anchor="t" rtlCol="false" tIns="0" lIns="0" bIns="0" rIns="0">
              <a:spAutoFit/>
            </a:bodyPr>
            <a:lstStyle/>
            <a:p>
              <a:pPr algn="l" marL="0" indent="0" lvl="0">
                <a:lnSpc>
                  <a:spcPts val="3900"/>
                </a:lnSpc>
              </a:pPr>
              <a:r>
                <a:rPr lang="en-US" b="true" sz="3000" spc="-165">
                  <a:solidFill>
                    <a:srgbClr val="E0E1DD"/>
                  </a:solidFill>
                  <a:latin typeface="Work Sans Semi-Bold"/>
                  <a:ea typeface="Work Sans Semi-Bold"/>
                  <a:cs typeface="Work Sans Semi-Bold"/>
                  <a:sym typeface="Work Sans Semi-Bold"/>
                </a:rPr>
                <a:t>Presented by</a:t>
              </a:r>
            </a:p>
          </p:txBody>
        </p:sp>
        <p:sp>
          <p:nvSpPr>
            <p:cNvPr name="TextBox 16" id="16"/>
            <p:cNvSpPr txBox="true"/>
            <p:nvPr/>
          </p:nvSpPr>
          <p:spPr>
            <a:xfrm rot="0">
              <a:off x="0" y="675962"/>
              <a:ext cx="7470947" cy="657225"/>
            </a:xfrm>
            <a:prstGeom prst="rect">
              <a:avLst/>
            </a:prstGeom>
          </p:spPr>
          <p:txBody>
            <a:bodyPr anchor="t" rtlCol="false" tIns="0" lIns="0" bIns="0" rIns="0">
              <a:spAutoFit/>
            </a:bodyPr>
            <a:lstStyle/>
            <a:p>
              <a:pPr algn="l" marL="0" indent="0" lvl="0">
                <a:lnSpc>
                  <a:spcPts val="3900"/>
                </a:lnSpc>
              </a:pPr>
              <a:r>
                <a:rPr lang="en-US" sz="3000" spc="-165">
                  <a:solidFill>
                    <a:srgbClr val="E0E1DD"/>
                  </a:solidFill>
                  <a:latin typeface="Work Sans"/>
                  <a:ea typeface="Work Sans"/>
                  <a:cs typeface="Work Sans"/>
                  <a:sym typeface="Work Sans"/>
                </a:rPr>
                <a:t>G2</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415A77"/>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415A77"/>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130" r="0" b="-130"/>
              </a:stretch>
            </a:blipFill>
          </p:spPr>
        </p:sp>
      </p:grpSp>
      <p:grpSp>
        <p:nvGrpSpPr>
          <p:cNvPr name="Group 9" id="9"/>
          <p:cNvGrpSpPr/>
          <p:nvPr/>
        </p:nvGrpSpPr>
        <p:grpSpPr>
          <a:xfrm rot="0">
            <a:off x="2105025" y="1562100"/>
            <a:ext cx="5448300" cy="7555338"/>
            <a:chOff x="0" y="0"/>
            <a:chExt cx="7264400" cy="10073784"/>
          </a:xfrm>
        </p:grpSpPr>
        <p:sp>
          <p:nvSpPr>
            <p:cNvPr name="TextBox 10" id="10"/>
            <p:cNvSpPr txBox="true"/>
            <p:nvPr/>
          </p:nvSpPr>
          <p:spPr>
            <a:xfrm rot="0">
              <a:off x="50129" y="4137169"/>
              <a:ext cx="7214271" cy="59366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Nhóm thực hiện gồm 6 thành viên, mỗi người đảm nhận một vai trò cụ thể. Dự án này nhằm xây dựng hệ thống mạng xã hội thu nhỏ, tập trung vào cơ sở dữ liệu.</a:t>
              </a:r>
            </a:p>
            <a:p>
              <a:pPr algn="l" marL="0" indent="0" lvl="0">
                <a:lnSpc>
                  <a:spcPts val="2730"/>
                </a:lnSpc>
              </a:pPr>
            </a:p>
            <a:p>
              <a:pPr algn="l" marL="0" indent="0" lvl="0">
                <a:lnSpc>
                  <a:spcPts val="2730"/>
                </a:lnSpc>
              </a:pPr>
              <a:r>
                <a:rPr lang="en-US" b="true" sz="2100" spc="-115">
                  <a:solidFill>
                    <a:srgbClr val="E0E1DD"/>
                  </a:solidFill>
                  <a:latin typeface="Work Sans Bold"/>
                  <a:ea typeface="Work Sans Bold"/>
                  <a:cs typeface="Work Sans Bold"/>
                  <a:sym typeface="Work Sans Bold"/>
                </a:rPr>
                <a:t>Các thành viên trong nhóm gồm :</a:t>
              </a:r>
            </a:p>
            <a:p>
              <a:pPr algn="l" marL="0" indent="0" lvl="0">
                <a:lnSpc>
                  <a:spcPts val="2730"/>
                </a:lnSpc>
              </a:pPr>
              <a:r>
                <a:rPr lang="en-US" sz="2100" spc="-115">
                  <a:solidFill>
                    <a:srgbClr val="E0E1DD"/>
                  </a:solidFill>
                  <a:latin typeface="Work Sans"/>
                  <a:ea typeface="Work Sans"/>
                  <a:cs typeface="Work Sans"/>
                  <a:sym typeface="Work Sans"/>
                </a:rPr>
                <a:t>Phạm Tiến Đạt</a:t>
              </a:r>
            </a:p>
            <a:p>
              <a:pPr algn="l" marL="0" indent="0" lvl="0">
                <a:lnSpc>
                  <a:spcPts val="2730"/>
                </a:lnSpc>
              </a:pPr>
              <a:r>
                <a:rPr lang="en-US" sz="2100" spc="-115">
                  <a:solidFill>
                    <a:srgbClr val="E0E1DD"/>
                  </a:solidFill>
                  <a:latin typeface="Work Sans"/>
                  <a:ea typeface="Work Sans"/>
                  <a:cs typeface="Work Sans"/>
                  <a:sym typeface="Work Sans"/>
                </a:rPr>
                <a:t>Nguyễn Quang Huy</a:t>
              </a:r>
            </a:p>
            <a:p>
              <a:pPr algn="l" marL="0" indent="0" lvl="0">
                <a:lnSpc>
                  <a:spcPts val="2730"/>
                </a:lnSpc>
              </a:pPr>
              <a:r>
                <a:rPr lang="en-US" sz="2100" spc="-115">
                  <a:solidFill>
                    <a:srgbClr val="E0E1DD"/>
                  </a:solidFill>
                  <a:latin typeface="Work Sans"/>
                  <a:ea typeface="Work Sans"/>
                  <a:cs typeface="Work Sans"/>
                  <a:sym typeface="Work Sans"/>
                </a:rPr>
                <a:t>Nguyễn Thế Kiên</a:t>
              </a:r>
            </a:p>
            <a:p>
              <a:pPr algn="l" marL="0" indent="0" lvl="0">
                <a:lnSpc>
                  <a:spcPts val="2730"/>
                </a:lnSpc>
              </a:pPr>
              <a:r>
                <a:rPr lang="en-US" sz="2100" spc="-115">
                  <a:solidFill>
                    <a:srgbClr val="E0E1DD"/>
                  </a:solidFill>
                  <a:latin typeface="Work Sans"/>
                  <a:ea typeface="Work Sans"/>
                  <a:cs typeface="Work Sans"/>
                  <a:sym typeface="Work Sans"/>
                </a:rPr>
                <a:t>Lê Trung Đông</a:t>
              </a:r>
            </a:p>
            <a:p>
              <a:pPr algn="l" marL="0" indent="0" lvl="0">
                <a:lnSpc>
                  <a:spcPts val="2730"/>
                </a:lnSpc>
              </a:pPr>
              <a:r>
                <a:rPr lang="en-US" sz="2100" spc="-115">
                  <a:solidFill>
                    <a:srgbClr val="E0E1DD"/>
                  </a:solidFill>
                  <a:latin typeface="Work Sans"/>
                  <a:ea typeface="Work Sans"/>
                  <a:cs typeface="Work Sans"/>
                  <a:sym typeface="Work Sans"/>
                </a:rPr>
                <a:t>Nguyễn Khắc Hưng</a:t>
              </a:r>
            </a:p>
            <a:p>
              <a:pPr algn="l" marL="0" indent="0" lvl="0">
                <a:lnSpc>
                  <a:spcPts val="2730"/>
                </a:lnSpc>
              </a:pPr>
              <a:r>
                <a:rPr lang="en-US" sz="2100" spc="-115">
                  <a:solidFill>
                    <a:srgbClr val="E0E1DD"/>
                  </a:solidFill>
                  <a:latin typeface="Work Sans"/>
                  <a:ea typeface="Work Sans"/>
                  <a:cs typeface="Work Sans"/>
                  <a:sym typeface="Work Sans"/>
                </a:rPr>
                <a:t>Đặng Văn Thắng</a:t>
              </a:r>
            </a:p>
            <a:p>
              <a:pPr algn="l" marL="0" indent="0" lvl="0">
                <a:lnSpc>
                  <a:spcPts val="2730"/>
                </a:lnSpc>
              </a:pPr>
            </a:p>
          </p:txBody>
        </p:sp>
        <p:sp>
          <p:nvSpPr>
            <p:cNvPr name="TextBox 11" id="11"/>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E0E1DD"/>
                  </a:solidFill>
                  <a:latin typeface="Work Sans Semi-Bold"/>
                  <a:ea typeface="Work Sans Semi-Bold"/>
                  <a:cs typeface="Work Sans Semi-Bold"/>
                  <a:sym typeface="Work Sans Semi-Bold"/>
                </a:rPr>
                <a:t>Giới thiệu nhóm</a:t>
              </a:r>
            </a:p>
          </p:txBody>
        </p:sp>
        <p:sp>
          <p:nvSpPr>
            <p:cNvPr name="TextBox 12" id="12"/>
            <p:cNvSpPr txBox="true"/>
            <p:nvPr/>
          </p:nvSpPr>
          <p:spPr>
            <a:xfrm rot="0">
              <a:off x="0" y="2919027"/>
              <a:ext cx="7264400" cy="6286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E0E1DD"/>
                  </a:solidFill>
                  <a:latin typeface="Work Sans"/>
                  <a:ea typeface="Work Sans"/>
                  <a:cs typeface="Work Sans"/>
                  <a:sym typeface="Work Sans"/>
                </a:rPr>
                <a:t>Dự án Mini Social Network</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415A77"/>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E0E1DD"/>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130" r="0" b="-130"/>
              </a:stretch>
            </a:blipFill>
          </p:spPr>
        </p:sp>
      </p:grpSp>
      <p:grpSp>
        <p:nvGrpSpPr>
          <p:cNvPr name="Group 9" id="9"/>
          <p:cNvGrpSpPr/>
          <p:nvPr/>
        </p:nvGrpSpPr>
        <p:grpSpPr>
          <a:xfrm rot="0">
            <a:off x="2105025" y="1562100"/>
            <a:ext cx="5448300" cy="4469238"/>
            <a:chOff x="0" y="0"/>
            <a:chExt cx="7264400" cy="5958984"/>
          </a:xfrm>
        </p:grpSpPr>
        <p:sp>
          <p:nvSpPr>
            <p:cNvPr name="TextBox 10" id="10"/>
            <p:cNvSpPr txBox="true"/>
            <p:nvPr/>
          </p:nvSpPr>
          <p:spPr>
            <a:xfrm rot="0">
              <a:off x="50129" y="4137169"/>
              <a:ext cx="7214271" cy="18218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Dự án Mini Social Network tập trung vào việc </a:t>
              </a:r>
              <a:r>
                <a:rPr lang="en-US" b="true" sz="2100" spc="-115">
                  <a:solidFill>
                    <a:srgbClr val="E0E1DD"/>
                  </a:solidFill>
                  <a:latin typeface="Work Sans Bold"/>
                  <a:ea typeface="Work Sans Bold"/>
                  <a:cs typeface="Work Sans Bold"/>
                  <a:sym typeface="Work Sans Bold"/>
                </a:rPr>
                <a:t>xử lý logic</a:t>
              </a:r>
              <a:r>
                <a:rPr lang="en-US" sz="2100" spc="-115">
                  <a:solidFill>
                    <a:srgbClr val="E0E1DD"/>
                  </a:solidFill>
                  <a:latin typeface="Work Sans"/>
                  <a:ea typeface="Work Sans"/>
                  <a:cs typeface="Work Sans"/>
                  <a:sym typeface="Work Sans"/>
                </a:rPr>
                <a:t> tại tầng cơ sở dữ liệu, giúp người dùng hiểu rõ hơn về </a:t>
              </a:r>
              <a:r>
                <a:rPr lang="en-US" b="true" sz="2100" spc="-115">
                  <a:solidFill>
                    <a:srgbClr val="E0E1DD"/>
                  </a:solidFill>
                  <a:latin typeface="Work Sans Bold"/>
                  <a:ea typeface="Work Sans Bold"/>
                  <a:cs typeface="Work Sans Bold"/>
                  <a:sym typeface="Work Sans Bold"/>
                </a:rPr>
                <a:t>vai trò của CSDL</a:t>
              </a:r>
              <a:r>
                <a:rPr lang="en-US" sz="2100" spc="-115">
                  <a:solidFill>
                    <a:srgbClr val="E0E1DD"/>
                  </a:solidFill>
                  <a:latin typeface="Work Sans"/>
                  <a:ea typeface="Work Sans"/>
                  <a:cs typeface="Work Sans"/>
                  <a:sym typeface="Work Sans"/>
                </a:rPr>
                <a:t> trong hệ thống.</a:t>
              </a:r>
            </a:p>
          </p:txBody>
        </p:sp>
        <p:sp>
          <p:nvSpPr>
            <p:cNvPr name="TextBox 11" id="11"/>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E0E1DD"/>
                  </a:solidFill>
                  <a:latin typeface="Work Sans Semi-Bold"/>
                  <a:ea typeface="Work Sans Semi-Bold"/>
                  <a:cs typeface="Work Sans Semi-Bold"/>
                  <a:sym typeface="Work Sans Semi-Bold"/>
                </a:rPr>
                <a:t>Tổng quan dự án</a:t>
              </a:r>
            </a:p>
          </p:txBody>
        </p:sp>
        <p:sp>
          <p:nvSpPr>
            <p:cNvPr name="TextBox 12" id="12"/>
            <p:cNvSpPr txBox="true"/>
            <p:nvPr/>
          </p:nvSpPr>
          <p:spPr>
            <a:xfrm rot="0">
              <a:off x="0" y="2919027"/>
              <a:ext cx="7264400" cy="6286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E0E1DD"/>
                  </a:solidFill>
                  <a:latin typeface="Work Sans"/>
                  <a:ea typeface="Work Sans"/>
                  <a:cs typeface="Work Sans"/>
                  <a:sym typeface="Work Sans"/>
                </a:rPr>
                <a:t>Mô phỏng mạng xã hội thu nhỏ</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15A7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0D1B2A"/>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8892B0"/>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130" r="0" b="-130"/>
              </a:stretch>
            </a:blipFill>
          </p:spPr>
        </p:sp>
      </p:grpSp>
      <p:grpSp>
        <p:nvGrpSpPr>
          <p:cNvPr name="Group 9" id="9"/>
          <p:cNvGrpSpPr/>
          <p:nvPr/>
        </p:nvGrpSpPr>
        <p:grpSpPr>
          <a:xfrm rot="0">
            <a:off x="2105025" y="1562100"/>
            <a:ext cx="5448300" cy="4926438"/>
            <a:chOff x="0" y="0"/>
            <a:chExt cx="7264400" cy="6568584"/>
          </a:xfrm>
        </p:grpSpPr>
        <p:sp>
          <p:nvSpPr>
            <p:cNvPr name="TextBox 10" id="10"/>
            <p:cNvSpPr txBox="true"/>
            <p:nvPr/>
          </p:nvSpPr>
          <p:spPr>
            <a:xfrm rot="0">
              <a:off x="50129" y="4746769"/>
              <a:ext cx="7214271" cy="18218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Dự án Mini Social Network giúp sinh viên </a:t>
              </a:r>
              <a:r>
                <a:rPr lang="en-US" b="true" sz="2100" spc="-115">
                  <a:solidFill>
                    <a:srgbClr val="E0E1DD"/>
                  </a:solidFill>
                  <a:latin typeface="Work Sans Bold"/>
                  <a:ea typeface="Work Sans Bold"/>
                  <a:cs typeface="Work Sans Bold"/>
                  <a:sym typeface="Work Sans Bold"/>
                </a:rPr>
                <a:t>hiểu rõ hơn</a:t>
              </a:r>
              <a:r>
                <a:rPr lang="en-US" sz="2100" spc="-115">
                  <a:solidFill>
                    <a:srgbClr val="E0E1DD"/>
                  </a:solidFill>
                  <a:latin typeface="Work Sans"/>
                  <a:ea typeface="Work Sans"/>
                  <a:cs typeface="Work Sans"/>
                  <a:sym typeface="Work Sans"/>
                </a:rPr>
                <a:t> về thay đổi dữ liệu theo hành vi người dùng, đồng thời nâng cao kỹ năng xử lý dữ liệu trong thực tế.</a:t>
              </a:r>
            </a:p>
          </p:txBody>
        </p:sp>
        <p:sp>
          <p:nvSpPr>
            <p:cNvPr name="TextBox 11" id="11"/>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E0E1DD"/>
                  </a:solidFill>
                  <a:latin typeface="Work Sans Semi-Bold"/>
                  <a:ea typeface="Work Sans Semi-Bold"/>
                  <a:cs typeface="Work Sans Semi-Bold"/>
                  <a:sym typeface="Work Sans Semi-Bold"/>
                </a:rPr>
                <a:t>Mục tiêu dự án</a:t>
              </a:r>
            </a:p>
          </p:txBody>
        </p:sp>
        <p:sp>
          <p:nvSpPr>
            <p:cNvPr name="TextBox 12" id="12"/>
            <p:cNvSpPr txBox="true"/>
            <p:nvPr/>
          </p:nvSpPr>
          <p:spPr>
            <a:xfrm rot="0">
              <a:off x="0" y="2919027"/>
              <a:ext cx="7264400" cy="12382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E0E1DD"/>
                  </a:solidFill>
                  <a:latin typeface="Work Sans"/>
                  <a:ea typeface="Work Sans"/>
                  <a:cs typeface="Work Sans"/>
                  <a:sym typeface="Work Sans"/>
                </a:rPr>
                <a:t>Nâng cao kỹ năng SQL và nghiệp vụ</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415A77"/>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415A77"/>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130" r="0" b="-130"/>
              </a:stretch>
            </a:blipFill>
          </p:spPr>
        </p:sp>
      </p:grpSp>
      <p:grpSp>
        <p:nvGrpSpPr>
          <p:cNvPr name="Group 9" id="9"/>
          <p:cNvGrpSpPr/>
          <p:nvPr/>
        </p:nvGrpSpPr>
        <p:grpSpPr>
          <a:xfrm rot="0">
            <a:off x="2105025" y="1562100"/>
            <a:ext cx="5448300" cy="4469238"/>
            <a:chOff x="0" y="0"/>
            <a:chExt cx="7264400" cy="5958984"/>
          </a:xfrm>
        </p:grpSpPr>
        <p:sp>
          <p:nvSpPr>
            <p:cNvPr name="TextBox 10" id="10"/>
            <p:cNvSpPr txBox="true"/>
            <p:nvPr/>
          </p:nvSpPr>
          <p:spPr>
            <a:xfrm rot="0">
              <a:off x="50129" y="4137169"/>
              <a:ext cx="7214271" cy="18218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Đề tài này giúp sinh viên phát triển </a:t>
              </a:r>
              <a:r>
                <a:rPr lang="en-US" b="true" sz="2100" spc="-115">
                  <a:solidFill>
                    <a:srgbClr val="E0E1DD"/>
                  </a:solidFill>
                  <a:latin typeface="Work Sans Bold"/>
                  <a:ea typeface="Work Sans Bold"/>
                  <a:cs typeface="Work Sans Bold"/>
                  <a:sym typeface="Work Sans Bold"/>
                </a:rPr>
                <a:t>kỹ năng xử lý logic nghiệp vụ</a:t>
              </a:r>
              <a:r>
                <a:rPr lang="en-US" sz="2100" spc="-115">
                  <a:solidFill>
                    <a:srgbClr val="E0E1DD"/>
                  </a:solidFill>
                  <a:latin typeface="Work Sans"/>
                  <a:ea typeface="Work Sans"/>
                  <a:cs typeface="Work Sans"/>
                  <a:sym typeface="Work Sans"/>
                </a:rPr>
                <a:t> trong cơ sở dữ liệu, qua đó nắm vững các khái niệm quan trọng như Trigger và Transaction.</a:t>
              </a:r>
            </a:p>
          </p:txBody>
        </p:sp>
        <p:sp>
          <p:nvSpPr>
            <p:cNvPr name="TextBox 11" id="11"/>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E0E1DD"/>
                  </a:solidFill>
                  <a:latin typeface="Work Sans Semi-Bold"/>
                  <a:ea typeface="Work Sans Semi-Bold"/>
                  <a:cs typeface="Work Sans Semi-Bold"/>
                  <a:sym typeface="Work Sans Semi-Bold"/>
                </a:rPr>
                <a:t>Lý do chọn đề tài</a:t>
              </a:r>
            </a:p>
          </p:txBody>
        </p:sp>
        <p:sp>
          <p:nvSpPr>
            <p:cNvPr name="TextBox 12" id="12"/>
            <p:cNvSpPr txBox="true"/>
            <p:nvPr/>
          </p:nvSpPr>
          <p:spPr>
            <a:xfrm rot="0">
              <a:off x="0" y="2919027"/>
              <a:ext cx="7264400" cy="6286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E0E1DD"/>
                  </a:solidFill>
                  <a:latin typeface="Work Sans"/>
                  <a:ea typeface="Work Sans"/>
                  <a:cs typeface="Work Sans"/>
                  <a:sym typeface="Work Sans"/>
                </a:rPr>
                <a:t>Rèn luyện kỹ năng xử lý CSDL</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15A7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0D1B2A"/>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8892B0"/>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130" r="0" b="-130"/>
              </a:stretch>
            </a:blipFill>
          </p:spPr>
        </p:sp>
      </p:grpSp>
      <p:grpSp>
        <p:nvGrpSpPr>
          <p:cNvPr name="Group 9" id="9"/>
          <p:cNvGrpSpPr/>
          <p:nvPr/>
        </p:nvGrpSpPr>
        <p:grpSpPr>
          <a:xfrm rot="0">
            <a:off x="2105025" y="1562100"/>
            <a:ext cx="5448300" cy="4926438"/>
            <a:chOff x="0" y="0"/>
            <a:chExt cx="7264400" cy="6568584"/>
          </a:xfrm>
        </p:grpSpPr>
        <p:sp>
          <p:nvSpPr>
            <p:cNvPr name="TextBox 10" id="10"/>
            <p:cNvSpPr txBox="true"/>
            <p:nvPr/>
          </p:nvSpPr>
          <p:spPr>
            <a:xfrm rot="0">
              <a:off x="50129" y="4746769"/>
              <a:ext cx="7214271" cy="18218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Hệ thống này nhằm </a:t>
              </a:r>
              <a:r>
                <a:rPr lang="en-US" b="true" sz="2100" spc="-115">
                  <a:solidFill>
                    <a:srgbClr val="E0E1DD"/>
                  </a:solidFill>
                  <a:latin typeface="Work Sans Bold"/>
                  <a:ea typeface="Work Sans Bold"/>
                  <a:cs typeface="Work Sans Bold"/>
                  <a:sym typeface="Work Sans Bold"/>
                </a:rPr>
                <a:t>mô phỏng một mạng xã hội</a:t>
              </a:r>
              <a:r>
                <a:rPr lang="en-US" sz="2100" spc="-115">
                  <a:solidFill>
                    <a:srgbClr val="E0E1DD"/>
                  </a:solidFill>
                  <a:latin typeface="Work Sans"/>
                  <a:ea typeface="Work Sans"/>
                  <a:cs typeface="Work Sans"/>
                  <a:sym typeface="Work Sans"/>
                </a:rPr>
                <a:t> với các chức năng quản lý người dùng và tương tác, đồng thời đảm bảo tính toàn vẹn dữ liệu qua các kỹ thuật chuyên sâu.</a:t>
              </a:r>
            </a:p>
          </p:txBody>
        </p:sp>
        <p:sp>
          <p:nvSpPr>
            <p:cNvPr name="TextBox 11" id="11"/>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E0E1DD"/>
                  </a:solidFill>
                  <a:latin typeface="Work Sans Semi-Bold"/>
                  <a:ea typeface="Work Sans Semi-Bold"/>
                  <a:cs typeface="Work Sans Semi-Bold"/>
                  <a:sym typeface="Work Sans Semi-Bold"/>
                </a:rPr>
                <a:t>Mục tiêu và kiến trúc</a:t>
              </a:r>
            </a:p>
          </p:txBody>
        </p:sp>
        <p:sp>
          <p:nvSpPr>
            <p:cNvPr name="TextBox 12" id="12"/>
            <p:cNvSpPr txBox="true"/>
            <p:nvPr/>
          </p:nvSpPr>
          <p:spPr>
            <a:xfrm rot="0">
              <a:off x="0" y="2919027"/>
              <a:ext cx="7264400" cy="12382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E0E1DD"/>
                  </a:solidFill>
                  <a:latin typeface="Work Sans"/>
                  <a:ea typeface="Work Sans"/>
                  <a:cs typeface="Work Sans"/>
                  <a:sym typeface="Work Sans"/>
                </a:rPr>
                <a:t>Tổng quan về hệ thống mạng xã hội</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415A77"/>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E0E1DD"/>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130" r="0" b="-130"/>
              </a:stretch>
            </a:blipFill>
          </p:spPr>
        </p:sp>
      </p:grpSp>
      <p:grpSp>
        <p:nvGrpSpPr>
          <p:cNvPr name="Group 9" id="9"/>
          <p:cNvGrpSpPr/>
          <p:nvPr/>
        </p:nvGrpSpPr>
        <p:grpSpPr>
          <a:xfrm rot="0">
            <a:off x="2105025" y="1562100"/>
            <a:ext cx="5448300" cy="4469238"/>
            <a:chOff x="0" y="0"/>
            <a:chExt cx="7264400" cy="5958984"/>
          </a:xfrm>
        </p:grpSpPr>
        <p:sp>
          <p:nvSpPr>
            <p:cNvPr name="TextBox 10" id="10"/>
            <p:cNvSpPr txBox="true"/>
            <p:nvPr/>
          </p:nvSpPr>
          <p:spPr>
            <a:xfrm rot="0">
              <a:off x="50129" y="4137169"/>
              <a:ext cx="7214271" cy="18218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Dự án này giúp người tham gia </a:t>
              </a:r>
              <a:r>
                <a:rPr lang="en-US" b="true" sz="2100" spc="-115">
                  <a:solidFill>
                    <a:srgbClr val="E0E1DD"/>
                  </a:solidFill>
                  <a:latin typeface="Work Sans Bold"/>
                  <a:ea typeface="Work Sans Bold"/>
                  <a:cs typeface="Work Sans Bold"/>
                  <a:sym typeface="Work Sans Bold"/>
                </a:rPr>
                <a:t>nâng cao kỹ năng SQL</a:t>
              </a:r>
              <a:r>
                <a:rPr lang="en-US" sz="2100" spc="-115">
                  <a:solidFill>
                    <a:srgbClr val="E0E1DD"/>
                  </a:solidFill>
                  <a:latin typeface="Work Sans"/>
                  <a:ea typeface="Work Sans"/>
                  <a:cs typeface="Work Sans"/>
                  <a:sym typeface="Work Sans"/>
                </a:rPr>
                <a:t>, ứng dụng Trigger và Transaction, nhằm hiểu rõ hơn về cơ sở dữ liệu và quản lý dữ liệu hiệu quả.</a:t>
              </a:r>
            </a:p>
          </p:txBody>
        </p:sp>
        <p:sp>
          <p:nvSpPr>
            <p:cNvPr name="TextBox 11" id="11"/>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E0E1DD"/>
                  </a:solidFill>
                  <a:latin typeface="Work Sans Semi-Bold"/>
                  <a:ea typeface="Work Sans Semi-Bold"/>
                  <a:cs typeface="Work Sans Semi-Bold"/>
                  <a:sym typeface="Work Sans Semi-Bold"/>
                </a:rPr>
                <a:t>Mục tiêu cụ thể</a:t>
              </a:r>
            </a:p>
          </p:txBody>
        </p:sp>
        <p:sp>
          <p:nvSpPr>
            <p:cNvPr name="TextBox 12" id="12"/>
            <p:cNvSpPr txBox="true"/>
            <p:nvPr/>
          </p:nvSpPr>
          <p:spPr>
            <a:xfrm rot="0">
              <a:off x="0" y="2919027"/>
              <a:ext cx="7264400" cy="6286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E0E1DD"/>
                  </a:solidFill>
                  <a:latin typeface="Work Sans"/>
                  <a:ea typeface="Work Sans"/>
                  <a:cs typeface="Work Sans"/>
                  <a:sym typeface="Work Sans"/>
                </a:rPr>
                <a:t>Phát triển kỹ năng SQL nâng cao</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415A7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0D1B2A"/>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8892B0"/>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130" r="0" b="-130"/>
              </a:stretch>
            </a:blipFill>
          </p:spPr>
        </p:sp>
      </p:grpSp>
      <p:grpSp>
        <p:nvGrpSpPr>
          <p:cNvPr name="Group 9" id="9"/>
          <p:cNvGrpSpPr/>
          <p:nvPr/>
        </p:nvGrpSpPr>
        <p:grpSpPr>
          <a:xfrm rot="0">
            <a:off x="2105025" y="1562100"/>
            <a:ext cx="5448300" cy="4926438"/>
            <a:chOff x="0" y="0"/>
            <a:chExt cx="7264400" cy="6568584"/>
          </a:xfrm>
        </p:grpSpPr>
        <p:sp>
          <p:nvSpPr>
            <p:cNvPr name="TextBox 10" id="10"/>
            <p:cNvSpPr txBox="true"/>
            <p:nvPr/>
          </p:nvSpPr>
          <p:spPr>
            <a:xfrm rot="0">
              <a:off x="50129" y="4746769"/>
              <a:ext cx="7214271" cy="18218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Hệ thống sẽ mô phỏng các chức năng chính của một mạng xã hội, bao gồm quản lý người dùng, đăng bài viết, bình luận, lượt thích và kết bạn.</a:t>
              </a:r>
            </a:p>
          </p:txBody>
        </p:sp>
        <p:sp>
          <p:nvSpPr>
            <p:cNvPr name="TextBox 11" id="11"/>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E0E1DD"/>
                  </a:solidFill>
                  <a:latin typeface="Work Sans Semi-Bold"/>
                  <a:ea typeface="Work Sans Semi-Bold"/>
                  <a:cs typeface="Work Sans Semi-Bold"/>
                  <a:sym typeface="Work Sans Semi-Bold"/>
                </a:rPr>
                <a:t>Phạm vi hệ thống</a:t>
              </a:r>
            </a:p>
          </p:txBody>
        </p:sp>
        <p:sp>
          <p:nvSpPr>
            <p:cNvPr name="TextBox 12" id="12"/>
            <p:cNvSpPr txBox="true"/>
            <p:nvPr/>
          </p:nvSpPr>
          <p:spPr>
            <a:xfrm rot="0">
              <a:off x="0" y="2919027"/>
              <a:ext cx="7264400" cy="12382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E0E1DD"/>
                  </a:solidFill>
                  <a:latin typeface="Work Sans"/>
                  <a:ea typeface="Work Sans"/>
                  <a:cs typeface="Work Sans"/>
                  <a:sym typeface="Work Sans"/>
                </a:rPr>
                <a:t>Chức năng mô phỏng mạng xã hội</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7140784" cy="8953500"/>
            <a:chOff x="0" y="0"/>
            <a:chExt cx="5041949" cy="2633665"/>
          </a:xfrm>
        </p:grpSpPr>
        <p:sp>
          <p:nvSpPr>
            <p:cNvPr name="Freeform 3" id="3"/>
            <p:cNvSpPr/>
            <p:nvPr/>
          </p:nvSpPr>
          <p:spPr>
            <a:xfrm flipH="false" flipV="false" rot="0">
              <a:off x="0" y="0"/>
              <a:ext cx="5041952" cy="2633665"/>
            </a:xfrm>
            <a:custGeom>
              <a:avLst/>
              <a:gdLst/>
              <a:ahLst/>
              <a:cxnLst/>
              <a:rect r="r" b="b" t="t" l="l"/>
              <a:pathLst>
                <a:path h="2633665" w="5041952">
                  <a:moveTo>
                    <a:pt x="46949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4893535" y="2633665"/>
                  </a:lnTo>
                  <a:cubicBezTo>
                    <a:pt x="4932898" y="2633666"/>
                    <a:pt x="4970648" y="2618029"/>
                    <a:pt x="4998481" y="2590196"/>
                  </a:cubicBezTo>
                  <a:cubicBezTo>
                    <a:pt x="5026315" y="2562363"/>
                    <a:pt x="5041952" y="2524613"/>
                    <a:pt x="5041952" y="2485251"/>
                  </a:cubicBezTo>
                  <a:lnTo>
                    <a:pt x="5041952" y="366141"/>
                  </a:lnTo>
                  <a:cubicBezTo>
                    <a:pt x="5041952" y="329143"/>
                    <a:pt x="5028133" y="293478"/>
                    <a:pt x="5003203" y="266140"/>
                  </a:cubicBezTo>
                  <a:lnTo>
                    <a:pt x="4804660" y="48414"/>
                  </a:lnTo>
                  <a:cubicBezTo>
                    <a:pt x="4776537" y="17574"/>
                    <a:pt x="4736729" y="0"/>
                    <a:pt x="4694992" y="0"/>
                  </a:cubicBezTo>
                  <a:close/>
                </a:path>
              </a:pathLst>
            </a:custGeom>
            <a:solidFill>
              <a:srgbClr val="415A77"/>
            </a:solidFill>
            <a:ln w="12700">
              <a:solidFill>
                <a:srgbClr val="000000"/>
              </a:solidFill>
            </a:ln>
          </p:spPr>
        </p:sp>
      </p:grpSp>
      <p:sp>
        <p:nvSpPr>
          <p:cNvPr name="Freeform 4" id="4"/>
          <p:cNvSpPr/>
          <p:nvPr/>
        </p:nvSpPr>
        <p:spPr>
          <a:xfrm flipH="false" flipV="false" rot="0">
            <a:off x="5589561" y="3618138"/>
            <a:ext cx="11416511" cy="5850962"/>
          </a:xfrm>
          <a:custGeom>
            <a:avLst/>
            <a:gdLst/>
            <a:ahLst/>
            <a:cxnLst/>
            <a:rect r="r" b="b" t="t" l="l"/>
            <a:pathLst>
              <a:path h="5850962" w="11416511">
                <a:moveTo>
                  <a:pt x="0" y="0"/>
                </a:moveTo>
                <a:lnTo>
                  <a:pt x="11416511" y="0"/>
                </a:lnTo>
                <a:lnTo>
                  <a:pt x="11416511" y="5850962"/>
                </a:lnTo>
                <a:lnTo>
                  <a:pt x="0" y="5850962"/>
                </a:lnTo>
                <a:lnTo>
                  <a:pt x="0" y="0"/>
                </a:lnTo>
                <a:close/>
              </a:path>
            </a:pathLst>
          </a:custGeom>
          <a:blipFill>
            <a:blip r:embed="rId2"/>
            <a:stretch>
              <a:fillRect l="0" t="0" r="0" b="0"/>
            </a:stretch>
          </a:blipFill>
        </p:spPr>
      </p:sp>
      <p:grpSp>
        <p:nvGrpSpPr>
          <p:cNvPr name="Group 5" id="5"/>
          <p:cNvGrpSpPr/>
          <p:nvPr/>
        </p:nvGrpSpPr>
        <p:grpSpPr>
          <a:xfrm rot="0">
            <a:off x="1028700" y="1028700"/>
            <a:ext cx="16558108" cy="2897613"/>
            <a:chOff x="0" y="0"/>
            <a:chExt cx="22077478" cy="3863484"/>
          </a:xfrm>
        </p:grpSpPr>
        <p:sp>
          <p:nvSpPr>
            <p:cNvPr name="TextBox 6" id="6"/>
            <p:cNvSpPr txBox="true"/>
            <p:nvPr/>
          </p:nvSpPr>
          <p:spPr>
            <a:xfrm rot="0">
              <a:off x="152349" y="2956069"/>
              <a:ext cx="21925129" cy="9074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Hệ thống được thiết kế với </a:t>
              </a:r>
              <a:r>
                <a:rPr lang="en-US" b="true" sz="2100" spc="-115">
                  <a:solidFill>
                    <a:srgbClr val="E0E1DD"/>
                  </a:solidFill>
                  <a:latin typeface="Work Sans Bold"/>
                  <a:ea typeface="Work Sans Bold"/>
                  <a:cs typeface="Work Sans Bold"/>
                  <a:sym typeface="Work Sans Bold"/>
                </a:rPr>
                <a:t>MySQL</a:t>
              </a:r>
              <a:r>
                <a:rPr lang="en-US" sz="2100" spc="-115">
                  <a:solidFill>
                    <a:srgbClr val="E0E1DD"/>
                  </a:solidFill>
                  <a:latin typeface="Work Sans"/>
                  <a:ea typeface="Work Sans"/>
                  <a:cs typeface="Work Sans"/>
                  <a:sym typeface="Work Sans"/>
                </a:rPr>
                <a:t> là trung tâm, không cần backend/frontend, xử lý logic nghiệp vụ qua </a:t>
              </a:r>
              <a:r>
                <a:rPr lang="en-US" b="true" sz="2100" spc="-115">
                  <a:solidFill>
                    <a:srgbClr val="E0E1DD"/>
                  </a:solidFill>
                  <a:latin typeface="Work Sans Bold"/>
                  <a:ea typeface="Work Sans Bold"/>
                  <a:cs typeface="Work Sans Bold"/>
                  <a:sym typeface="Work Sans Bold"/>
                </a:rPr>
                <a:t>Stored Procedure</a:t>
              </a:r>
              <a:r>
                <a:rPr lang="en-US" sz="2100" spc="-115">
                  <a:solidFill>
                    <a:srgbClr val="E0E1DD"/>
                  </a:solidFill>
                  <a:latin typeface="Work Sans"/>
                  <a:ea typeface="Work Sans"/>
                  <a:cs typeface="Work Sans"/>
                  <a:sym typeface="Work Sans"/>
                </a:rPr>
                <a:t>, </a:t>
              </a:r>
              <a:r>
                <a:rPr lang="en-US" b="true" sz="2100" spc="-115">
                  <a:solidFill>
                    <a:srgbClr val="E0E1DD"/>
                  </a:solidFill>
                  <a:latin typeface="Work Sans Bold"/>
                  <a:ea typeface="Work Sans Bold"/>
                  <a:cs typeface="Work Sans Bold"/>
                  <a:sym typeface="Work Sans Bold"/>
                </a:rPr>
                <a:t>Trigger</a:t>
              </a:r>
              <a:r>
                <a:rPr lang="en-US" sz="2100" spc="-115">
                  <a:solidFill>
                    <a:srgbClr val="E0E1DD"/>
                  </a:solidFill>
                  <a:latin typeface="Work Sans"/>
                  <a:ea typeface="Work Sans"/>
                  <a:cs typeface="Work Sans"/>
                  <a:sym typeface="Work Sans"/>
                </a:rPr>
                <a:t>, và </a:t>
              </a:r>
              <a:r>
                <a:rPr lang="en-US" b="true" sz="2100" spc="-115">
                  <a:solidFill>
                    <a:srgbClr val="E0E1DD"/>
                  </a:solidFill>
                  <a:latin typeface="Work Sans Bold"/>
                  <a:ea typeface="Work Sans Bold"/>
                  <a:cs typeface="Work Sans Bold"/>
                  <a:sym typeface="Work Sans Bold"/>
                </a:rPr>
                <a:t>Transaction</a:t>
              </a:r>
              <a:r>
                <a:rPr lang="en-US" sz="2100" spc="-115">
                  <a:solidFill>
                    <a:srgbClr val="E0E1DD"/>
                  </a:solidFill>
                  <a:latin typeface="Work Sans"/>
                  <a:ea typeface="Work Sans"/>
                  <a:cs typeface="Work Sans"/>
                  <a:sym typeface="Work Sans"/>
                </a:rPr>
                <a:t> để tối ưu hóa hiệu suất.</a:t>
              </a:r>
            </a:p>
          </p:txBody>
        </p:sp>
        <p:sp>
          <p:nvSpPr>
            <p:cNvPr name="TextBox 7" id="7"/>
            <p:cNvSpPr txBox="true"/>
            <p:nvPr/>
          </p:nvSpPr>
          <p:spPr>
            <a:xfrm rot="0">
              <a:off x="0" y="133350"/>
              <a:ext cx="22077478"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E0E1DD"/>
                  </a:solidFill>
                  <a:latin typeface="Work Sans Semi-Bold"/>
                  <a:ea typeface="Work Sans Semi-Bold"/>
                  <a:cs typeface="Work Sans Semi-Bold"/>
                  <a:sym typeface="Work Sans Semi-Bold"/>
                </a:rPr>
                <a:t>Kiến trúc hệ thống</a:t>
              </a:r>
            </a:p>
          </p:txBody>
        </p:sp>
        <p:sp>
          <p:nvSpPr>
            <p:cNvPr name="TextBox 8" id="8"/>
            <p:cNvSpPr txBox="true"/>
            <p:nvPr/>
          </p:nvSpPr>
          <p:spPr>
            <a:xfrm rot="0">
              <a:off x="0" y="1737927"/>
              <a:ext cx="22077478" cy="6286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E0E1DD"/>
                  </a:solidFill>
                  <a:latin typeface="Work Sans"/>
                  <a:ea typeface="Work Sans"/>
                  <a:cs typeface="Work Sans"/>
                  <a:sym typeface="Work Sans"/>
                </a:rPr>
                <a:t>Tập trung vào MySQL và logic</a:t>
              </a:r>
            </a:p>
          </p:txBody>
        </p:sp>
      </p:grpSp>
      <p:sp>
        <p:nvSpPr>
          <p:cNvPr name="TextBox 9" id="9"/>
          <p:cNvSpPr txBox="true"/>
          <p:nvPr/>
        </p:nvSpPr>
        <p:spPr>
          <a:xfrm rot="0">
            <a:off x="-4041616" y="8992850"/>
            <a:ext cx="17140784" cy="476250"/>
          </a:xfrm>
          <a:prstGeom prst="rect">
            <a:avLst/>
          </a:prstGeom>
        </p:spPr>
        <p:txBody>
          <a:bodyPr anchor="t" rtlCol="false" tIns="0" lIns="0" bIns="0" rIns="0">
            <a:spAutoFit/>
          </a:bodyPr>
          <a:lstStyle/>
          <a:p>
            <a:pPr algn="ctr">
              <a:lnSpc>
                <a:spcPts val="3600"/>
              </a:lnSpc>
              <a:spcBef>
                <a:spcPct val="0"/>
              </a:spcBef>
            </a:pPr>
            <a:r>
              <a:rPr lang="en-US" sz="3000" spc="-165">
                <a:solidFill>
                  <a:srgbClr val="E0E1DD"/>
                </a:solidFill>
                <a:latin typeface="Work Sans"/>
                <a:ea typeface="Work Sans"/>
                <a:cs typeface="Work Sans"/>
                <a:sym typeface="Work Sans"/>
              </a:rPr>
              <a:t>ERD mo ta</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1B263B"/>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415A77"/>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415A77"/>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2105025" y="1562100"/>
            <a:ext cx="5448300" cy="4126338"/>
            <a:chOff x="0" y="0"/>
            <a:chExt cx="7264400" cy="5501784"/>
          </a:xfrm>
        </p:grpSpPr>
        <p:sp>
          <p:nvSpPr>
            <p:cNvPr name="TextBox 8" id="8"/>
            <p:cNvSpPr txBox="true"/>
            <p:nvPr/>
          </p:nvSpPr>
          <p:spPr>
            <a:xfrm rot="0">
              <a:off x="50129" y="4137169"/>
              <a:ext cx="7214271" cy="13646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Trigger là một cơ chế tự động thực thi các câu lệnh SQL khi có sự kiện như </a:t>
              </a:r>
              <a:r>
                <a:rPr lang="en-US" b="true" sz="2100" spc="-115">
                  <a:solidFill>
                    <a:srgbClr val="E0E1DD"/>
                  </a:solidFill>
                  <a:latin typeface="Work Sans Bold"/>
                  <a:ea typeface="Work Sans Bold"/>
                  <a:cs typeface="Work Sans Bold"/>
                  <a:sym typeface="Work Sans Bold"/>
                </a:rPr>
                <a:t>INSERT</a:t>
              </a:r>
              <a:r>
                <a:rPr lang="en-US" sz="2100" spc="-115">
                  <a:solidFill>
                    <a:srgbClr val="E0E1DD"/>
                  </a:solidFill>
                  <a:latin typeface="Work Sans"/>
                  <a:ea typeface="Work Sans"/>
                  <a:cs typeface="Work Sans"/>
                  <a:sym typeface="Work Sans"/>
                </a:rPr>
                <a:t>, </a:t>
              </a:r>
              <a:r>
                <a:rPr lang="en-US" b="true" sz="2100" spc="-115">
                  <a:solidFill>
                    <a:srgbClr val="E0E1DD"/>
                  </a:solidFill>
                  <a:latin typeface="Work Sans Bold"/>
                  <a:ea typeface="Work Sans Bold"/>
                  <a:cs typeface="Work Sans Bold"/>
                  <a:sym typeface="Work Sans Bold"/>
                </a:rPr>
                <a:t>UPDATE</a:t>
              </a:r>
              <a:r>
                <a:rPr lang="en-US" sz="2100" spc="-115">
                  <a:solidFill>
                    <a:srgbClr val="E0E1DD"/>
                  </a:solidFill>
                  <a:latin typeface="Work Sans"/>
                  <a:ea typeface="Work Sans"/>
                  <a:cs typeface="Work Sans"/>
                  <a:sym typeface="Work Sans"/>
                </a:rPr>
                <a:t>, hoặc </a:t>
              </a:r>
              <a:r>
                <a:rPr lang="en-US" b="true" sz="2100" spc="-115">
                  <a:solidFill>
                    <a:srgbClr val="E0E1DD"/>
                  </a:solidFill>
                  <a:latin typeface="Work Sans Bold"/>
                  <a:ea typeface="Work Sans Bold"/>
                  <a:cs typeface="Work Sans Bold"/>
                  <a:sym typeface="Work Sans Bold"/>
                </a:rPr>
                <a:t>DELETE</a:t>
              </a:r>
              <a:r>
                <a:rPr lang="en-US" sz="2100" spc="-115">
                  <a:solidFill>
                    <a:srgbClr val="E0E1DD"/>
                  </a:solidFill>
                  <a:latin typeface="Work Sans"/>
                  <a:ea typeface="Work Sans"/>
                  <a:cs typeface="Work Sans"/>
                  <a:sym typeface="Work Sans"/>
                </a:rPr>
                <a:t> xảy ra trong cơ sở dữ liệu.</a:t>
              </a:r>
            </a:p>
          </p:txBody>
        </p:sp>
        <p:sp>
          <p:nvSpPr>
            <p:cNvPr name="TextBox 9" id="9"/>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E0E1DD"/>
                  </a:solidFill>
                  <a:latin typeface="Work Sans Semi-Bold"/>
                  <a:ea typeface="Work Sans Semi-Bold"/>
                  <a:cs typeface="Work Sans Semi-Bold"/>
                  <a:sym typeface="Work Sans Semi-Bold"/>
                </a:rPr>
                <a:t>Khái niệm Trigger</a:t>
              </a:r>
            </a:p>
          </p:txBody>
        </p:sp>
        <p:sp>
          <p:nvSpPr>
            <p:cNvPr name="TextBox 10" id="10"/>
            <p:cNvSpPr txBox="true"/>
            <p:nvPr/>
          </p:nvSpPr>
          <p:spPr>
            <a:xfrm rot="0">
              <a:off x="0" y="2919027"/>
              <a:ext cx="7264400" cy="6286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E0E1DD"/>
                  </a:solidFill>
                  <a:latin typeface="Work Sans"/>
                  <a:ea typeface="Work Sans"/>
                  <a:cs typeface="Work Sans"/>
                  <a:sym typeface="Work Sans"/>
                </a:rPr>
                <a:t>Cơ chế tự động thực thi dữ liệu</a:t>
              </a:r>
            </a:p>
          </p:txBody>
        </p:sp>
      </p:grpSp>
      <p:grpSp>
        <p:nvGrpSpPr>
          <p:cNvPr name="Group 11" id="11"/>
          <p:cNvGrpSpPr/>
          <p:nvPr/>
        </p:nvGrpSpPr>
        <p:grpSpPr>
          <a:xfrm rot="0">
            <a:off x="10734675" y="1562100"/>
            <a:ext cx="5448300" cy="4469238"/>
            <a:chOff x="0" y="0"/>
            <a:chExt cx="7264400" cy="5958984"/>
          </a:xfrm>
        </p:grpSpPr>
        <p:sp>
          <p:nvSpPr>
            <p:cNvPr name="TextBox 12" id="12"/>
            <p:cNvSpPr txBox="true"/>
            <p:nvPr/>
          </p:nvSpPr>
          <p:spPr>
            <a:xfrm rot="0">
              <a:off x="50129" y="4137169"/>
              <a:ext cx="7214271" cy="18218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Transaction là một nhóm câu lệnh SQL thực thi như một đơn vị, đảm bảo tính toàn vẹn dữ liệu và tuân theo nguyên lý ACID, tránh lỗi không nhất quán.</a:t>
              </a:r>
            </a:p>
          </p:txBody>
        </p:sp>
        <p:sp>
          <p:nvSpPr>
            <p:cNvPr name="TextBox 13" id="13"/>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E0E1DD"/>
                  </a:solidFill>
                  <a:latin typeface="Work Sans Semi-Bold"/>
                  <a:ea typeface="Work Sans Semi-Bold"/>
                  <a:cs typeface="Work Sans Semi-Bold"/>
                  <a:sym typeface="Work Sans Semi-Bold"/>
                </a:rPr>
                <a:t>Khái niệm Transaction</a:t>
              </a:r>
            </a:p>
          </p:txBody>
        </p:sp>
        <p:sp>
          <p:nvSpPr>
            <p:cNvPr name="TextBox 14" id="14"/>
            <p:cNvSpPr txBox="true"/>
            <p:nvPr/>
          </p:nvSpPr>
          <p:spPr>
            <a:xfrm rot="0">
              <a:off x="0" y="2919027"/>
              <a:ext cx="7264400" cy="6286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E0E1DD"/>
                  </a:solidFill>
                  <a:latin typeface="Work Sans"/>
                  <a:ea typeface="Work Sans"/>
                  <a:cs typeface="Work Sans"/>
                  <a:sym typeface="Work Sans"/>
                </a:rPr>
                <a:t>Thực thi các câu lệnh SQL</a:t>
              </a:r>
            </a:p>
          </p:txBody>
        </p:sp>
      </p:grpSp>
    </p:spTree>
  </p:cSld>
  <p:clrMapOvr>
    <a:masterClrMapping/>
  </p:clrMapOvr>
</p:sld>
</file>

<file path=ppt/slides/slide11.xml><?xml version="1.0" encoding="utf-8"?>
<p:sld xmlns:p="http://schemas.openxmlformats.org/presentationml/2006/main" xmlns:a="http://schemas.openxmlformats.org/drawingml/2006/main">
  <p:cSld>
    <p:bg>
      <p:bgPr>
        <a:solidFill>
          <a:srgbClr val="1B263B"/>
        </a:solidFill>
      </p:bgPr>
    </p:bg>
    <p:spTree>
      <p:nvGrpSpPr>
        <p:cNvPr id="1" name=""/>
        <p:cNvGrpSpPr/>
        <p:nvPr/>
      </p:nvGrpSpPr>
      <p:grpSpPr>
        <a:xfrm>
          <a:off x="0" y="0"/>
          <a:ext cx="0" cy="0"/>
          <a:chOff x="0" y="0"/>
          <a:chExt cx="0" cy="0"/>
        </a:xfrm>
      </p:grpSpPr>
      <p:grpSp>
        <p:nvGrpSpPr>
          <p:cNvPr name="Group 2" id="2"/>
          <p:cNvGrpSpPr/>
          <p:nvPr/>
        </p:nvGrpSpPr>
        <p:grpSpPr>
          <a:xfrm rot="0">
            <a:off x="682479"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415A77"/>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E0E1DD"/>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758976" y="1190507"/>
            <a:ext cx="5920185" cy="7441038"/>
            <a:chOff x="0" y="0"/>
            <a:chExt cx="7893580" cy="9921384"/>
          </a:xfrm>
        </p:grpSpPr>
        <p:sp>
          <p:nvSpPr>
            <p:cNvPr name="TextBox 8" id="8"/>
            <p:cNvSpPr txBox="true"/>
            <p:nvPr/>
          </p:nvSpPr>
          <p:spPr>
            <a:xfrm rot="0">
              <a:off x="54471" y="5356369"/>
              <a:ext cx="7839109" cy="45650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Hướng</a:t>
              </a:r>
              <a:r>
                <a:rPr lang="en-US" sz="2100" spc="-115">
                  <a:solidFill>
                    <a:srgbClr val="E0E1DD"/>
                  </a:solidFill>
                  <a:latin typeface="Work Sans"/>
                  <a:ea typeface="Work Sans"/>
                  <a:cs typeface="Work Sans"/>
                  <a:sym typeface="Work Sans"/>
                </a:rPr>
                <a:t> làm</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Stored Procedure sp_register_user</a:t>
              </a:r>
            </a:p>
            <a:p>
              <a:pPr algn="l" marL="906780" indent="-302260" lvl="2">
                <a:lnSpc>
                  <a:spcPts val="2730"/>
                </a:lnSpc>
                <a:buFont typeface="Arial"/>
                <a:buChar char="⚬"/>
              </a:pPr>
              <a:r>
                <a:rPr lang="en-US" sz="2100" spc="-115">
                  <a:solidFill>
                    <a:srgbClr val="E0E1DD"/>
                  </a:solidFill>
                  <a:latin typeface="Work Sans"/>
                  <a:ea typeface="Work Sans"/>
                  <a:cs typeface="Work Sans"/>
                  <a:sym typeface="Work Sans"/>
                </a:rPr>
                <a:t>Kiểm tra trùng username, ema</a:t>
              </a:r>
              <a:r>
                <a:rPr lang="en-US" sz="2100" spc="-115">
                  <a:solidFill>
                    <a:srgbClr val="E0E1DD"/>
                  </a:solidFill>
                  <a:latin typeface="Work Sans"/>
                  <a:ea typeface="Work Sans"/>
                  <a:cs typeface="Work Sans"/>
                  <a:sym typeface="Work Sans"/>
                </a:rPr>
                <a:t>i</a:t>
              </a:r>
              <a:r>
                <a:rPr lang="en-US" sz="2100" spc="-115">
                  <a:solidFill>
                    <a:srgbClr val="E0E1DD"/>
                  </a:solidFill>
                  <a:latin typeface="Work Sans"/>
                  <a:ea typeface="Work Sans"/>
                  <a:cs typeface="Work Sans"/>
                  <a:sym typeface="Work Sans"/>
                </a:rPr>
                <a:t>l</a:t>
              </a:r>
            </a:p>
            <a:p>
              <a:pPr algn="l" marL="906780" indent="-302260" lvl="2">
                <a:lnSpc>
                  <a:spcPts val="2730"/>
                </a:lnSpc>
                <a:buFont typeface="Arial"/>
                <a:buChar char="⚬"/>
              </a:pPr>
              <a:r>
                <a:rPr lang="en-US" sz="2100" spc="-115">
                  <a:solidFill>
                    <a:srgbClr val="E0E1DD"/>
                  </a:solidFill>
                  <a:latin typeface="Work Sans"/>
                  <a:ea typeface="Work Sans"/>
                  <a:cs typeface="Work Sans"/>
                  <a:sym typeface="Work Sans"/>
                </a:rPr>
                <a:t>D</a:t>
              </a:r>
              <a:r>
                <a:rPr lang="en-US" sz="2100" spc="-115">
                  <a:solidFill>
                    <a:srgbClr val="E0E1DD"/>
                  </a:solidFill>
                  <a:latin typeface="Work Sans"/>
                  <a:ea typeface="Work Sans"/>
                  <a:cs typeface="Work Sans"/>
                  <a:sym typeface="Work Sans"/>
                </a:rPr>
                <a:t>ùng</a:t>
              </a:r>
              <a:r>
                <a:rPr lang="en-US" sz="2100" spc="-115">
                  <a:solidFill>
                    <a:srgbClr val="E0E1DD"/>
                  </a:solidFill>
                  <a:latin typeface="Work Sans"/>
                  <a:ea typeface="Work Sans"/>
                  <a:cs typeface="Work Sans"/>
                  <a:sym typeface="Work Sans"/>
                </a:rPr>
                <a:t> SIGNAL để</a:t>
              </a:r>
              <a:r>
                <a:rPr lang="en-US" sz="2100" spc="-115">
                  <a:solidFill>
                    <a:srgbClr val="E0E1DD"/>
                  </a:solidFill>
                  <a:latin typeface="Work Sans"/>
                  <a:ea typeface="Work Sans"/>
                  <a:cs typeface="Work Sans"/>
                  <a:sym typeface="Work Sans"/>
                </a:rPr>
                <a:t> b</a:t>
              </a:r>
              <a:r>
                <a:rPr lang="en-US" sz="2100" spc="-115">
                  <a:solidFill>
                    <a:srgbClr val="E0E1DD"/>
                  </a:solidFill>
                  <a:latin typeface="Work Sans"/>
                  <a:ea typeface="Work Sans"/>
                  <a:cs typeface="Work Sans"/>
                  <a:sym typeface="Work Sans"/>
                </a:rPr>
                <a:t>áo</a:t>
              </a:r>
              <a:r>
                <a:rPr lang="en-US" sz="2100" spc="-115">
                  <a:solidFill>
                    <a:srgbClr val="E0E1DD"/>
                  </a:solidFill>
                  <a:latin typeface="Work Sans"/>
                  <a:ea typeface="Work Sans"/>
                  <a:cs typeface="Work Sans"/>
                  <a:sym typeface="Work Sans"/>
                </a:rPr>
                <a:t> </a:t>
              </a:r>
              <a:r>
                <a:rPr lang="en-US" sz="2100" spc="-115">
                  <a:solidFill>
                    <a:srgbClr val="E0E1DD"/>
                  </a:solidFill>
                  <a:latin typeface="Work Sans"/>
                  <a:ea typeface="Work Sans"/>
                  <a:cs typeface="Work Sans"/>
                  <a:sym typeface="Work Sans"/>
                </a:rPr>
                <a:t>lỗ</a:t>
              </a:r>
              <a:r>
                <a:rPr lang="en-US" sz="2100" spc="-115">
                  <a:solidFill>
                    <a:srgbClr val="E0E1DD"/>
                  </a:solidFill>
                  <a:latin typeface="Work Sans"/>
                  <a:ea typeface="Work Sans"/>
                  <a:cs typeface="Work Sans"/>
                  <a:sym typeface="Work Sans"/>
                </a:rPr>
                <a:t>i</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Trigger</a:t>
              </a:r>
              <a:r>
                <a:rPr lang="en-US" sz="2100" spc="-115">
                  <a:solidFill>
                    <a:srgbClr val="E0E1DD"/>
                  </a:solidFill>
                  <a:latin typeface="Work Sans"/>
                  <a:ea typeface="Work Sans"/>
                  <a:cs typeface="Work Sans"/>
                  <a:sym typeface="Work Sans"/>
                </a:rPr>
                <a:t> </a:t>
              </a:r>
              <a:r>
                <a:rPr lang="en-US" sz="2100" spc="-115">
                  <a:solidFill>
                    <a:srgbClr val="E0E1DD"/>
                  </a:solidFill>
                  <a:latin typeface="Work Sans"/>
                  <a:ea typeface="Work Sans"/>
                  <a:cs typeface="Work Sans"/>
                  <a:sym typeface="Work Sans"/>
                </a:rPr>
                <a:t>AFTER INSERT trê</a:t>
              </a:r>
              <a:r>
                <a:rPr lang="en-US" sz="2100" spc="-115">
                  <a:solidFill>
                    <a:srgbClr val="E0E1DD"/>
                  </a:solidFill>
                  <a:latin typeface="Work Sans"/>
                  <a:ea typeface="Work Sans"/>
                  <a:cs typeface="Work Sans"/>
                  <a:sym typeface="Work Sans"/>
                </a:rPr>
                <a:t>n</a:t>
              </a:r>
              <a:r>
                <a:rPr lang="en-US" sz="2100" spc="-115">
                  <a:solidFill>
                    <a:srgbClr val="E0E1DD"/>
                  </a:solidFill>
                  <a:latin typeface="Work Sans"/>
                  <a:ea typeface="Work Sans"/>
                  <a:cs typeface="Work Sans"/>
                  <a:sym typeface="Work Sans"/>
                </a:rPr>
                <a:t> Users</a:t>
              </a:r>
            </a:p>
            <a:p>
              <a:pPr algn="l" marL="906780" indent="-302260" lvl="2">
                <a:lnSpc>
                  <a:spcPts val="2730"/>
                </a:lnSpc>
                <a:buFont typeface="Arial"/>
                <a:buChar char="⚬"/>
              </a:pPr>
              <a:r>
                <a:rPr lang="en-US" sz="2100" spc="-115">
                  <a:solidFill>
                    <a:srgbClr val="E0E1DD"/>
                  </a:solidFill>
                  <a:latin typeface="Work Sans"/>
                  <a:ea typeface="Work Sans"/>
                  <a:cs typeface="Work Sans"/>
                  <a:sym typeface="Work Sans"/>
                </a:rPr>
                <a:t>G</a:t>
              </a:r>
              <a:r>
                <a:rPr lang="en-US" sz="2100" spc="-115">
                  <a:solidFill>
                    <a:srgbClr val="E0E1DD"/>
                  </a:solidFill>
                  <a:latin typeface="Work Sans"/>
                  <a:ea typeface="Work Sans"/>
                  <a:cs typeface="Work Sans"/>
                  <a:sym typeface="Work Sans"/>
                </a:rPr>
                <a:t>h</a:t>
              </a:r>
              <a:r>
                <a:rPr lang="en-US" sz="2100" spc="-115">
                  <a:solidFill>
                    <a:srgbClr val="E0E1DD"/>
                  </a:solidFill>
                  <a:latin typeface="Work Sans"/>
                  <a:ea typeface="Work Sans"/>
                  <a:cs typeface="Work Sans"/>
                  <a:sym typeface="Work Sans"/>
                </a:rPr>
                <a:t>i</a:t>
              </a:r>
              <a:r>
                <a:rPr lang="en-US" sz="2100" spc="-115">
                  <a:solidFill>
                    <a:srgbClr val="E0E1DD"/>
                  </a:solidFill>
                  <a:latin typeface="Work Sans"/>
                  <a:ea typeface="Work Sans"/>
                  <a:cs typeface="Work Sans"/>
                  <a:sym typeface="Work Sans"/>
                </a:rPr>
                <a:t> l</a:t>
              </a:r>
              <a:r>
                <a:rPr lang="en-US" sz="2100" spc="-115">
                  <a:solidFill>
                    <a:srgbClr val="E0E1DD"/>
                  </a:solidFill>
                  <a:latin typeface="Work Sans"/>
                  <a:ea typeface="Work Sans"/>
                  <a:cs typeface="Work Sans"/>
                  <a:sym typeface="Work Sans"/>
                </a:rPr>
                <a:t>og đă</a:t>
              </a:r>
              <a:r>
                <a:rPr lang="en-US" sz="2100" spc="-115">
                  <a:solidFill>
                    <a:srgbClr val="E0E1DD"/>
                  </a:solidFill>
                  <a:latin typeface="Work Sans"/>
                  <a:ea typeface="Work Sans"/>
                  <a:cs typeface="Work Sans"/>
                  <a:sym typeface="Work Sans"/>
                </a:rPr>
                <a:t>n</a:t>
              </a:r>
              <a:r>
                <a:rPr lang="en-US" sz="2100" spc="-115">
                  <a:solidFill>
                    <a:srgbClr val="E0E1DD"/>
                  </a:solidFill>
                  <a:latin typeface="Work Sans"/>
                  <a:ea typeface="Work Sans"/>
                  <a:cs typeface="Work Sans"/>
                  <a:sym typeface="Work Sans"/>
                </a:rPr>
                <a:t>g</a:t>
              </a:r>
              <a:r>
                <a:rPr lang="en-US" sz="2100" spc="-115">
                  <a:solidFill>
                    <a:srgbClr val="E0E1DD"/>
                  </a:solidFill>
                  <a:latin typeface="Work Sans"/>
                  <a:ea typeface="Work Sans"/>
                  <a:cs typeface="Work Sans"/>
                  <a:sym typeface="Work Sans"/>
                </a:rPr>
                <a:t> </a:t>
              </a:r>
              <a:r>
                <a:rPr lang="en-US" sz="2100" spc="-115">
                  <a:solidFill>
                    <a:srgbClr val="E0E1DD"/>
                  </a:solidFill>
                  <a:latin typeface="Work Sans"/>
                  <a:ea typeface="Work Sans"/>
                  <a:cs typeface="Work Sans"/>
                  <a:sym typeface="Work Sans"/>
                </a:rPr>
                <a:t>ký</a:t>
              </a:r>
              <a:r>
                <a:rPr lang="en-US" sz="2100" spc="-115">
                  <a:solidFill>
                    <a:srgbClr val="E0E1DD"/>
                  </a:solidFill>
                  <a:latin typeface="Work Sans"/>
                  <a:ea typeface="Work Sans"/>
                  <a:cs typeface="Work Sans"/>
                  <a:sym typeface="Work Sans"/>
                </a:rPr>
                <a:t> và</a:t>
              </a:r>
              <a:r>
                <a:rPr lang="en-US" sz="2100" spc="-115">
                  <a:solidFill>
                    <a:srgbClr val="E0E1DD"/>
                  </a:solidFill>
                  <a:latin typeface="Work Sans"/>
                  <a:ea typeface="Work Sans"/>
                  <a:cs typeface="Work Sans"/>
                  <a:sym typeface="Work Sans"/>
                </a:rPr>
                <a:t>o</a:t>
              </a:r>
              <a:r>
                <a:rPr lang="en-US" sz="2100" spc="-115">
                  <a:solidFill>
                    <a:srgbClr val="E0E1DD"/>
                  </a:solidFill>
                  <a:latin typeface="Work Sans"/>
                  <a:ea typeface="Work Sans"/>
                  <a:cs typeface="Work Sans"/>
                  <a:sym typeface="Work Sans"/>
                </a:rPr>
                <a:t> b</a:t>
              </a:r>
              <a:r>
                <a:rPr lang="en-US" sz="2100" spc="-115">
                  <a:solidFill>
                    <a:srgbClr val="E0E1DD"/>
                  </a:solidFill>
                  <a:latin typeface="Work Sans"/>
                  <a:ea typeface="Work Sans"/>
                  <a:cs typeface="Work Sans"/>
                  <a:sym typeface="Work Sans"/>
                </a:rPr>
                <a:t>ả</a:t>
              </a:r>
              <a:r>
                <a:rPr lang="en-US" sz="2100" spc="-115">
                  <a:solidFill>
                    <a:srgbClr val="E0E1DD"/>
                  </a:solidFill>
                  <a:latin typeface="Work Sans"/>
                  <a:ea typeface="Work Sans"/>
                  <a:cs typeface="Work Sans"/>
                  <a:sym typeface="Work Sans"/>
                </a:rPr>
                <a:t>n</a:t>
              </a:r>
              <a:r>
                <a:rPr lang="en-US" sz="2100" spc="-115">
                  <a:solidFill>
                    <a:srgbClr val="E0E1DD"/>
                  </a:solidFill>
                  <a:latin typeface="Work Sans"/>
                  <a:ea typeface="Work Sans"/>
                  <a:cs typeface="Work Sans"/>
                  <a:sym typeface="Work Sans"/>
                </a:rPr>
                <a:t>g</a:t>
              </a:r>
              <a:r>
                <a:rPr lang="en-US" sz="2100" spc="-115">
                  <a:solidFill>
                    <a:srgbClr val="E0E1DD"/>
                  </a:solidFill>
                  <a:latin typeface="Work Sans"/>
                  <a:ea typeface="Work Sans"/>
                  <a:cs typeface="Work Sans"/>
                  <a:sym typeface="Work Sans"/>
                </a:rPr>
                <a:t> </a:t>
              </a:r>
              <a:r>
                <a:rPr lang="en-US" sz="2100" spc="-115">
                  <a:solidFill>
                    <a:srgbClr val="E0E1DD"/>
                  </a:solidFill>
                  <a:latin typeface="Work Sans"/>
                  <a:ea typeface="Work Sans"/>
                  <a:cs typeface="Work Sans"/>
                  <a:sym typeface="Work Sans"/>
                </a:rPr>
                <a:t>user_log</a:t>
              </a:r>
            </a:p>
            <a:p>
              <a:pPr algn="l" marL="0" indent="0" lvl="0">
                <a:lnSpc>
                  <a:spcPts val="2730"/>
                </a:lnSpc>
              </a:pPr>
              <a:r>
                <a:rPr lang="en-US" sz="2100" spc="-115">
                  <a:solidFill>
                    <a:srgbClr val="E0E1DD"/>
                  </a:solidFill>
                  <a:latin typeface="Work Sans"/>
                  <a:ea typeface="Work Sans"/>
                  <a:cs typeface="Work Sans"/>
                  <a:sym typeface="Work Sans"/>
                </a:rPr>
                <a:t>Demo</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Đăng ký thành công → có log</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Đăng ký trùng → báo lỗi, không thêm dữ liệu</a:t>
              </a:r>
            </a:p>
            <a:p>
              <a:pPr algn="l" marL="0" indent="0" lvl="0">
                <a:lnSpc>
                  <a:spcPts val="2730"/>
                </a:lnSpc>
              </a:pPr>
            </a:p>
          </p:txBody>
        </p:sp>
        <p:sp>
          <p:nvSpPr>
            <p:cNvPr name="TextBox 9" id="9"/>
            <p:cNvSpPr txBox="true"/>
            <p:nvPr/>
          </p:nvSpPr>
          <p:spPr>
            <a:xfrm rot="0">
              <a:off x="0" y="133350"/>
              <a:ext cx="7893580" cy="2465917"/>
            </a:xfrm>
            <a:prstGeom prst="rect">
              <a:avLst/>
            </a:prstGeom>
          </p:spPr>
          <p:txBody>
            <a:bodyPr anchor="t" rtlCol="false" tIns="0" lIns="0" bIns="0" rIns="0">
              <a:spAutoFit/>
            </a:bodyPr>
            <a:lstStyle/>
            <a:p>
              <a:pPr algn="l" marL="0" indent="0" lvl="0">
                <a:lnSpc>
                  <a:spcPts val="6999"/>
                </a:lnSpc>
              </a:pPr>
              <a:r>
                <a:rPr lang="en-US" b="true" sz="6999" spc="-384">
                  <a:solidFill>
                    <a:srgbClr val="E0E1DD"/>
                  </a:solidFill>
                  <a:latin typeface="Work Sans Semi-Bold"/>
                  <a:ea typeface="Work Sans Semi-Bold"/>
                  <a:cs typeface="Work Sans Semi-Bold"/>
                  <a:sym typeface="Work Sans Semi-Bold"/>
                </a:rPr>
                <a:t>BÀI</a:t>
              </a:r>
              <a:r>
                <a:rPr lang="en-US" b="true" sz="6999" spc="-384" strike="noStrike" u="none">
                  <a:solidFill>
                    <a:srgbClr val="E0E1DD"/>
                  </a:solidFill>
                  <a:latin typeface="Work Sans Semi-Bold"/>
                  <a:ea typeface="Work Sans Semi-Bold"/>
                  <a:cs typeface="Work Sans Semi-Bold"/>
                  <a:sym typeface="Work Sans Semi-Bold"/>
                </a:rPr>
                <a:t> </a:t>
              </a:r>
              <a:r>
                <a:rPr lang="en-US" b="true" sz="6999" spc="-384" strike="noStrike" u="none">
                  <a:solidFill>
                    <a:srgbClr val="E0E1DD"/>
                  </a:solidFill>
                  <a:latin typeface="Work Sans Semi-Bold"/>
                  <a:ea typeface="Work Sans Semi-Bold"/>
                  <a:cs typeface="Work Sans Semi-Bold"/>
                  <a:sym typeface="Work Sans Semi-Bold"/>
                </a:rPr>
                <a:t>1:</a:t>
              </a:r>
              <a:r>
                <a:rPr lang="en-US" b="true" sz="6999" spc="-384" strike="noStrike" u="none">
                  <a:solidFill>
                    <a:srgbClr val="E0E1DD"/>
                  </a:solidFill>
                  <a:latin typeface="Work Sans Semi-Bold"/>
                  <a:ea typeface="Work Sans Semi-Bold"/>
                  <a:cs typeface="Work Sans Semi-Bold"/>
                  <a:sym typeface="Work Sans Semi-Bold"/>
                </a:rPr>
                <a:t> </a:t>
              </a:r>
              <a:r>
                <a:rPr lang="en-US" b="true" sz="6999" spc="-384" strike="noStrike" u="none">
                  <a:solidFill>
                    <a:srgbClr val="E0E1DD"/>
                  </a:solidFill>
                  <a:latin typeface="Work Sans Semi-Bold"/>
                  <a:ea typeface="Work Sans Semi-Bold"/>
                  <a:cs typeface="Work Sans Semi-Bold"/>
                  <a:sym typeface="Work Sans Semi-Bold"/>
                </a:rPr>
                <a:t>ĐĂNG KÝ THÀNH VIÊN</a:t>
              </a:r>
            </a:p>
          </p:txBody>
        </p:sp>
        <p:sp>
          <p:nvSpPr>
            <p:cNvPr name="TextBox 10" id="10"/>
            <p:cNvSpPr txBox="true"/>
            <p:nvPr/>
          </p:nvSpPr>
          <p:spPr>
            <a:xfrm rot="0">
              <a:off x="0" y="2919027"/>
              <a:ext cx="7893580" cy="1847850"/>
            </a:xfrm>
            <a:prstGeom prst="rect">
              <a:avLst/>
            </a:prstGeom>
          </p:spPr>
          <p:txBody>
            <a:bodyPr anchor="t" rtlCol="false" tIns="0" lIns="0" bIns="0" rIns="0">
              <a:spAutoFit/>
            </a:bodyPr>
            <a:lstStyle/>
            <a:p>
              <a:pPr algn="l">
                <a:lnSpc>
                  <a:spcPts val="3600"/>
                </a:lnSpc>
                <a:spcBef>
                  <a:spcPct val="0"/>
                </a:spcBef>
              </a:pPr>
              <a:r>
                <a:rPr lang="en-US" sz="3000" spc="-165">
                  <a:solidFill>
                    <a:srgbClr val="E0E1DD"/>
                  </a:solidFill>
                  <a:latin typeface="Work Sans"/>
                  <a:ea typeface="Work Sans"/>
                  <a:cs typeface="Work Sans"/>
                  <a:sym typeface="Work Sans"/>
                </a:rPr>
                <a:t>Mụ</a:t>
              </a:r>
              <a:r>
                <a:rPr lang="en-US" sz="3000" spc="-165" strike="noStrike" u="none">
                  <a:solidFill>
                    <a:srgbClr val="E0E1DD"/>
                  </a:solidFill>
                  <a:latin typeface="Work Sans"/>
                  <a:ea typeface="Work Sans"/>
                  <a:cs typeface="Work Sans"/>
                  <a:sym typeface="Work Sans"/>
                </a:rPr>
                <a:t>c </a:t>
              </a:r>
              <a:r>
                <a:rPr lang="en-US" sz="3000" spc="-165" strike="noStrike" u="none">
                  <a:solidFill>
                    <a:srgbClr val="E0E1DD"/>
                  </a:solidFill>
                  <a:latin typeface="Work Sans"/>
                  <a:ea typeface="Work Sans"/>
                  <a:cs typeface="Work Sans"/>
                  <a:sym typeface="Work Sans"/>
                </a:rPr>
                <a:t>t</a:t>
              </a:r>
              <a:r>
                <a:rPr lang="en-US" sz="3000" spc="-165" strike="noStrike" u="none">
                  <a:solidFill>
                    <a:srgbClr val="E0E1DD"/>
                  </a:solidFill>
                  <a:latin typeface="Work Sans"/>
                  <a:ea typeface="Work Sans"/>
                  <a:cs typeface="Work Sans"/>
                  <a:sym typeface="Work Sans"/>
                </a:rPr>
                <a:t>i</a:t>
              </a:r>
              <a:r>
                <a:rPr lang="en-US" sz="3000" spc="-165" strike="noStrike" u="none">
                  <a:solidFill>
                    <a:srgbClr val="E0E1DD"/>
                  </a:solidFill>
                  <a:latin typeface="Work Sans"/>
                  <a:ea typeface="Work Sans"/>
                  <a:cs typeface="Work Sans"/>
                  <a:sym typeface="Work Sans"/>
                </a:rPr>
                <a:t>ê</a:t>
              </a:r>
              <a:r>
                <a:rPr lang="en-US" sz="3000" spc="-165" strike="noStrike" u="none">
                  <a:solidFill>
                    <a:srgbClr val="E0E1DD"/>
                  </a:solidFill>
                  <a:latin typeface="Work Sans"/>
                  <a:ea typeface="Work Sans"/>
                  <a:cs typeface="Work Sans"/>
                  <a:sym typeface="Work Sans"/>
                </a:rPr>
                <a:t>u : </a:t>
              </a:r>
              <a:r>
                <a:rPr lang="en-US" sz="3000" spc="-165" strike="noStrike" u="none">
                  <a:solidFill>
                    <a:srgbClr val="E0E1DD"/>
                  </a:solidFill>
                  <a:latin typeface="Work Sans"/>
                  <a:ea typeface="Work Sans"/>
                  <a:cs typeface="Work Sans"/>
                  <a:sym typeface="Work Sans"/>
                </a:rPr>
                <a:t>Tạo</a:t>
              </a:r>
              <a:r>
                <a:rPr lang="en-US" sz="3000" spc="-165" strike="noStrike" u="none">
                  <a:solidFill>
                    <a:srgbClr val="E0E1DD"/>
                  </a:solidFill>
                  <a:latin typeface="Work Sans"/>
                  <a:ea typeface="Work Sans"/>
                  <a:cs typeface="Work Sans"/>
                  <a:sym typeface="Work Sans"/>
                </a:rPr>
                <a:t> </a:t>
              </a:r>
              <a:r>
                <a:rPr lang="en-US" sz="3000" spc="-165" strike="noStrike" u="none">
                  <a:solidFill>
                    <a:srgbClr val="E0E1DD"/>
                  </a:solidFill>
                  <a:latin typeface="Work Sans"/>
                  <a:ea typeface="Work Sans"/>
                  <a:cs typeface="Work Sans"/>
                  <a:sym typeface="Work Sans"/>
                </a:rPr>
                <a:t>tài k</a:t>
              </a:r>
              <a:r>
                <a:rPr lang="en-US" sz="3000" spc="-165" strike="noStrike" u="none">
                  <a:solidFill>
                    <a:srgbClr val="E0E1DD"/>
                  </a:solidFill>
                  <a:latin typeface="Work Sans"/>
                  <a:ea typeface="Work Sans"/>
                  <a:cs typeface="Work Sans"/>
                  <a:sym typeface="Work Sans"/>
                </a:rPr>
                <a:t>h</a:t>
              </a:r>
              <a:r>
                <a:rPr lang="en-US" sz="3000" spc="-165" strike="noStrike" u="none">
                  <a:solidFill>
                    <a:srgbClr val="E0E1DD"/>
                  </a:solidFill>
                  <a:latin typeface="Work Sans"/>
                  <a:ea typeface="Work Sans"/>
                  <a:cs typeface="Work Sans"/>
                  <a:sym typeface="Work Sans"/>
                </a:rPr>
                <a:t>oả</a:t>
              </a:r>
              <a:r>
                <a:rPr lang="en-US" sz="3000" spc="-165" strike="noStrike" u="none">
                  <a:solidFill>
                    <a:srgbClr val="E0E1DD"/>
                  </a:solidFill>
                  <a:latin typeface="Work Sans"/>
                  <a:ea typeface="Work Sans"/>
                  <a:cs typeface="Work Sans"/>
                  <a:sym typeface="Work Sans"/>
                </a:rPr>
                <a:t>n ng</a:t>
              </a:r>
              <a:r>
                <a:rPr lang="en-US" sz="3000" spc="-165" strike="noStrike" u="none">
                  <a:solidFill>
                    <a:srgbClr val="E0E1DD"/>
                  </a:solidFill>
                  <a:latin typeface="Work Sans"/>
                  <a:ea typeface="Work Sans"/>
                  <a:cs typeface="Work Sans"/>
                  <a:sym typeface="Work Sans"/>
                </a:rPr>
                <a:t>ười</a:t>
              </a:r>
              <a:r>
                <a:rPr lang="en-US" sz="3000" spc="-165" strike="noStrike" u="none">
                  <a:solidFill>
                    <a:srgbClr val="E0E1DD"/>
                  </a:solidFill>
                  <a:latin typeface="Work Sans"/>
                  <a:ea typeface="Work Sans"/>
                  <a:cs typeface="Work Sans"/>
                  <a:sym typeface="Work Sans"/>
                </a:rPr>
                <a:t> d</a:t>
              </a:r>
              <a:r>
                <a:rPr lang="en-US" sz="3000" spc="-165" strike="noStrike" u="none">
                  <a:solidFill>
                    <a:srgbClr val="E0E1DD"/>
                  </a:solidFill>
                  <a:latin typeface="Work Sans"/>
                  <a:ea typeface="Work Sans"/>
                  <a:cs typeface="Work Sans"/>
                  <a:sym typeface="Work Sans"/>
                </a:rPr>
                <a:t>ùng</a:t>
              </a:r>
              <a:r>
                <a:rPr lang="en-US" sz="3000" spc="-165" strike="noStrike" u="none">
                  <a:solidFill>
                    <a:srgbClr val="E0E1DD"/>
                  </a:solidFill>
                  <a:latin typeface="Work Sans"/>
                  <a:ea typeface="Work Sans"/>
                  <a:cs typeface="Work Sans"/>
                  <a:sym typeface="Work Sans"/>
                </a:rPr>
                <a:t> </a:t>
              </a:r>
              <a:r>
                <a:rPr lang="en-US" sz="3000" spc="-165" strike="noStrike" u="none">
                  <a:solidFill>
                    <a:srgbClr val="E0E1DD"/>
                  </a:solidFill>
                  <a:latin typeface="Work Sans"/>
                  <a:ea typeface="Work Sans"/>
                  <a:cs typeface="Work Sans"/>
                  <a:sym typeface="Work Sans"/>
                </a:rPr>
                <a:t>mới</a:t>
              </a:r>
            </a:p>
            <a:p>
              <a:pPr algn="l" marL="0" indent="0" lvl="0">
                <a:lnSpc>
                  <a:spcPts val="3600"/>
                </a:lnSpc>
                <a:spcBef>
                  <a:spcPct val="0"/>
                </a:spcBef>
              </a:pPr>
            </a:p>
          </p:txBody>
        </p:sp>
      </p:grpSp>
      <p:grpSp>
        <p:nvGrpSpPr>
          <p:cNvPr name="Group 11" id="11"/>
          <p:cNvGrpSpPr/>
          <p:nvPr/>
        </p:nvGrpSpPr>
        <p:grpSpPr>
          <a:xfrm rot="0">
            <a:off x="10734675" y="1533407"/>
            <a:ext cx="5448300" cy="7098138"/>
            <a:chOff x="0" y="0"/>
            <a:chExt cx="7264400" cy="9464184"/>
          </a:xfrm>
        </p:grpSpPr>
        <p:sp>
          <p:nvSpPr>
            <p:cNvPr name="TextBox 12" id="12"/>
            <p:cNvSpPr txBox="true"/>
            <p:nvPr/>
          </p:nvSpPr>
          <p:spPr>
            <a:xfrm rot="0">
              <a:off x="50129" y="5356369"/>
              <a:ext cx="7214271" cy="4107815"/>
            </a:xfrm>
            <a:prstGeom prst="rect">
              <a:avLst/>
            </a:prstGeom>
          </p:spPr>
          <p:txBody>
            <a:bodyPr anchor="t" rtlCol="false" tIns="0" lIns="0" bIns="0" rIns="0">
              <a:spAutoFit/>
            </a:bodyPr>
            <a:lstStyle/>
            <a:p>
              <a:pPr algn="l" marL="0" indent="0" lvl="0">
                <a:lnSpc>
                  <a:spcPts val="2730"/>
                </a:lnSpc>
              </a:pPr>
              <a:r>
                <a:rPr lang="en-US" sz="2100" spc="-115">
                  <a:solidFill>
                    <a:srgbClr val="415A77"/>
                  </a:solidFill>
                  <a:latin typeface="Work Sans"/>
                  <a:ea typeface="Work Sans"/>
                  <a:cs typeface="Work Sans"/>
                  <a:sym typeface="Work Sans"/>
                </a:rPr>
                <a:t>Hướ</a:t>
              </a:r>
              <a:r>
                <a:rPr lang="en-US" sz="2100" spc="-115">
                  <a:solidFill>
                    <a:srgbClr val="415A77"/>
                  </a:solidFill>
                  <a:latin typeface="Work Sans"/>
                  <a:ea typeface="Work Sans"/>
                  <a:cs typeface="Work Sans"/>
                  <a:sym typeface="Work Sans"/>
                </a:rPr>
                <a:t>ng làm</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Stored Procedure sp_create_post</a:t>
              </a:r>
            </a:p>
            <a:p>
              <a:pPr algn="l" marL="906780" indent="-302260" lvl="2">
                <a:lnSpc>
                  <a:spcPts val="2730"/>
                </a:lnSpc>
                <a:buFont typeface="Arial"/>
                <a:buChar char="⚬"/>
              </a:pPr>
              <a:r>
                <a:rPr lang="en-US" sz="2100" spc="-115">
                  <a:solidFill>
                    <a:srgbClr val="415A77"/>
                  </a:solidFill>
                  <a:latin typeface="Work Sans"/>
                  <a:ea typeface="Work Sans"/>
                  <a:cs typeface="Work Sans"/>
                  <a:sym typeface="Work Sans"/>
                </a:rPr>
                <a:t>Kiểm tra nội dung không rỗng</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Trigger AFTER INSERT trên Posts</a:t>
              </a:r>
            </a:p>
            <a:p>
              <a:pPr algn="l" marL="906780" indent="-302260" lvl="2">
                <a:lnSpc>
                  <a:spcPts val="2730"/>
                </a:lnSpc>
                <a:buFont typeface="Arial"/>
                <a:buChar char="⚬"/>
              </a:pPr>
              <a:r>
                <a:rPr lang="en-US" sz="2100" spc="-115">
                  <a:solidFill>
                    <a:srgbClr val="415A77"/>
                  </a:solidFill>
                  <a:latin typeface="Work Sans"/>
                  <a:ea typeface="Work Sans"/>
                  <a:cs typeface="Work Sans"/>
                  <a:sym typeface="Work Sans"/>
                </a:rPr>
                <a:t>G</a:t>
              </a:r>
              <a:r>
                <a:rPr lang="en-US" sz="2100" spc="-115">
                  <a:solidFill>
                    <a:srgbClr val="415A77"/>
                  </a:solidFill>
                  <a:latin typeface="Work Sans"/>
                  <a:ea typeface="Work Sans"/>
                  <a:cs typeface="Work Sans"/>
                  <a:sym typeface="Work Sans"/>
                </a:rPr>
                <a:t>hi log</a:t>
              </a:r>
              <a:r>
                <a:rPr lang="en-US" sz="2100" spc="-115">
                  <a:solidFill>
                    <a:srgbClr val="415A77"/>
                  </a:solidFill>
                  <a:latin typeface="Work Sans"/>
                  <a:ea typeface="Work Sans"/>
                  <a:cs typeface="Work Sans"/>
                  <a:sym typeface="Work Sans"/>
                </a:rPr>
                <a:t> sự kiện đăng bài</a:t>
              </a:r>
            </a:p>
            <a:p>
              <a:pPr algn="l" marL="0" indent="0" lvl="0">
                <a:lnSpc>
                  <a:spcPts val="2730"/>
                </a:lnSpc>
              </a:pPr>
              <a:r>
                <a:rPr lang="en-US" sz="2100" spc="-115">
                  <a:solidFill>
                    <a:srgbClr val="415A77"/>
                  </a:solidFill>
                  <a:latin typeface="Work Sans"/>
                  <a:ea typeface="Work Sans"/>
                  <a:cs typeface="Work Sans"/>
                  <a:sym typeface="Work Sans"/>
                </a:rPr>
                <a:t>Demo</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Đăng nhiều bài → hiển thị đúng</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Nội dung rỗng → báo lỗi</a:t>
              </a:r>
            </a:p>
            <a:p>
              <a:pPr algn="l" marL="0" indent="0" lvl="0">
                <a:lnSpc>
                  <a:spcPts val="2730"/>
                </a:lnSpc>
              </a:pPr>
            </a:p>
          </p:txBody>
        </p:sp>
        <p:sp>
          <p:nvSpPr>
            <p:cNvPr name="TextBox 13" id="13"/>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a:solidFill>
                    <a:srgbClr val="415A77"/>
                  </a:solidFill>
                  <a:latin typeface="Work Sans Semi-Bold"/>
                  <a:ea typeface="Work Sans Semi-Bold"/>
                  <a:cs typeface="Work Sans Semi-Bold"/>
                  <a:sym typeface="Work Sans Semi-Bold"/>
                </a:rPr>
                <a:t>BÀI</a:t>
              </a:r>
              <a:r>
                <a:rPr lang="en-US" b="true" sz="6999" spc="-384" strike="noStrike" u="none">
                  <a:solidFill>
                    <a:srgbClr val="415A77"/>
                  </a:solidFill>
                  <a:latin typeface="Work Sans Semi-Bold"/>
                  <a:ea typeface="Work Sans Semi-Bold"/>
                  <a:cs typeface="Work Sans Semi-Bold"/>
                  <a:sym typeface="Work Sans Semi-Bold"/>
                </a:rPr>
                <a:t> </a:t>
              </a:r>
              <a:r>
                <a:rPr lang="en-US" b="true" sz="6999" spc="-384" strike="noStrike" u="none">
                  <a:solidFill>
                    <a:srgbClr val="415A77"/>
                  </a:solidFill>
                  <a:latin typeface="Work Sans Semi-Bold"/>
                  <a:ea typeface="Work Sans Semi-Bold"/>
                  <a:cs typeface="Work Sans Semi-Bold"/>
                  <a:sym typeface="Work Sans Semi-Bold"/>
                </a:rPr>
                <a:t>2: ĐĂNG</a:t>
              </a:r>
              <a:r>
                <a:rPr lang="en-US" b="true" sz="6999" spc="-384" strike="noStrike" u="none">
                  <a:solidFill>
                    <a:srgbClr val="415A77"/>
                  </a:solidFill>
                  <a:latin typeface="Work Sans Semi-Bold"/>
                  <a:ea typeface="Work Sans Semi-Bold"/>
                  <a:cs typeface="Work Sans Semi-Bold"/>
                  <a:sym typeface="Work Sans Semi-Bold"/>
                </a:rPr>
                <a:t> </a:t>
              </a:r>
              <a:r>
                <a:rPr lang="en-US" b="true" sz="6999" spc="-384" strike="noStrike" u="none">
                  <a:solidFill>
                    <a:srgbClr val="415A77"/>
                  </a:solidFill>
                  <a:latin typeface="Work Sans Semi-Bold"/>
                  <a:ea typeface="Work Sans Semi-Bold"/>
                  <a:cs typeface="Work Sans Semi-Bold"/>
                  <a:sym typeface="Work Sans Semi-Bold"/>
                </a:rPr>
                <a:t>BÀI</a:t>
              </a:r>
              <a:r>
                <a:rPr lang="en-US" b="true" sz="6999" spc="-384" strike="noStrike" u="none">
                  <a:solidFill>
                    <a:srgbClr val="415A77"/>
                  </a:solidFill>
                  <a:latin typeface="Work Sans Semi-Bold"/>
                  <a:ea typeface="Work Sans Semi-Bold"/>
                  <a:cs typeface="Work Sans Semi-Bold"/>
                  <a:sym typeface="Work Sans Semi-Bold"/>
                </a:rPr>
                <a:t> </a:t>
              </a:r>
              <a:r>
                <a:rPr lang="en-US" b="true" sz="6999" spc="-384" strike="noStrike" u="none">
                  <a:solidFill>
                    <a:srgbClr val="415A77"/>
                  </a:solidFill>
                  <a:latin typeface="Work Sans Semi-Bold"/>
                  <a:ea typeface="Work Sans Semi-Bold"/>
                  <a:cs typeface="Work Sans Semi-Bold"/>
                  <a:sym typeface="Work Sans Semi-Bold"/>
                </a:rPr>
                <a:t>VIẾT</a:t>
              </a:r>
            </a:p>
          </p:txBody>
        </p:sp>
        <p:sp>
          <p:nvSpPr>
            <p:cNvPr name="TextBox 14" id="14"/>
            <p:cNvSpPr txBox="true"/>
            <p:nvPr/>
          </p:nvSpPr>
          <p:spPr>
            <a:xfrm rot="0">
              <a:off x="0" y="2919027"/>
              <a:ext cx="7264400" cy="1847850"/>
            </a:xfrm>
            <a:prstGeom prst="rect">
              <a:avLst/>
            </a:prstGeom>
          </p:spPr>
          <p:txBody>
            <a:bodyPr anchor="t" rtlCol="false" tIns="0" lIns="0" bIns="0" rIns="0">
              <a:spAutoFit/>
            </a:bodyPr>
            <a:lstStyle/>
            <a:p>
              <a:pPr algn="l">
                <a:lnSpc>
                  <a:spcPts val="3600"/>
                </a:lnSpc>
                <a:spcBef>
                  <a:spcPct val="0"/>
                </a:spcBef>
              </a:pPr>
              <a:r>
                <a:rPr lang="en-US" sz="3000" spc="-165">
                  <a:solidFill>
                    <a:srgbClr val="415A77"/>
                  </a:solidFill>
                  <a:latin typeface="Work Sans"/>
                  <a:ea typeface="Work Sans"/>
                  <a:cs typeface="Work Sans"/>
                  <a:sym typeface="Work Sans"/>
                </a:rPr>
                <a:t>Mục tiêu : </a:t>
              </a:r>
              <a:r>
                <a:rPr lang="en-US" sz="3000" spc="-165">
                  <a:solidFill>
                    <a:srgbClr val="415A77"/>
                  </a:solidFill>
                  <a:latin typeface="Work Sans"/>
                  <a:ea typeface="Work Sans"/>
                  <a:cs typeface="Work Sans"/>
                  <a:sym typeface="Work Sans"/>
                </a:rPr>
                <a:t>Ngườ</a:t>
              </a:r>
              <a:r>
                <a:rPr lang="en-US" sz="3000" spc="-165" strike="noStrike" u="none">
                  <a:solidFill>
                    <a:srgbClr val="415A77"/>
                  </a:solidFill>
                  <a:latin typeface="Work Sans"/>
                  <a:ea typeface="Work Sans"/>
                  <a:cs typeface="Work Sans"/>
                  <a:sym typeface="Work Sans"/>
                </a:rPr>
                <a:t>i </a:t>
              </a:r>
              <a:r>
                <a:rPr lang="en-US" sz="3000" spc="-165" strike="noStrike" u="none">
                  <a:solidFill>
                    <a:srgbClr val="415A77"/>
                  </a:solidFill>
                  <a:latin typeface="Work Sans"/>
                  <a:ea typeface="Work Sans"/>
                  <a:cs typeface="Work Sans"/>
                  <a:sym typeface="Work Sans"/>
                </a:rPr>
                <a:t>dùn</a:t>
              </a:r>
              <a:r>
                <a:rPr lang="en-US" sz="3000" spc="-165" strike="noStrike" u="none">
                  <a:solidFill>
                    <a:srgbClr val="415A77"/>
                  </a:solidFill>
                  <a:latin typeface="Work Sans"/>
                  <a:ea typeface="Work Sans"/>
                  <a:cs typeface="Work Sans"/>
                  <a:sym typeface="Work Sans"/>
                </a:rPr>
                <a:t>g </a:t>
              </a:r>
              <a:r>
                <a:rPr lang="en-US" sz="3000" spc="-165" strike="noStrike" u="none">
                  <a:solidFill>
                    <a:srgbClr val="415A77"/>
                  </a:solidFill>
                  <a:latin typeface="Work Sans"/>
                  <a:ea typeface="Work Sans"/>
                  <a:cs typeface="Work Sans"/>
                  <a:sym typeface="Work Sans"/>
                </a:rPr>
                <a:t>t</a:t>
              </a:r>
              <a:r>
                <a:rPr lang="en-US" sz="3000" spc="-165" strike="noStrike" u="none">
                  <a:solidFill>
                    <a:srgbClr val="415A77"/>
                  </a:solidFill>
                  <a:latin typeface="Work Sans"/>
                  <a:ea typeface="Work Sans"/>
                  <a:cs typeface="Work Sans"/>
                  <a:sym typeface="Work Sans"/>
                </a:rPr>
                <a:t>ạ</a:t>
              </a:r>
              <a:r>
                <a:rPr lang="en-US" sz="3000" spc="-165" strike="noStrike" u="none">
                  <a:solidFill>
                    <a:srgbClr val="415A77"/>
                  </a:solidFill>
                  <a:latin typeface="Work Sans"/>
                  <a:ea typeface="Work Sans"/>
                  <a:cs typeface="Work Sans"/>
                  <a:sym typeface="Work Sans"/>
                </a:rPr>
                <a:t>o</a:t>
              </a:r>
              <a:r>
                <a:rPr lang="en-US" sz="3000" spc="-165" strike="noStrike" u="none">
                  <a:solidFill>
                    <a:srgbClr val="415A77"/>
                  </a:solidFill>
                  <a:latin typeface="Work Sans"/>
                  <a:ea typeface="Work Sans"/>
                  <a:cs typeface="Work Sans"/>
                  <a:sym typeface="Work Sans"/>
                </a:rPr>
                <a:t> b</a:t>
              </a:r>
              <a:r>
                <a:rPr lang="en-US" sz="3000" spc="-165" strike="noStrike" u="none">
                  <a:solidFill>
                    <a:srgbClr val="415A77"/>
                  </a:solidFill>
                  <a:latin typeface="Work Sans"/>
                  <a:ea typeface="Work Sans"/>
                  <a:cs typeface="Work Sans"/>
                  <a:sym typeface="Work Sans"/>
                </a:rPr>
                <a:t>ài</a:t>
              </a:r>
              <a:r>
                <a:rPr lang="en-US" sz="3000" spc="-165" strike="noStrike" u="none">
                  <a:solidFill>
                    <a:srgbClr val="415A77"/>
                  </a:solidFill>
                  <a:latin typeface="Work Sans"/>
                  <a:ea typeface="Work Sans"/>
                  <a:cs typeface="Work Sans"/>
                  <a:sym typeface="Work Sans"/>
                </a:rPr>
                <a:t> </a:t>
              </a:r>
              <a:r>
                <a:rPr lang="en-US" sz="3000" spc="-165" strike="noStrike" u="none">
                  <a:solidFill>
                    <a:srgbClr val="415A77"/>
                  </a:solidFill>
                  <a:latin typeface="Work Sans"/>
                  <a:ea typeface="Work Sans"/>
                  <a:cs typeface="Work Sans"/>
                  <a:sym typeface="Work Sans"/>
                </a:rPr>
                <a:t>v</a:t>
              </a:r>
              <a:r>
                <a:rPr lang="en-US" sz="3000" spc="-165" strike="noStrike" u="none">
                  <a:solidFill>
                    <a:srgbClr val="415A77"/>
                  </a:solidFill>
                  <a:latin typeface="Work Sans"/>
                  <a:ea typeface="Work Sans"/>
                  <a:cs typeface="Work Sans"/>
                  <a:sym typeface="Work Sans"/>
                </a:rPr>
                <a:t>i</a:t>
              </a:r>
              <a:r>
                <a:rPr lang="en-US" sz="3000" spc="-165" strike="noStrike" u="none">
                  <a:solidFill>
                    <a:srgbClr val="415A77"/>
                  </a:solidFill>
                  <a:latin typeface="Work Sans"/>
                  <a:ea typeface="Work Sans"/>
                  <a:cs typeface="Work Sans"/>
                  <a:sym typeface="Work Sans"/>
                </a:rPr>
                <a:t>ết mới</a:t>
              </a:r>
            </a:p>
            <a:p>
              <a:pPr algn="l" marL="0" indent="0" lvl="0">
                <a:lnSpc>
                  <a:spcPts val="3600"/>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1B263B"/>
        </a:solidFill>
      </p:bgPr>
    </p:bg>
    <p:spTree>
      <p:nvGrpSpPr>
        <p:cNvPr id="1" name=""/>
        <p:cNvGrpSpPr/>
        <p:nvPr/>
      </p:nvGrpSpPr>
      <p:grpSpPr>
        <a:xfrm>
          <a:off x="0" y="0"/>
          <a:ext cx="0" cy="0"/>
          <a:chOff x="0" y="0"/>
          <a:chExt cx="0" cy="0"/>
        </a:xfrm>
      </p:grpSpPr>
      <p:grpSp>
        <p:nvGrpSpPr>
          <p:cNvPr name="Group 2" id="2"/>
          <p:cNvGrpSpPr/>
          <p:nvPr/>
        </p:nvGrpSpPr>
        <p:grpSpPr>
          <a:xfrm rot="0">
            <a:off x="682479"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415A77"/>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E0E1DD"/>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271362" y="980068"/>
            <a:ext cx="6911143" cy="8212563"/>
            <a:chOff x="0" y="0"/>
            <a:chExt cx="9214858" cy="10950084"/>
          </a:xfrm>
        </p:grpSpPr>
        <p:sp>
          <p:nvSpPr>
            <p:cNvPr name="TextBox 8" id="8"/>
            <p:cNvSpPr txBox="true"/>
            <p:nvPr/>
          </p:nvSpPr>
          <p:spPr>
            <a:xfrm rot="0">
              <a:off x="63588" y="5927869"/>
              <a:ext cx="9151269" cy="50222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Hướng</a:t>
              </a:r>
              <a:r>
                <a:rPr lang="en-US" sz="2100" spc="-115">
                  <a:solidFill>
                    <a:srgbClr val="E0E1DD"/>
                  </a:solidFill>
                  <a:latin typeface="Work Sans"/>
                  <a:ea typeface="Work Sans"/>
                  <a:cs typeface="Work Sans"/>
                  <a:sym typeface="Work Sans"/>
                </a:rPr>
                <a:t> làm</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Bảng Likes (PRIMARY KEY user_id, post_</a:t>
              </a:r>
              <a:r>
                <a:rPr lang="en-US" sz="2100" spc="-115">
                  <a:solidFill>
                    <a:srgbClr val="E0E1DD"/>
                  </a:solidFill>
                  <a:latin typeface="Work Sans"/>
                  <a:ea typeface="Work Sans"/>
                  <a:cs typeface="Work Sans"/>
                  <a:sym typeface="Work Sans"/>
                </a:rPr>
                <a:t>id)</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Thêm</a:t>
              </a:r>
              <a:r>
                <a:rPr lang="en-US" sz="2100" spc="-115">
                  <a:solidFill>
                    <a:srgbClr val="E0E1DD"/>
                  </a:solidFill>
                  <a:latin typeface="Work Sans"/>
                  <a:ea typeface="Work Sans"/>
                  <a:cs typeface="Work Sans"/>
                  <a:sym typeface="Work Sans"/>
                </a:rPr>
                <a:t> cột like_count</a:t>
              </a:r>
              <a:r>
                <a:rPr lang="en-US" sz="2100" spc="-115">
                  <a:solidFill>
                    <a:srgbClr val="E0E1DD"/>
                  </a:solidFill>
                  <a:latin typeface="Work Sans"/>
                  <a:ea typeface="Work Sans"/>
                  <a:cs typeface="Work Sans"/>
                  <a:sym typeface="Work Sans"/>
                </a:rPr>
                <a:t> và</a:t>
              </a:r>
              <a:r>
                <a:rPr lang="en-US" sz="2100" spc="-115">
                  <a:solidFill>
                    <a:srgbClr val="E0E1DD"/>
                  </a:solidFill>
                  <a:latin typeface="Work Sans"/>
                  <a:ea typeface="Work Sans"/>
                  <a:cs typeface="Work Sans"/>
                  <a:sym typeface="Work Sans"/>
                </a:rPr>
                <a:t>o</a:t>
              </a:r>
              <a:r>
                <a:rPr lang="en-US" sz="2100" spc="-115">
                  <a:solidFill>
                    <a:srgbClr val="E0E1DD"/>
                  </a:solidFill>
                  <a:latin typeface="Work Sans"/>
                  <a:ea typeface="Work Sans"/>
                  <a:cs typeface="Work Sans"/>
                  <a:sym typeface="Work Sans"/>
                </a:rPr>
                <a:t> Posts</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Trigger:</a:t>
              </a:r>
            </a:p>
            <a:p>
              <a:pPr algn="l" marL="906780" indent="-302260" lvl="2">
                <a:lnSpc>
                  <a:spcPts val="2730"/>
                </a:lnSpc>
                <a:buFont typeface="Arial"/>
                <a:buChar char="⚬"/>
              </a:pPr>
              <a:r>
                <a:rPr lang="en-US" sz="2100" spc="-115">
                  <a:solidFill>
                    <a:srgbClr val="E0E1DD"/>
                  </a:solidFill>
                  <a:latin typeface="Work Sans"/>
                  <a:ea typeface="Work Sans"/>
                  <a:cs typeface="Work Sans"/>
                  <a:sym typeface="Work Sans"/>
                </a:rPr>
                <a:t>AFTER INSERT → tă</a:t>
              </a:r>
              <a:r>
                <a:rPr lang="en-US" sz="2100" spc="-115">
                  <a:solidFill>
                    <a:srgbClr val="E0E1DD"/>
                  </a:solidFill>
                  <a:latin typeface="Work Sans"/>
                  <a:ea typeface="Work Sans"/>
                  <a:cs typeface="Work Sans"/>
                  <a:sym typeface="Work Sans"/>
                </a:rPr>
                <a:t>ng like_c</a:t>
              </a:r>
              <a:r>
                <a:rPr lang="en-US" sz="2100" spc="-115">
                  <a:solidFill>
                    <a:srgbClr val="E0E1DD"/>
                  </a:solidFill>
                  <a:latin typeface="Work Sans"/>
                  <a:ea typeface="Work Sans"/>
                  <a:cs typeface="Work Sans"/>
                  <a:sym typeface="Work Sans"/>
                </a:rPr>
                <a:t>ou</a:t>
              </a:r>
              <a:r>
                <a:rPr lang="en-US" sz="2100" spc="-115">
                  <a:solidFill>
                    <a:srgbClr val="E0E1DD"/>
                  </a:solidFill>
                  <a:latin typeface="Work Sans"/>
                  <a:ea typeface="Work Sans"/>
                  <a:cs typeface="Work Sans"/>
                  <a:sym typeface="Work Sans"/>
                </a:rPr>
                <a:t>nt</a:t>
              </a:r>
            </a:p>
            <a:p>
              <a:pPr algn="l" marL="906780" indent="-302260" lvl="2">
                <a:lnSpc>
                  <a:spcPts val="2730"/>
                </a:lnSpc>
                <a:buFont typeface="Arial"/>
                <a:buChar char="⚬"/>
              </a:pPr>
              <a:r>
                <a:rPr lang="en-US" sz="2100" spc="-115">
                  <a:solidFill>
                    <a:srgbClr val="E0E1DD"/>
                  </a:solidFill>
                  <a:latin typeface="Work Sans"/>
                  <a:ea typeface="Work Sans"/>
                  <a:cs typeface="Work Sans"/>
                  <a:sym typeface="Work Sans"/>
                </a:rPr>
                <a:t>AFTER DELETE → </a:t>
              </a:r>
              <a:r>
                <a:rPr lang="en-US" sz="2100" spc="-115">
                  <a:solidFill>
                    <a:srgbClr val="E0E1DD"/>
                  </a:solidFill>
                  <a:latin typeface="Work Sans"/>
                  <a:ea typeface="Work Sans"/>
                  <a:cs typeface="Work Sans"/>
                  <a:sym typeface="Work Sans"/>
                </a:rPr>
                <a:t>giảm</a:t>
              </a:r>
              <a:r>
                <a:rPr lang="en-US" sz="2100" spc="-115">
                  <a:solidFill>
                    <a:srgbClr val="E0E1DD"/>
                  </a:solidFill>
                  <a:latin typeface="Work Sans"/>
                  <a:ea typeface="Work Sans"/>
                  <a:cs typeface="Work Sans"/>
                  <a:sym typeface="Work Sans"/>
                </a:rPr>
                <a:t> lik</a:t>
              </a:r>
              <a:r>
                <a:rPr lang="en-US" sz="2100" spc="-115">
                  <a:solidFill>
                    <a:srgbClr val="E0E1DD"/>
                  </a:solidFill>
                  <a:latin typeface="Work Sans"/>
                  <a:ea typeface="Work Sans"/>
                  <a:cs typeface="Work Sans"/>
                  <a:sym typeface="Work Sans"/>
                </a:rPr>
                <a:t>e_count</a:t>
              </a:r>
            </a:p>
            <a:p>
              <a:pPr algn="l" marL="0" indent="0" lvl="0">
                <a:lnSpc>
                  <a:spcPts val="2730"/>
                </a:lnSpc>
              </a:pPr>
              <a:r>
                <a:rPr lang="en-US" sz="2100" spc="-115">
                  <a:solidFill>
                    <a:srgbClr val="E0E1DD"/>
                  </a:solidFill>
                  <a:latin typeface="Work Sans"/>
                  <a:ea typeface="Work Sans"/>
                  <a:cs typeface="Work Sans"/>
                  <a:sym typeface="Work Sans"/>
                </a:rPr>
                <a:t>Demo</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Like → tăng count</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Unlike → giảm count</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Li</a:t>
              </a:r>
              <a:r>
                <a:rPr lang="en-US" sz="2100" spc="-115">
                  <a:solidFill>
                    <a:srgbClr val="E0E1DD"/>
                  </a:solidFill>
                  <a:latin typeface="Work Sans"/>
                  <a:ea typeface="Work Sans"/>
                  <a:cs typeface="Work Sans"/>
                  <a:sym typeface="Work Sans"/>
                </a:rPr>
                <a:t>ke trùng → bị chặn</a:t>
              </a:r>
            </a:p>
            <a:p>
              <a:pPr algn="l" marL="0" indent="0" lvl="0">
                <a:lnSpc>
                  <a:spcPts val="2730"/>
                </a:lnSpc>
              </a:pPr>
            </a:p>
          </p:txBody>
        </p:sp>
        <p:sp>
          <p:nvSpPr>
            <p:cNvPr name="TextBox 9" id="9"/>
            <p:cNvSpPr txBox="true"/>
            <p:nvPr/>
          </p:nvSpPr>
          <p:spPr>
            <a:xfrm rot="0">
              <a:off x="0" y="133350"/>
              <a:ext cx="9214858" cy="3647017"/>
            </a:xfrm>
            <a:prstGeom prst="rect">
              <a:avLst/>
            </a:prstGeom>
          </p:spPr>
          <p:txBody>
            <a:bodyPr anchor="t" rtlCol="false" tIns="0" lIns="0" bIns="0" rIns="0">
              <a:spAutoFit/>
            </a:bodyPr>
            <a:lstStyle/>
            <a:p>
              <a:pPr algn="l" marL="0" indent="0" lvl="0">
                <a:lnSpc>
                  <a:spcPts val="6999"/>
                </a:lnSpc>
              </a:pPr>
              <a:r>
                <a:rPr lang="en-US" b="true" sz="6999" spc="-384">
                  <a:solidFill>
                    <a:srgbClr val="E0E1DD"/>
                  </a:solidFill>
                  <a:latin typeface="Work Sans Semi-Bold"/>
                  <a:ea typeface="Work Sans Semi-Bold"/>
                  <a:cs typeface="Work Sans Semi-Bold"/>
                  <a:sym typeface="Work Sans Semi-Bold"/>
                </a:rPr>
                <a:t>BÀI</a:t>
              </a:r>
              <a:r>
                <a:rPr lang="en-US" b="true" sz="6999" spc="-384" strike="noStrike" u="none">
                  <a:solidFill>
                    <a:srgbClr val="E0E1DD"/>
                  </a:solidFill>
                  <a:latin typeface="Work Sans Semi-Bold"/>
                  <a:ea typeface="Work Sans Semi-Bold"/>
                  <a:cs typeface="Work Sans Semi-Bold"/>
                  <a:sym typeface="Work Sans Semi-Bold"/>
                </a:rPr>
                <a:t> 3: THÍCH / </a:t>
              </a:r>
              <a:r>
                <a:rPr lang="en-US" b="true" sz="6999" spc="-384" strike="noStrike" u="none">
                  <a:solidFill>
                    <a:srgbClr val="E0E1DD"/>
                  </a:solidFill>
                  <a:latin typeface="Work Sans Semi-Bold"/>
                  <a:ea typeface="Work Sans Semi-Bold"/>
                  <a:cs typeface="Work Sans Semi-Bold"/>
                  <a:sym typeface="Work Sans Semi-Bold"/>
                </a:rPr>
                <a:t>BỎ</a:t>
              </a:r>
              <a:r>
                <a:rPr lang="en-US" b="true" sz="6999" spc="-384" strike="noStrike" u="none">
                  <a:solidFill>
                    <a:srgbClr val="E0E1DD"/>
                  </a:solidFill>
                  <a:latin typeface="Work Sans Semi-Bold"/>
                  <a:ea typeface="Work Sans Semi-Bold"/>
                  <a:cs typeface="Work Sans Semi-Bold"/>
                  <a:sym typeface="Work Sans Semi-Bold"/>
                </a:rPr>
                <a:t> TH</a:t>
              </a:r>
              <a:r>
                <a:rPr lang="en-US" b="true" sz="6999" spc="-384" strike="noStrike" u="none">
                  <a:solidFill>
                    <a:srgbClr val="E0E1DD"/>
                  </a:solidFill>
                  <a:latin typeface="Work Sans Semi-Bold"/>
                  <a:ea typeface="Work Sans Semi-Bold"/>
                  <a:cs typeface="Work Sans Semi-Bold"/>
                  <a:sym typeface="Work Sans Semi-Bold"/>
                </a:rPr>
                <a:t>ÍC</a:t>
              </a:r>
              <a:r>
                <a:rPr lang="en-US" b="true" sz="6999" spc="-384" strike="noStrike" u="none">
                  <a:solidFill>
                    <a:srgbClr val="E0E1DD"/>
                  </a:solidFill>
                  <a:latin typeface="Work Sans Semi-Bold"/>
                  <a:ea typeface="Work Sans Semi-Bold"/>
                  <a:cs typeface="Work Sans Semi-Bold"/>
                  <a:sym typeface="Work Sans Semi-Bold"/>
                </a:rPr>
                <a:t>H </a:t>
              </a:r>
              <a:r>
                <a:rPr lang="en-US" b="true" sz="6999" spc="-384" strike="noStrike" u="none">
                  <a:solidFill>
                    <a:srgbClr val="E0E1DD"/>
                  </a:solidFill>
                  <a:latin typeface="Work Sans Semi-Bold"/>
                  <a:ea typeface="Work Sans Semi-Bold"/>
                  <a:cs typeface="Work Sans Semi-Bold"/>
                  <a:sym typeface="Work Sans Semi-Bold"/>
                </a:rPr>
                <a:t>BÀI </a:t>
              </a:r>
              <a:r>
                <a:rPr lang="en-US" b="true" sz="6999" spc="-384" strike="noStrike" u="none">
                  <a:solidFill>
                    <a:srgbClr val="E0E1DD"/>
                  </a:solidFill>
                  <a:latin typeface="Work Sans Semi-Bold"/>
                  <a:ea typeface="Work Sans Semi-Bold"/>
                  <a:cs typeface="Work Sans Semi-Bold"/>
                  <a:sym typeface="Work Sans Semi-Bold"/>
                </a:rPr>
                <a:t>VI</a:t>
              </a:r>
              <a:r>
                <a:rPr lang="en-US" b="true" sz="6999" spc="-384" strike="noStrike" u="none">
                  <a:solidFill>
                    <a:srgbClr val="E0E1DD"/>
                  </a:solidFill>
                  <a:latin typeface="Work Sans Semi-Bold"/>
                  <a:ea typeface="Work Sans Semi-Bold"/>
                  <a:cs typeface="Work Sans Semi-Bold"/>
                  <a:sym typeface="Work Sans Semi-Bold"/>
                </a:rPr>
                <a:t>ẾT</a:t>
              </a:r>
            </a:p>
          </p:txBody>
        </p:sp>
        <p:sp>
          <p:nvSpPr>
            <p:cNvPr name="TextBox 10" id="10"/>
            <p:cNvSpPr txBox="true"/>
            <p:nvPr/>
          </p:nvSpPr>
          <p:spPr>
            <a:xfrm rot="0">
              <a:off x="0" y="4100127"/>
              <a:ext cx="9214858" cy="1238250"/>
            </a:xfrm>
            <a:prstGeom prst="rect">
              <a:avLst/>
            </a:prstGeom>
          </p:spPr>
          <p:txBody>
            <a:bodyPr anchor="t" rtlCol="false" tIns="0" lIns="0" bIns="0" rIns="0">
              <a:spAutoFit/>
            </a:bodyPr>
            <a:lstStyle/>
            <a:p>
              <a:pPr algn="l">
                <a:lnSpc>
                  <a:spcPts val="3600"/>
                </a:lnSpc>
                <a:spcBef>
                  <a:spcPct val="0"/>
                </a:spcBef>
              </a:pPr>
              <a:r>
                <a:rPr lang="en-US" sz="3000" spc="-165">
                  <a:solidFill>
                    <a:srgbClr val="E0E1DD"/>
                  </a:solidFill>
                  <a:latin typeface="Work Sans"/>
                  <a:ea typeface="Work Sans"/>
                  <a:cs typeface="Work Sans"/>
                  <a:sym typeface="Work Sans"/>
                </a:rPr>
                <a:t>Mụ</a:t>
              </a:r>
              <a:r>
                <a:rPr lang="en-US" sz="3000" spc="-165" strike="noStrike" u="none">
                  <a:solidFill>
                    <a:srgbClr val="E0E1DD"/>
                  </a:solidFill>
                  <a:latin typeface="Work Sans"/>
                  <a:ea typeface="Work Sans"/>
                  <a:cs typeface="Work Sans"/>
                  <a:sym typeface="Work Sans"/>
                </a:rPr>
                <a:t>c tiêu : Quản lý lượt </a:t>
              </a:r>
              <a:r>
                <a:rPr lang="en-US" sz="3000" spc="-165" strike="noStrike" u="none">
                  <a:solidFill>
                    <a:srgbClr val="E0E1DD"/>
                  </a:solidFill>
                  <a:latin typeface="Work Sans"/>
                  <a:ea typeface="Work Sans"/>
                  <a:cs typeface="Work Sans"/>
                  <a:sym typeface="Work Sans"/>
                </a:rPr>
                <a:t>thíc</a:t>
              </a:r>
              <a:r>
                <a:rPr lang="en-US" sz="3000" spc="-165" strike="noStrike" u="none">
                  <a:solidFill>
                    <a:srgbClr val="E0E1DD"/>
                  </a:solidFill>
                  <a:latin typeface="Work Sans"/>
                  <a:ea typeface="Work Sans"/>
                  <a:cs typeface="Work Sans"/>
                  <a:sym typeface="Work Sans"/>
                </a:rPr>
                <a:t>h bài vi</a:t>
              </a:r>
              <a:r>
                <a:rPr lang="en-US" sz="3000" spc="-165" strike="noStrike" u="none">
                  <a:solidFill>
                    <a:srgbClr val="E0E1DD"/>
                  </a:solidFill>
                  <a:latin typeface="Work Sans"/>
                  <a:ea typeface="Work Sans"/>
                  <a:cs typeface="Work Sans"/>
                  <a:sym typeface="Work Sans"/>
                </a:rPr>
                <a:t>ết</a:t>
              </a:r>
            </a:p>
            <a:p>
              <a:pPr algn="l" marL="0" indent="0" lvl="0">
                <a:lnSpc>
                  <a:spcPts val="3600"/>
                </a:lnSpc>
                <a:spcBef>
                  <a:spcPct val="0"/>
                </a:spcBef>
              </a:pPr>
            </a:p>
          </p:txBody>
        </p:sp>
      </p:grpSp>
      <p:grpSp>
        <p:nvGrpSpPr>
          <p:cNvPr name="Group 11" id="11"/>
          <p:cNvGrpSpPr/>
          <p:nvPr/>
        </p:nvGrpSpPr>
        <p:grpSpPr>
          <a:xfrm rot="0">
            <a:off x="10257393" y="1524635"/>
            <a:ext cx="6919205" cy="7123430"/>
            <a:chOff x="0" y="0"/>
            <a:chExt cx="9225607" cy="9497907"/>
          </a:xfrm>
        </p:grpSpPr>
        <p:sp>
          <p:nvSpPr>
            <p:cNvPr name="TextBox 12" id="12"/>
            <p:cNvSpPr txBox="true"/>
            <p:nvPr/>
          </p:nvSpPr>
          <p:spPr>
            <a:xfrm rot="0">
              <a:off x="0" y="4932892"/>
              <a:ext cx="9130441" cy="4565015"/>
            </a:xfrm>
            <a:prstGeom prst="rect">
              <a:avLst/>
            </a:prstGeom>
          </p:spPr>
          <p:txBody>
            <a:bodyPr anchor="t" rtlCol="false" tIns="0" lIns="0" bIns="0" rIns="0">
              <a:spAutoFit/>
            </a:bodyPr>
            <a:lstStyle/>
            <a:p>
              <a:pPr algn="l" marL="0" indent="0" lvl="0">
                <a:lnSpc>
                  <a:spcPts val="2730"/>
                </a:lnSpc>
              </a:pPr>
              <a:r>
                <a:rPr lang="en-US" sz="2100" spc="-115">
                  <a:solidFill>
                    <a:srgbClr val="415A77"/>
                  </a:solidFill>
                  <a:latin typeface="Work Sans"/>
                  <a:ea typeface="Work Sans"/>
                  <a:cs typeface="Work Sans"/>
                  <a:sym typeface="Work Sans"/>
                </a:rPr>
                <a:t>Hướ</a:t>
              </a:r>
              <a:r>
                <a:rPr lang="en-US" sz="2100" spc="-115">
                  <a:solidFill>
                    <a:srgbClr val="415A77"/>
                  </a:solidFill>
                  <a:latin typeface="Work Sans"/>
                  <a:ea typeface="Work Sans"/>
                  <a:cs typeface="Work Sans"/>
                  <a:sym typeface="Work Sans"/>
                </a:rPr>
                <a:t>ng làm</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Stored Procedure sp_send_friend_request</a:t>
              </a:r>
            </a:p>
            <a:p>
              <a:pPr algn="l" marL="906780" indent="-302260" lvl="2">
                <a:lnSpc>
                  <a:spcPts val="2730"/>
                </a:lnSpc>
                <a:buFont typeface="Arial"/>
                <a:buChar char="⚬"/>
              </a:pPr>
              <a:r>
                <a:rPr lang="en-US" sz="2100" spc="-115">
                  <a:solidFill>
                    <a:srgbClr val="415A77"/>
                  </a:solidFill>
                  <a:latin typeface="Work Sans"/>
                  <a:ea typeface="Work Sans"/>
                  <a:cs typeface="Work Sans"/>
                  <a:sym typeface="Work Sans"/>
                </a:rPr>
                <a:t>Không tự gửi</a:t>
              </a:r>
            </a:p>
            <a:p>
              <a:pPr algn="l" marL="906780" indent="-302260" lvl="2">
                <a:lnSpc>
                  <a:spcPts val="2730"/>
                </a:lnSpc>
                <a:buFont typeface="Arial"/>
                <a:buChar char="⚬"/>
              </a:pPr>
              <a:r>
                <a:rPr lang="en-US" sz="2100" spc="-115">
                  <a:solidFill>
                    <a:srgbClr val="415A77"/>
                  </a:solidFill>
                  <a:latin typeface="Work Sans"/>
                  <a:ea typeface="Work Sans"/>
                  <a:cs typeface="Work Sans"/>
                  <a:sym typeface="Work Sans"/>
                </a:rPr>
                <a:t>Không gửi trùng</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Trigger AFTER INSERT</a:t>
              </a:r>
            </a:p>
            <a:p>
              <a:pPr algn="l" marL="906780" indent="-302260" lvl="2">
                <a:lnSpc>
                  <a:spcPts val="2730"/>
                </a:lnSpc>
                <a:buFont typeface="Arial"/>
                <a:buChar char="⚬"/>
              </a:pPr>
              <a:r>
                <a:rPr lang="en-US" sz="2100" spc="-115">
                  <a:solidFill>
                    <a:srgbClr val="415A77"/>
                  </a:solidFill>
                  <a:latin typeface="Work Sans"/>
                  <a:ea typeface="Work Sans"/>
                  <a:cs typeface="Work Sans"/>
                  <a:sym typeface="Work Sans"/>
                </a:rPr>
                <a:t>G</a:t>
              </a:r>
              <a:r>
                <a:rPr lang="en-US" sz="2100" spc="-115">
                  <a:solidFill>
                    <a:srgbClr val="415A77"/>
                  </a:solidFill>
                  <a:latin typeface="Work Sans"/>
                  <a:ea typeface="Work Sans"/>
                  <a:cs typeface="Work Sans"/>
                  <a:sym typeface="Work Sans"/>
                </a:rPr>
                <a:t>hi log</a:t>
              </a:r>
              <a:r>
                <a:rPr lang="en-US" sz="2100" spc="-115">
                  <a:solidFill>
                    <a:srgbClr val="415A77"/>
                  </a:solidFill>
                  <a:latin typeface="Work Sans"/>
                  <a:ea typeface="Work Sans"/>
                  <a:cs typeface="Work Sans"/>
                  <a:sym typeface="Work Sans"/>
                </a:rPr>
                <a:t> lời mời kết bạn</a:t>
              </a:r>
            </a:p>
            <a:p>
              <a:pPr algn="l" marL="0" indent="0" lvl="0">
                <a:lnSpc>
                  <a:spcPts val="2730"/>
                </a:lnSpc>
              </a:pPr>
              <a:r>
                <a:rPr lang="en-US" sz="2100" spc="-115">
                  <a:solidFill>
                    <a:srgbClr val="415A77"/>
                  </a:solidFill>
                  <a:latin typeface="Work Sans"/>
                  <a:ea typeface="Work Sans"/>
                  <a:cs typeface="Work Sans"/>
                  <a:sym typeface="Work Sans"/>
                </a:rPr>
                <a:t>Demo</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Gửi hợp lệ → status = pending</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Gửi sai → báo lỗi</a:t>
              </a:r>
            </a:p>
            <a:p>
              <a:pPr algn="l" marL="0" indent="0" lvl="0">
                <a:lnSpc>
                  <a:spcPts val="2730"/>
                </a:lnSpc>
              </a:pPr>
            </a:p>
          </p:txBody>
        </p:sp>
        <p:sp>
          <p:nvSpPr>
            <p:cNvPr name="TextBox 13" id="13"/>
            <p:cNvSpPr txBox="true"/>
            <p:nvPr/>
          </p:nvSpPr>
          <p:spPr>
            <a:xfrm rot="0">
              <a:off x="0" y="133350"/>
              <a:ext cx="9193885" cy="4828117"/>
            </a:xfrm>
            <a:prstGeom prst="rect">
              <a:avLst/>
            </a:prstGeom>
          </p:spPr>
          <p:txBody>
            <a:bodyPr anchor="t" rtlCol="false" tIns="0" lIns="0" bIns="0" rIns="0">
              <a:spAutoFit/>
            </a:bodyPr>
            <a:lstStyle/>
            <a:p>
              <a:pPr algn="l" marL="0" indent="0" lvl="0">
                <a:lnSpc>
                  <a:spcPts val="6999"/>
                </a:lnSpc>
              </a:pPr>
              <a:r>
                <a:rPr lang="en-US" b="true" sz="6999" spc="-384">
                  <a:solidFill>
                    <a:srgbClr val="415A77"/>
                  </a:solidFill>
                  <a:latin typeface="Work Sans Semi-Bold"/>
                  <a:ea typeface="Work Sans Semi-Bold"/>
                  <a:cs typeface="Work Sans Semi-Bold"/>
                  <a:sym typeface="Work Sans Semi-Bold"/>
                </a:rPr>
                <a:t>BÀI</a:t>
              </a:r>
              <a:r>
                <a:rPr lang="en-US" b="true" sz="6999" spc="-384" strike="noStrike" u="none">
                  <a:solidFill>
                    <a:srgbClr val="415A77"/>
                  </a:solidFill>
                  <a:latin typeface="Work Sans Semi-Bold"/>
                  <a:ea typeface="Work Sans Semi-Bold"/>
                  <a:cs typeface="Work Sans Semi-Bold"/>
                  <a:sym typeface="Work Sans Semi-Bold"/>
                </a:rPr>
                <a:t> 4: G</a:t>
              </a:r>
              <a:r>
                <a:rPr lang="en-US" b="true" sz="6999" spc="-384" strike="noStrike" u="none">
                  <a:solidFill>
                    <a:srgbClr val="415A77"/>
                  </a:solidFill>
                  <a:latin typeface="Work Sans Semi-Bold"/>
                  <a:ea typeface="Work Sans Semi-Bold"/>
                  <a:cs typeface="Work Sans Semi-Bold"/>
                  <a:sym typeface="Work Sans Semi-Bold"/>
                </a:rPr>
                <a:t>ỬI</a:t>
              </a:r>
              <a:r>
                <a:rPr lang="en-US" b="true" sz="6999" spc="-384" strike="noStrike" u="none">
                  <a:solidFill>
                    <a:srgbClr val="415A77"/>
                  </a:solidFill>
                  <a:latin typeface="Work Sans Semi-Bold"/>
                  <a:ea typeface="Work Sans Semi-Bold"/>
                  <a:cs typeface="Work Sans Semi-Bold"/>
                  <a:sym typeface="Work Sans Semi-Bold"/>
                </a:rPr>
                <a:t> LỜI MỜI</a:t>
              </a:r>
              <a:r>
                <a:rPr lang="en-US" b="true" sz="6999" spc="-384" strike="noStrike" u="none">
                  <a:solidFill>
                    <a:srgbClr val="415A77"/>
                  </a:solidFill>
                  <a:latin typeface="Work Sans Semi-Bold"/>
                  <a:ea typeface="Work Sans Semi-Bold"/>
                  <a:cs typeface="Work Sans Semi-Bold"/>
                  <a:sym typeface="Work Sans Semi-Bold"/>
                </a:rPr>
                <a:t> K</a:t>
              </a:r>
              <a:r>
                <a:rPr lang="en-US" b="true" sz="6999" spc="-384" strike="noStrike" u="none">
                  <a:solidFill>
                    <a:srgbClr val="415A77"/>
                  </a:solidFill>
                  <a:latin typeface="Work Sans Semi-Bold"/>
                  <a:ea typeface="Work Sans Semi-Bold"/>
                  <a:cs typeface="Work Sans Semi-Bold"/>
                  <a:sym typeface="Work Sans Semi-Bold"/>
                </a:rPr>
                <a:t>ẾT</a:t>
              </a:r>
              <a:r>
                <a:rPr lang="en-US" b="true" sz="6999" spc="-384" strike="noStrike" u="none">
                  <a:solidFill>
                    <a:srgbClr val="415A77"/>
                  </a:solidFill>
                  <a:latin typeface="Work Sans Semi-Bold"/>
                  <a:ea typeface="Work Sans Semi-Bold"/>
                  <a:cs typeface="Work Sans Semi-Bold"/>
                  <a:sym typeface="Work Sans Semi-Bold"/>
                </a:rPr>
                <a:t> BẠN</a:t>
              </a:r>
            </a:p>
            <a:p>
              <a:pPr algn="l" marL="0" indent="0" lvl="0">
                <a:lnSpc>
                  <a:spcPts val="6999"/>
                </a:lnSpc>
              </a:pPr>
            </a:p>
            <a:p>
              <a:pPr algn="l" marL="0" indent="0" lvl="0">
                <a:lnSpc>
                  <a:spcPts val="6999"/>
                </a:lnSpc>
              </a:pPr>
            </a:p>
          </p:txBody>
        </p:sp>
        <p:sp>
          <p:nvSpPr>
            <p:cNvPr name="TextBox 14" id="14"/>
            <p:cNvSpPr txBox="true"/>
            <p:nvPr/>
          </p:nvSpPr>
          <p:spPr>
            <a:xfrm rot="0">
              <a:off x="31722" y="3142015"/>
              <a:ext cx="9193885" cy="1238250"/>
            </a:xfrm>
            <a:prstGeom prst="rect">
              <a:avLst/>
            </a:prstGeom>
          </p:spPr>
          <p:txBody>
            <a:bodyPr anchor="t" rtlCol="false" tIns="0" lIns="0" bIns="0" rIns="0">
              <a:spAutoFit/>
            </a:bodyPr>
            <a:lstStyle/>
            <a:p>
              <a:pPr algn="l">
                <a:lnSpc>
                  <a:spcPts val="3600"/>
                </a:lnSpc>
                <a:spcBef>
                  <a:spcPct val="0"/>
                </a:spcBef>
              </a:pPr>
              <a:r>
                <a:rPr lang="en-US" sz="3000" spc="-165">
                  <a:solidFill>
                    <a:srgbClr val="415A77"/>
                  </a:solidFill>
                  <a:latin typeface="Work Sans"/>
                  <a:ea typeface="Work Sans"/>
                  <a:cs typeface="Work Sans"/>
                  <a:sym typeface="Work Sans"/>
                </a:rPr>
                <a:t>Mục tiêu : Gửi lời m</a:t>
              </a:r>
              <a:r>
                <a:rPr lang="en-US" sz="3000" spc="-165">
                  <a:solidFill>
                    <a:srgbClr val="415A77"/>
                  </a:solidFill>
                  <a:latin typeface="Work Sans"/>
                  <a:ea typeface="Work Sans"/>
                  <a:cs typeface="Work Sans"/>
                  <a:sym typeface="Work Sans"/>
                </a:rPr>
                <a:t>ờ</a:t>
              </a:r>
              <a:r>
                <a:rPr lang="en-US" sz="3000" spc="-165" strike="noStrike" u="none">
                  <a:solidFill>
                    <a:srgbClr val="415A77"/>
                  </a:solidFill>
                  <a:latin typeface="Work Sans"/>
                  <a:ea typeface="Work Sans"/>
                  <a:cs typeface="Work Sans"/>
                  <a:sym typeface="Work Sans"/>
                </a:rPr>
                <a:t>i kết bạn hợp </a:t>
              </a:r>
              <a:r>
                <a:rPr lang="en-US" sz="3000" spc="-165" strike="noStrike" u="none">
                  <a:solidFill>
                    <a:srgbClr val="415A77"/>
                  </a:solidFill>
                  <a:latin typeface="Work Sans"/>
                  <a:ea typeface="Work Sans"/>
                  <a:cs typeface="Work Sans"/>
                  <a:sym typeface="Work Sans"/>
                </a:rPr>
                <a:t>lệ</a:t>
              </a:r>
            </a:p>
            <a:p>
              <a:pPr algn="l" marL="0" indent="0" lvl="0">
                <a:lnSpc>
                  <a:spcPts val="3600"/>
                </a:lnSpc>
                <a:spcBef>
                  <a:spcPct val="0"/>
                </a:spcBef>
              </a:pPr>
            </a:p>
          </p:txBody>
        </p:sp>
      </p:grpSp>
    </p:spTree>
  </p:cSld>
  <p:clrMapOvr>
    <a:masterClrMapping/>
  </p:clrMapOvr>
</p:sld>
</file>

<file path=ppt/slides/slide13.xml><?xml version="1.0" encoding="utf-8"?>
<p:sld xmlns:p="http://schemas.openxmlformats.org/presentationml/2006/main" xmlns:a="http://schemas.openxmlformats.org/drawingml/2006/main">
  <p:cSld>
    <p:bg>
      <p:bgPr>
        <a:solidFill>
          <a:srgbClr val="1B263B"/>
        </a:solidFill>
      </p:bgPr>
    </p:bg>
    <p:spTree>
      <p:nvGrpSpPr>
        <p:cNvPr id="1" name=""/>
        <p:cNvGrpSpPr/>
        <p:nvPr/>
      </p:nvGrpSpPr>
      <p:grpSpPr>
        <a:xfrm>
          <a:off x="0" y="0"/>
          <a:ext cx="0" cy="0"/>
          <a:chOff x="0" y="0"/>
          <a:chExt cx="0" cy="0"/>
        </a:xfrm>
      </p:grpSpPr>
      <p:grpSp>
        <p:nvGrpSpPr>
          <p:cNvPr name="Group 2" id="2"/>
          <p:cNvGrpSpPr/>
          <p:nvPr/>
        </p:nvGrpSpPr>
        <p:grpSpPr>
          <a:xfrm rot="0">
            <a:off x="682479"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415A77"/>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E0E1DD"/>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758976" y="1190507"/>
            <a:ext cx="5920185" cy="7641063"/>
            <a:chOff x="0" y="0"/>
            <a:chExt cx="7893580" cy="10188084"/>
          </a:xfrm>
        </p:grpSpPr>
        <p:sp>
          <p:nvSpPr>
            <p:cNvPr name="TextBox 8" id="8"/>
            <p:cNvSpPr txBox="true"/>
            <p:nvPr/>
          </p:nvSpPr>
          <p:spPr>
            <a:xfrm rot="0">
              <a:off x="54471" y="6537469"/>
              <a:ext cx="7839109" cy="36506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Hướng</a:t>
              </a:r>
              <a:r>
                <a:rPr lang="en-US" sz="2100" spc="-115">
                  <a:solidFill>
                    <a:srgbClr val="E0E1DD"/>
                  </a:solidFill>
                  <a:latin typeface="Work Sans"/>
                  <a:ea typeface="Work Sans"/>
                  <a:cs typeface="Work Sans"/>
                  <a:sym typeface="Work Sans"/>
                </a:rPr>
                <a:t> làm</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UPDATE Friends status → accepted</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Trigger</a:t>
              </a:r>
              <a:r>
                <a:rPr lang="en-US" sz="2100" spc="-115">
                  <a:solidFill>
                    <a:srgbClr val="E0E1DD"/>
                  </a:solidFill>
                  <a:latin typeface="Work Sans"/>
                  <a:ea typeface="Work Sans"/>
                  <a:cs typeface="Work Sans"/>
                  <a:sym typeface="Work Sans"/>
                </a:rPr>
                <a:t> </a:t>
              </a:r>
              <a:r>
                <a:rPr lang="en-US" sz="2100" spc="-115">
                  <a:solidFill>
                    <a:srgbClr val="E0E1DD"/>
                  </a:solidFill>
                  <a:latin typeface="Work Sans"/>
                  <a:ea typeface="Work Sans"/>
                  <a:cs typeface="Work Sans"/>
                  <a:sym typeface="Work Sans"/>
                </a:rPr>
                <a:t>AFTER UPDATE:</a:t>
              </a:r>
            </a:p>
            <a:p>
              <a:pPr algn="l" marL="906780" indent="-302260" lvl="2">
                <a:lnSpc>
                  <a:spcPts val="2730"/>
                </a:lnSpc>
                <a:buFont typeface="Arial"/>
                <a:buChar char="⚬"/>
              </a:pPr>
              <a:r>
                <a:rPr lang="en-US" sz="2100" spc="-115">
                  <a:solidFill>
                    <a:srgbClr val="E0E1DD"/>
                  </a:solidFill>
                  <a:latin typeface="Work Sans"/>
                  <a:ea typeface="Work Sans"/>
                  <a:cs typeface="Work Sans"/>
                  <a:sym typeface="Work Sans"/>
                </a:rPr>
                <a:t>Tự độ</a:t>
              </a:r>
              <a:r>
                <a:rPr lang="en-US" sz="2100" spc="-115">
                  <a:solidFill>
                    <a:srgbClr val="E0E1DD"/>
                  </a:solidFill>
                  <a:latin typeface="Work Sans"/>
                  <a:ea typeface="Work Sans"/>
                  <a:cs typeface="Work Sans"/>
                  <a:sym typeface="Work Sans"/>
                </a:rPr>
                <a:t>n</a:t>
              </a:r>
              <a:r>
                <a:rPr lang="en-US" sz="2100" spc="-115">
                  <a:solidFill>
                    <a:srgbClr val="E0E1DD"/>
                  </a:solidFill>
                  <a:latin typeface="Work Sans"/>
                  <a:ea typeface="Work Sans"/>
                  <a:cs typeface="Work Sans"/>
                  <a:sym typeface="Work Sans"/>
                </a:rPr>
                <a:t>g</a:t>
              </a:r>
              <a:r>
                <a:rPr lang="en-US" sz="2100" spc="-115">
                  <a:solidFill>
                    <a:srgbClr val="E0E1DD"/>
                  </a:solidFill>
                  <a:latin typeface="Work Sans"/>
                  <a:ea typeface="Work Sans"/>
                  <a:cs typeface="Work Sans"/>
                  <a:sym typeface="Work Sans"/>
                </a:rPr>
                <a:t> tạ</a:t>
              </a:r>
              <a:r>
                <a:rPr lang="en-US" sz="2100" spc="-115">
                  <a:solidFill>
                    <a:srgbClr val="E0E1DD"/>
                  </a:solidFill>
                  <a:latin typeface="Work Sans"/>
                  <a:ea typeface="Work Sans"/>
                  <a:cs typeface="Work Sans"/>
                  <a:sym typeface="Work Sans"/>
                </a:rPr>
                <a:t>o</a:t>
              </a:r>
              <a:r>
                <a:rPr lang="en-US" sz="2100" spc="-115">
                  <a:solidFill>
                    <a:srgbClr val="E0E1DD"/>
                  </a:solidFill>
                  <a:latin typeface="Work Sans"/>
                  <a:ea typeface="Work Sans"/>
                  <a:cs typeface="Work Sans"/>
                  <a:sym typeface="Work Sans"/>
                </a:rPr>
                <a:t> b</a:t>
              </a:r>
              <a:r>
                <a:rPr lang="en-US" sz="2100" spc="-115">
                  <a:solidFill>
                    <a:srgbClr val="E0E1DD"/>
                  </a:solidFill>
                  <a:latin typeface="Work Sans"/>
                  <a:ea typeface="Work Sans"/>
                  <a:cs typeface="Work Sans"/>
                  <a:sym typeface="Work Sans"/>
                </a:rPr>
                <a:t>ả</a:t>
              </a:r>
              <a:r>
                <a:rPr lang="en-US" sz="2100" spc="-115">
                  <a:solidFill>
                    <a:srgbClr val="E0E1DD"/>
                  </a:solidFill>
                  <a:latin typeface="Work Sans"/>
                  <a:ea typeface="Work Sans"/>
                  <a:cs typeface="Work Sans"/>
                  <a:sym typeface="Work Sans"/>
                </a:rPr>
                <a:t>n </a:t>
              </a:r>
              <a:r>
                <a:rPr lang="en-US" sz="2100" spc="-115">
                  <a:solidFill>
                    <a:srgbClr val="E0E1DD"/>
                  </a:solidFill>
                  <a:latin typeface="Work Sans"/>
                  <a:ea typeface="Work Sans"/>
                  <a:cs typeface="Work Sans"/>
                  <a:sym typeface="Work Sans"/>
                </a:rPr>
                <a:t>ghi</a:t>
              </a:r>
              <a:r>
                <a:rPr lang="en-US" sz="2100" spc="-115">
                  <a:solidFill>
                    <a:srgbClr val="E0E1DD"/>
                  </a:solidFill>
                  <a:latin typeface="Work Sans"/>
                  <a:ea typeface="Work Sans"/>
                  <a:cs typeface="Work Sans"/>
                  <a:sym typeface="Work Sans"/>
                </a:rPr>
                <a:t> n</a:t>
              </a:r>
              <a:r>
                <a:rPr lang="en-US" sz="2100" spc="-115">
                  <a:solidFill>
                    <a:srgbClr val="E0E1DD"/>
                  </a:solidFill>
                  <a:latin typeface="Work Sans"/>
                  <a:ea typeface="Work Sans"/>
                  <a:cs typeface="Work Sans"/>
                  <a:sym typeface="Work Sans"/>
                </a:rPr>
                <a:t>gược lại</a:t>
              </a:r>
            </a:p>
            <a:p>
              <a:pPr algn="l" marL="0" indent="0" lvl="0">
                <a:lnSpc>
                  <a:spcPts val="2730"/>
                </a:lnSpc>
              </a:pPr>
              <a:r>
                <a:rPr lang="en-US" sz="2100" spc="-115">
                  <a:solidFill>
                    <a:srgbClr val="E0E1DD"/>
                  </a:solidFill>
                  <a:latin typeface="Work Sans"/>
                  <a:ea typeface="Work Sans"/>
                  <a:cs typeface="Work Sans"/>
                  <a:sym typeface="Work Sans"/>
                </a:rPr>
                <a:t>Demo</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Sau khi chấp nhận:</a:t>
              </a:r>
            </a:p>
            <a:p>
              <a:pPr algn="l" marL="906780" indent="-302260" lvl="2">
                <a:lnSpc>
                  <a:spcPts val="2730"/>
                </a:lnSpc>
                <a:buFont typeface="Arial"/>
                <a:buChar char="⚬"/>
              </a:pPr>
              <a:r>
                <a:rPr lang="en-US" sz="2100" spc="-115">
                  <a:solidFill>
                    <a:srgbClr val="E0E1DD"/>
                  </a:solidFill>
                  <a:latin typeface="Work Sans"/>
                  <a:ea typeface="Work Sans"/>
                  <a:cs typeface="Work Sans"/>
                  <a:sym typeface="Work Sans"/>
                </a:rPr>
                <a:t>Cả hai chiều đều là bạn bè</a:t>
              </a:r>
            </a:p>
            <a:p>
              <a:pPr algn="l" marL="0" indent="0" lvl="0">
                <a:lnSpc>
                  <a:spcPts val="2730"/>
                </a:lnSpc>
              </a:pPr>
            </a:p>
          </p:txBody>
        </p:sp>
        <p:sp>
          <p:nvSpPr>
            <p:cNvPr name="TextBox 9" id="9"/>
            <p:cNvSpPr txBox="true"/>
            <p:nvPr/>
          </p:nvSpPr>
          <p:spPr>
            <a:xfrm rot="0">
              <a:off x="0" y="133350"/>
              <a:ext cx="7893580" cy="3647017"/>
            </a:xfrm>
            <a:prstGeom prst="rect">
              <a:avLst/>
            </a:prstGeom>
          </p:spPr>
          <p:txBody>
            <a:bodyPr anchor="t" rtlCol="false" tIns="0" lIns="0" bIns="0" rIns="0">
              <a:spAutoFit/>
            </a:bodyPr>
            <a:lstStyle/>
            <a:p>
              <a:pPr algn="l" marL="0" indent="0" lvl="0">
                <a:lnSpc>
                  <a:spcPts val="6999"/>
                </a:lnSpc>
              </a:pPr>
              <a:r>
                <a:rPr lang="en-US" b="true" sz="6999" spc="-384">
                  <a:solidFill>
                    <a:srgbClr val="E0E1DD"/>
                  </a:solidFill>
                  <a:latin typeface="Work Sans Semi-Bold"/>
                  <a:ea typeface="Work Sans Semi-Bold"/>
                  <a:cs typeface="Work Sans Semi-Bold"/>
                  <a:sym typeface="Work Sans Semi-Bold"/>
                </a:rPr>
                <a:t>BÀI</a:t>
              </a:r>
              <a:r>
                <a:rPr lang="en-US" b="true" sz="6999" spc="-384" strike="noStrike" u="none">
                  <a:solidFill>
                    <a:srgbClr val="E0E1DD"/>
                  </a:solidFill>
                  <a:latin typeface="Work Sans Semi-Bold"/>
                  <a:ea typeface="Work Sans Semi-Bold"/>
                  <a:cs typeface="Work Sans Semi-Bold"/>
                  <a:sym typeface="Work Sans Semi-Bold"/>
                </a:rPr>
                <a:t> 5: CHẤP NHẬN</a:t>
              </a:r>
              <a:r>
                <a:rPr lang="en-US" b="true" sz="6999" spc="-384" strike="noStrike" u="none">
                  <a:solidFill>
                    <a:srgbClr val="E0E1DD"/>
                  </a:solidFill>
                  <a:latin typeface="Work Sans Semi-Bold"/>
                  <a:ea typeface="Work Sans Semi-Bold"/>
                  <a:cs typeface="Work Sans Semi-Bold"/>
                  <a:sym typeface="Work Sans Semi-Bold"/>
                </a:rPr>
                <a:t> LỜI MỜI</a:t>
              </a:r>
              <a:r>
                <a:rPr lang="en-US" b="true" sz="6999" spc="-384" strike="noStrike" u="none">
                  <a:solidFill>
                    <a:srgbClr val="E0E1DD"/>
                  </a:solidFill>
                  <a:latin typeface="Work Sans Semi-Bold"/>
                  <a:ea typeface="Work Sans Semi-Bold"/>
                  <a:cs typeface="Work Sans Semi-Bold"/>
                  <a:sym typeface="Work Sans Semi-Bold"/>
                </a:rPr>
                <a:t> K</a:t>
              </a:r>
              <a:r>
                <a:rPr lang="en-US" b="true" sz="6999" spc="-384" strike="noStrike" u="none">
                  <a:solidFill>
                    <a:srgbClr val="E0E1DD"/>
                  </a:solidFill>
                  <a:latin typeface="Work Sans Semi-Bold"/>
                  <a:ea typeface="Work Sans Semi-Bold"/>
                  <a:cs typeface="Work Sans Semi-Bold"/>
                  <a:sym typeface="Work Sans Semi-Bold"/>
                </a:rPr>
                <a:t>Ế</a:t>
              </a:r>
              <a:r>
                <a:rPr lang="en-US" b="true" sz="6999" spc="-384" strike="noStrike" u="none">
                  <a:solidFill>
                    <a:srgbClr val="E0E1DD"/>
                  </a:solidFill>
                  <a:latin typeface="Work Sans Semi-Bold"/>
                  <a:ea typeface="Work Sans Semi-Bold"/>
                  <a:cs typeface="Work Sans Semi-Bold"/>
                  <a:sym typeface="Work Sans Semi-Bold"/>
                </a:rPr>
                <a:t>T </a:t>
              </a:r>
              <a:r>
                <a:rPr lang="en-US" b="true" sz="6999" spc="-384" strike="noStrike" u="none">
                  <a:solidFill>
                    <a:srgbClr val="E0E1DD"/>
                  </a:solidFill>
                  <a:latin typeface="Work Sans Semi-Bold"/>
                  <a:ea typeface="Work Sans Semi-Bold"/>
                  <a:cs typeface="Work Sans Semi-Bold"/>
                  <a:sym typeface="Work Sans Semi-Bold"/>
                </a:rPr>
                <a:t>BẠ</a:t>
              </a:r>
              <a:r>
                <a:rPr lang="en-US" b="true" sz="6999" spc="-384" strike="noStrike" u="none">
                  <a:solidFill>
                    <a:srgbClr val="E0E1DD"/>
                  </a:solidFill>
                  <a:latin typeface="Work Sans Semi-Bold"/>
                  <a:ea typeface="Work Sans Semi-Bold"/>
                  <a:cs typeface="Work Sans Semi-Bold"/>
                  <a:sym typeface="Work Sans Semi-Bold"/>
                </a:rPr>
                <a:t>N</a:t>
              </a:r>
            </a:p>
          </p:txBody>
        </p:sp>
        <p:sp>
          <p:nvSpPr>
            <p:cNvPr name="TextBox 10" id="10"/>
            <p:cNvSpPr txBox="true"/>
            <p:nvPr/>
          </p:nvSpPr>
          <p:spPr>
            <a:xfrm rot="0">
              <a:off x="0" y="4100127"/>
              <a:ext cx="7893580" cy="1847850"/>
            </a:xfrm>
            <a:prstGeom prst="rect">
              <a:avLst/>
            </a:prstGeom>
          </p:spPr>
          <p:txBody>
            <a:bodyPr anchor="t" rtlCol="false" tIns="0" lIns="0" bIns="0" rIns="0">
              <a:spAutoFit/>
            </a:bodyPr>
            <a:lstStyle/>
            <a:p>
              <a:pPr algn="l">
                <a:lnSpc>
                  <a:spcPts val="3600"/>
                </a:lnSpc>
                <a:spcBef>
                  <a:spcPct val="0"/>
                </a:spcBef>
              </a:pPr>
              <a:r>
                <a:rPr lang="en-US" sz="3000" spc="-165">
                  <a:solidFill>
                    <a:srgbClr val="E0E1DD"/>
                  </a:solidFill>
                  <a:latin typeface="Work Sans"/>
                  <a:ea typeface="Work Sans"/>
                  <a:cs typeface="Work Sans"/>
                  <a:sym typeface="Work Sans"/>
                </a:rPr>
                <a:t>Mụ</a:t>
              </a:r>
              <a:r>
                <a:rPr lang="en-US" sz="3000" spc="-165" strike="noStrike" u="none">
                  <a:solidFill>
                    <a:srgbClr val="E0E1DD"/>
                  </a:solidFill>
                  <a:latin typeface="Work Sans"/>
                  <a:ea typeface="Work Sans"/>
                  <a:cs typeface="Work Sans"/>
                  <a:sym typeface="Work Sans"/>
                </a:rPr>
                <a:t>c tiêu : Tạo mối </a:t>
              </a:r>
              <a:r>
                <a:rPr lang="en-US" sz="3000" spc="-165" strike="noStrike" u="none">
                  <a:solidFill>
                    <a:srgbClr val="E0E1DD"/>
                  </a:solidFill>
                  <a:latin typeface="Work Sans"/>
                  <a:ea typeface="Work Sans"/>
                  <a:cs typeface="Work Sans"/>
                  <a:sym typeface="Work Sans"/>
                </a:rPr>
                <a:t>qua</a:t>
              </a:r>
              <a:r>
                <a:rPr lang="en-US" sz="3000" spc="-165" strike="noStrike" u="none">
                  <a:solidFill>
                    <a:srgbClr val="E0E1DD"/>
                  </a:solidFill>
                  <a:latin typeface="Work Sans"/>
                  <a:ea typeface="Work Sans"/>
                  <a:cs typeface="Work Sans"/>
                  <a:sym typeface="Work Sans"/>
                </a:rPr>
                <a:t>n hệ bạn bè hai</a:t>
              </a:r>
              <a:r>
                <a:rPr lang="en-US" sz="3000" spc="-165" strike="noStrike" u="none">
                  <a:solidFill>
                    <a:srgbClr val="E0E1DD"/>
                  </a:solidFill>
                  <a:latin typeface="Work Sans"/>
                  <a:ea typeface="Work Sans"/>
                  <a:cs typeface="Work Sans"/>
                  <a:sym typeface="Work Sans"/>
                </a:rPr>
                <a:t> chiều</a:t>
              </a:r>
            </a:p>
            <a:p>
              <a:pPr algn="l" marL="0" indent="0" lvl="0">
                <a:lnSpc>
                  <a:spcPts val="3600"/>
                </a:lnSpc>
                <a:spcBef>
                  <a:spcPct val="0"/>
                </a:spcBef>
              </a:pPr>
            </a:p>
          </p:txBody>
        </p:sp>
      </p:grpSp>
      <p:grpSp>
        <p:nvGrpSpPr>
          <p:cNvPr name="Group 11" id="11"/>
          <p:cNvGrpSpPr/>
          <p:nvPr/>
        </p:nvGrpSpPr>
        <p:grpSpPr>
          <a:xfrm rot="0">
            <a:off x="10635156" y="1190507"/>
            <a:ext cx="5899787" cy="7983963"/>
            <a:chOff x="0" y="0"/>
            <a:chExt cx="7866383" cy="10645284"/>
          </a:xfrm>
        </p:grpSpPr>
        <p:sp>
          <p:nvSpPr>
            <p:cNvPr name="TextBox 12" id="12"/>
            <p:cNvSpPr txBox="true"/>
            <p:nvPr/>
          </p:nvSpPr>
          <p:spPr>
            <a:xfrm rot="0">
              <a:off x="54283" y="6537469"/>
              <a:ext cx="7812100" cy="4107815"/>
            </a:xfrm>
            <a:prstGeom prst="rect">
              <a:avLst/>
            </a:prstGeom>
          </p:spPr>
          <p:txBody>
            <a:bodyPr anchor="t" rtlCol="false" tIns="0" lIns="0" bIns="0" rIns="0">
              <a:spAutoFit/>
            </a:bodyPr>
            <a:lstStyle/>
            <a:p>
              <a:pPr algn="l" marL="0" indent="0" lvl="0">
                <a:lnSpc>
                  <a:spcPts val="2730"/>
                </a:lnSpc>
              </a:pPr>
              <a:r>
                <a:rPr lang="en-US" sz="2100" spc="-115">
                  <a:solidFill>
                    <a:srgbClr val="415A77"/>
                  </a:solidFill>
                  <a:latin typeface="Work Sans"/>
                  <a:ea typeface="Work Sans"/>
                  <a:cs typeface="Work Sans"/>
                  <a:sym typeface="Work Sans"/>
                </a:rPr>
                <a:t>Hướ</a:t>
              </a:r>
              <a:r>
                <a:rPr lang="en-US" sz="2100" spc="-115">
                  <a:solidFill>
                    <a:srgbClr val="415A77"/>
                  </a:solidFill>
                  <a:latin typeface="Work Sans"/>
                  <a:ea typeface="Work Sans"/>
                  <a:cs typeface="Work Sans"/>
                  <a:sym typeface="Work Sans"/>
                </a:rPr>
                <a:t>ng làm</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Stored Procedure</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Sử</a:t>
              </a:r>
              <a:r>
                <a:rPr lang="en-US" sz="2100" spc="-115">
                  <a:solidFill>
                    <a:srgbClr val="415A77"/>
                  </a:solidFill>
                  <a:latin typeface="Work Sans"/>
                  <a:ea typeface="Work Sans"/>
                  <a:cs typeface="Work Sans"/>
                  <a:sym typeface="Work Sans"/>
                </a:rPr>
                <a:t> dụng Transaction:</a:t>
              </a:r>
            </a:p>
            <a:p>
              <a:pPr algn="l" marL="906780" indent="-302260" lvl="2">
                <a:lnSpc>
                  <a:spcPts val="2730"/>
                </a:lnSpc>
                <a:buFont typeface="Arial"/>
                <a:buChar char="⚬"/>
              </a:pPr>
              <a:r>
                <a:rPr lang="en-US" sz="2100" spc="-115">
                  <a:solidFill>
                    <a:srgbClr val="415A77"/>
                  </a:solidFill>
                  <a:latin typeface="Work Sans"/>
                  <a:ea typeface="Work Sans"/>
                  <a:cs typeface="Work Sans"/>
                  <a:sym typeface="Work Sans"/>
                </a:rPr>
                <a:t>S</a:t>
              </a:r>
              <a:r>
                <a:rPr lang="en-US" sz="2100" spc="-115">
                  <a:solidFill>
                    <a:srgbClr val="415A77"/>
                  </a:solidFill>
                  <a:latin typeface="Work Sans"/>
                  <a:ea typeface="Work Sans"/>
                  <a:cs typeface="Work Sans"/>
                  <a:sym typeface="Work Sans"/>
                </a:rPr>
                <a:t>TART TRANSACTION</a:t>
              </a:r>
            </a:p>
            <a:p>
              <a:pPr algn="l" marL="906780" indent="-302260" lvl="2">
                <a:lnSpc>
                  <a:spcPts val="2730"/>
                </a:lnSpc>
                <a:buFont typeface="Arial"/>
                <a:buChar char="⚬"/>
              </a:pPr>
              <a:r>
                <a:rPr lang="en-US" sz="2100" spc="-115">
                  <a:solidFill>
                    <a:srgbClr val="415A77"/>
                  </a:solidFill>
                  <a:latin typeface="Work Sans"/>
                  <a:ea typeface="Work Sans"/>
                  <a:cs typeface="Work Sans"/>
                  <a:sym typeface="Work Sans"/>
                </a:rPr>
                <a:t>COMMIT</a:t>
              </a:r>
              <a:r>
                <a:rPr lang="en-US" sz="2100" spc="-115">
                  <a:solidFill>
                    <a:srgbClr val="415A77"/>
                  </a:solidFill>
                  <a:latin typeface="Work Sans"/>
                  <a:ea typeface="Work Sans"/>
                  <a:cs typeface="Work Sans"/>
                  <a:sym typeface="Work Sans"/>
                </a:rPr>
                <a:t> / ROLLBACK</a:t>
              </a:r>
            </a:p>
            <a:p>
              <a:pPr algn="l" marL="0" indent="0" lvl="0">
                <a:lnSpc>
                  <a:spcPts val="2730"/>
                </a:lnSpc>
              </a:pPr>
              <a:r>
                <a:rPr lang="en-US" sz="2100" spc="-115">
                  <a:solidFill>
                    <a:srgbClr val="415A77"/>
                  </a:solidFill>
                  <a:latin typeface="Work Sans"/>
                  <a:ea typeface="Work Sans"/>
                  <a:cs typeface="Work Sans"/>
                  <a:sym typeface="Work Sans"/>
                </a:rPr>
                <a:t>Demo</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Cập nhật/xóa thành công → dữ liệu nhất quán</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Gây lỗi → rollback toàn bộ</a:t>
              </a:r>
            </a:p>
            <a:p>
              <a:pPr algn="l" marL="0" indent="0" lvl="0">
                <a:lnSpc>
                  <a:spcPts val="2730"/>
                </a:lnSpc>
              </a:pPr>
            </a:p>
          </p:txBody>
        </p:sp>
        <p:sp>
          <p:nvSpPr>
            <p:cNvPr name="TextBox 13" id="13"/>
            <p:cNvSpPr txBox="true"/>
            <p:nvPr/>
          </p:nvSpPr>
          <p:spPr>
            <a:xfrm rot="0">
              <a:off x="0" y="133350"/>
              <a:ext cx="7866383" cy="3647017"/>
            </a:xfrm>
            <a:prstGeom prst="rect">
              <a:avLst/>
            </a:prstGeom>
          </p:spPr>
          <p:txBody>
            <a:bodyPr anchor="t" rtlCol="false" tIns="0" lIns="0" bIns="0" rIns="0">
              <a:spAutoFit/>
            </a:bodyPr>
            <a:lstStyle/>
            <a:p>
              <a:pPr algn="l" marL="0" indent="0" lvl="0">
                <a:lnSpc>
                  <a:spcPts val="6999"/>
                </a:lnSpc>
              </a:pPr>
              <a:r>
                <a:rPr lang="en-US" b="true" sz="6999" spc="-384">
                  <a:solidFill>
                    <a:srgbClr val="415A77"/>
                  </a:solidFill>
                  <a:latin typeface="Work Sans Semi-Bold"/>
                  <a:ea typeface="Work Sans Semi-Bold"/>
                  <a:cs typeface="Work Sans Semi-Bold"/>
                  <a:sym typeface="Work Sans Semi-Bold"/>
                </a:rPr>
                <a:t>BÀI</a:t>
              </a:r>
              <a:r>
                <a:rPr lang="en-US" b="true" sz="6999" spc="-384" strike="noStrike" u="none">
                  <a:solidFill>
                    <a:srgbClr val="415A77"/>
                  </a:solidFill>
                  <a:latin typeface="Work Sans Semi-Bold"/>
                  <a:ea typeface="Work Sans Semi-Bold"/>
                  <a:cs typeface="Work Sans Semi-Bold"/>
                  <a:sym typeface="Work Sans Semi-Bold"/>
                </a:rPr>
                <a:t> 6: </a:t>
              </a:r>
              <a:r>
                <a:rPr lang="en-US" b="true" sz="6999" spc="-384" strike="noStrike" u="none">
                  <a:solidFill>
                    <a:srgbClr val="415A77"/>
                  </a:solidFill>
                  <a:latin typeface="Work Sans Semi-Bold"/>
                  <a:ea typeface="Work Sans Semi-Bold"/>
                  <a:cs typeface="Work Sans Semi-Bold"/>
                  <a:sym typeface="Work Sans Semi-Bold"/>
                </a:rPr>
                <a:t>QUẢN LÝ MỐI QUA</a:t>
              </a:r>
              <a:r>
                <a:rPr lang="en-US" b="true" sz="6999" spc="-384" strike="noStrike" u="none">
                  <a:solidFill>
                    <a:srgbClr val="415A77"/>
                  </a:solidFill>
                  <a:latin typeface="Work Sans Semi-Bold"/>
                  <a:ea typeface="Work Sans Semi-Bold"/>
                  <a:cs typeface="Work Sans Semi-Bold"/>
                  <a:sym typeface="Work Sans Semi-Bold"/>
                </a:rPr>
                <a:t>N</a:t>
              </a:r>
              <a:r>
                <a:rPr lang="en-US" b="true" sz="6999" spc="-384" strike="noStrike" u="none">
                  <a:solidFill>
                    <a:srgbClr val="415A77"/>
                  </a:solidFill>
                  <a:latin typeface="Work Sans Semi-Bold"/>
                  <a:ea typeface="Work Sans Semi-Bold"/>
                  <a:cs typeface="Work Sans Semi-Bold"/>
                  <a:sym typeface="Work Sans Semi-Bold"/>
                </a:rPr>
                <a:t> HỆ</a:t>
              </a:r>
              <a:r>
                <a:rPr lang="en-US" b="true" sz="6999" spc="-384" strike="noStrike" u="none">
                  <a:solidFill>
                    <a:srgbClr val="415A77"/>
                  </a:solidFill>
                  <a:latin typeface="Work Sans Semi-Bold"/>
                  <a:ea typeface="Work Sans Semi-Bold"/>
                  <a:cs typeface="Work Sans Semi-Bold"/>
                  <a:sym typeface="Work Sans Semi-Bold"/>
                </a:rPr>
                <a:t> B</a:t>
              </a:r>
              <a:r>
                <a:rPr lang="en-US" b="true" sz="6999" spc="-384" strike="noStrike" u="none">
                  <a:solidFill>
                    <a:srgbClr val="415A77"/>
                  </a:solidFill>
                  <a:latin typeface="Work Sans Semi-Bold"/>
                  <a:ea typeface="Work Sans Semi-Bold"/>
                  <a:cs typeface="Work Sans Semi-Bold"/>
                  <a:sym typeface="Work Sans Semi-Bold"/>
                </a:rPr>
                <a:t>ẠN</a:t>
              </a:r>
              <a:r>
                <a:rPr lang="en-US" b="true" sz="6999" spc="-384" strike="noStrike" u="none">
                  <a:solidFill>
                    <a:srgbClr val="415A77"/>
                  </a:solidFill>
                  <a:latin typeface="Work Sans Semi-Bold"/>
                  <a:ea typeface="Work Sans Semi-Bold"/>
                  <a:cs typeface="Work Sans Semi-Bold"/>
                  <a:sym typeface="Work Sans Semi-Bold"/>
                </a:rPr>
                <a:t> BÈ</a:t>
              </a:r>
            </a:p>
          </p:txBody>
        </p:sp>
        <p:sp>
          <p:nvSpPr>
            <p:cNvPr name="TextBox 14" id="14"/>
            <p:cNvSpPr txBox="true"/>
            <p:nvPr/>
          </p:nvSpPr>
          <p:spPr>
            <a:xfrm rot="0">
              <a:off x="0" y="4100127"/>
              <a:ext cx="7866383" cy="1847850"/>
            </a:xfrm>
            <a:prstGeom prst="rect">
              <a:avLst/>
            </a:prstGeom>
          </p:spPr>
          <p:txBody>
            <a:bodyPr anchor="t" rtlCol="false" tIns="0" lIns="0" bIns="0" rIns="0">
              <a:spAutoFit/>
            </a:bodyPr>
            <a:lstStyle/>
            <a:p>
              <a:pPr algn="l">
                <a:lnSpc>
                  <a:spcPts val="3600"/>
                </a:lnSpc>
                <a:spcBef>
                  <a:spcPct val="0"/>
                </a:spcBef>
              </a:pPr>
              <a:r>
                <a:rPr lang="en-US" sz="3000" spc="-165">
                  <a:solidFill>
                    <a:srgbClr val="415A77"/>
                  </a:solidFill>
                  <a:latin typeface="Work Sans"/>
                  <a:ea typeface="Work Sans"/>
                  <a:cs typeface="Work Sans"/>
                  <a:sym typeface="Work Sans"/>
                </a:rPr>
                <a:t>Mục tiêu : Cập nhật hoặc</a:t>
              </a:r>
              <a:r>
                <a:rPr lang="en-US" sz="3000" spc="-165" strike="noStrike" u="none">
                  <a:solidFill>
                    <a:srgbClr val="415A77"/>
                  </a:solidFill>
                  <a:latin typeface="Work Sans"/>
                  <a:ea typeface="Work Sans"/>
                  <a:cs typeface="Work Sans"/>
                  <a:sym typeface="Work Sans"/>
                </a:rPr>
                <a:t> xóa quan hệ bạn bè</a:t>
              </a:r>
            </a:p>
            <a:p>
              <a:pPr algn="l" marL="0" indent="0" lvl="0">
                <a:lnSpc>
                  <a:spcPts val="3600"/>
                </a:lnSpc>
                <a:spcBef>
                  <a:spcPct val="0"/>
                </a:spcBef>
              </a:pPr>
            </a:p>
          </p:txBody>
        </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1B263B"/>
        </a:solidFill>
      </p:bgPr>
    </p:bg>
    <p:spTree>
      <p:nvGrpSpPr>
        <p:cNvPr id="1" name=""/>
        <p:cNvGrpSpPr/>
        <p:nvPr/>
      </p:nvGrpSpPr>
      <p:grpSpPr>
        <a:xfrm>
          <a:off x="0" y="0"/>
          <a:ext cx="0" cy="0"/>
          <a:chOff x="0" y="0"/>
          <a:chExt cx="0" cy="0"/>
        </a:xfrm>
      </p:grpSpPr>
      <p:grpSp>
        <p:nvGrpSpPr>
          <p:cNvPr name="Group 2" id="2"/>
          <p:cNvGrpSpPr/>
          <p:nvPr/>
        </p:nvGrpSpPr>
        <p:grpSpPr>
          <a:xfrm rot="0">
            <a:off x="682479"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415A77"/>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E0E1DD"/>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758976" y="1190507"/>
            <a:ext cx="5920185" cy="7441038"/>
            <a:chOff x="0" y="0"/>
            <a:chExt cx="7893580" cy="9921384"/>
          </a:xfrm>
        </p:grpSpPr>
        <p:sp>
          <p:nvSpPr>
            <p:cNvPr name="TextBox 8" id="8"/>
            <p:cNvSpPr txBox="true"/>
            <p:nvPr/>
          </p:nvSpPr>
          <p:spPr>
            <a:xfrm rot="0">
              <a:off x="54471" y="5356369"/>
              <a:ext cx="7839109" cy="4565015"/>
            </a:xfrm>
            <a:prstGeom prst="rect">
              <a:avLst/>
            </a:prstGeom>
          </p:spPr>
          <p:txBody>
            <a:bodyPr anchor="t" rtlCol="false" tIns="0" lIns="0" bIns="0" rIns="0">
              <a:spAutoFit/>
            </a:bodyPr>
            <a:lstStyle/>
            <a:p>
              <a:pPr algn="l" marL="0" indent="0" lvl="0">
                <a:lnSpc>
                  <a:spcPts val="2730"/>
                </a:lnSpc>
              </a:pPr>
              <a:r>
                <a:rPr lang="en-US" sz="2100" spc="-115">
                  <a:solidFill>
                    <a:srgbClr val="E0E1DD"/>
                  </a:solidFill>
                  <a:latin typeface="Work Sans"/>
                  <a:ea typeface="Work Sans"/>
                  <a:cs typeface="Work Sans"/>
                  <a:sym typeface="Work Sans"/>
                </a:rPr>
                <a:t>Hướng</a:t>
              </a:r>
              <a:r>
                <a:rPr lang="en-US" sz="2100" spc="-115">
                  <a:solidFill>
                    <a:srgbClr val="E0E1DD"/>
                  </a:solidFill>
                  <a:latin typeface="Work Sans"/>
                  <a:ea typeface="Work Sans"/>
                  <a:cs typeface="Work Sans"/>
                  <a:sym typeface="Work Sans"/>
                </a:rPr>
                <a:t> làm</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Stored Procedure sp_delete_post</a:t>
              </a:r>
            </a:p>
            <a:p>
              <a:pPr algn="l" marL="906780" indent="-302260" lvl="2">
                <a:lnSpc>
                  <a:spcPts val="2730"/>
                </a:lnSpc>
                <a:buFont typeface="Arial"/>
                <a:buChar char="⚬"/>
              </a:pPr>
              <a:r>
                <a:rPr lang="en-US" sz="2100" spc="-115">
                  <a:solidFill>
                    <a:srgbClr val="E0E1DD"/>
                  </a:solidFill>
                  <a:latin typeface="Work Sans"/>
                  <a:ea typeface="Work Sans"/>
                  <a:cs typeface="Work Sans"/>
                  <a:sym typeface="Work Sans"/>
                </a:rPr>
                <a:t>Kiểm tra quyền chủ bà</a:t>
              </a:r>
              <a:r>
                <a:rPr lang="en-US" sz="2100" spc="-115">
                  <a:solidFill>
                    <a:srgbClr val="E0E1DD"/>
                  </a:solidFill>
                  <a:latin typeface="Work Sans"/>
                  <a:ea typeface="Work Sans"/>
                  <a:cs typeface="Work Sans"/>
                  <a:sym typeface="Work Sans"/>
                </a:rPr>
                <a:t>i</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Tra</a:t>
              </a:r>
              <a:r>
                <a:rPr lang="en-US" sz="2100" spc="-115">
                  <a:solidFill>
                    <a:srgbClr val="E0E1DD"/>
                  </a:solidFill>
                  <a:latin typeface="Work Sans"/>
                  <a:ea typeface="Work Sans"/>
                  <a:cs typeface="Work Sans"/>
                  <a:sym typeface="Work Sans"/>
                </a:rPr>
                <a:t>nsacti</a:t>
              </a:r>
              <a:r>
                <a:rPr lang="en-US" sz="2100" spc="-115">
                  <a:solidFill>
                    <a:srgbClr val="E0E1DD"/>
                  </a:solidFill>
                  <a:latin typeface="Work Sans"/>
                  <a:ea typeface="Work Sans"/>
                  <a:cs typeface="Work Sans"/>
                  <a:sym typeface="Work Sans"/>
                </a:rPr>
                <a:t>on</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Trigger</a:t>
              </a:r>
              <a:r>
                <a:rPr lang="en-US" sz="2100" spc="-115">
                  <a:solidFill>
                    <a:srgbClr val="E0E1DD"/>
                  </a:solidFill>
                  <a:latin typeface="Work Sans"/>
                  <a:ea typeface="Work Sans"/>
                  <a:cs typeface="Work Sans"/>
                  <a:sym typeface="Work Sans"/>
                </a:rPr>
                <a:t> hoặc ON DELE</a:t>
              </a:r>
              <a:r>
                <a:rPr lang="en-US" sz="2100" spc="-115">
                  <a:solidFill>
                    <a:srgbClr val="E0E1DD"/>
                  </a:solidFill>
                  <a:latin typeface="Work Sans"/>
                  <a:ea typeface="Work Sans"/>
                  <a:cs typeface="Work Sans"/>
                  <a:sym typeface="Work Sans"/>
                </a:rPr>
                <a:t>TE CASCADE</a:t>
              </a:r>
            </a:p>
            <a:p>
              <a:pPr algn="l" marL="906780" indent="-302260" lvl="2">
                <a:lnSpc>
                  <a:spcPts val="2730"/>
                </a:lnSpc>
                <a:buFont typeface="Arial"/>
                <a:buChar char="⚬"/>
              </a:pPr>
              <a:r>
                <a:rPr lang="en-US" sz="2100" spc="-115">
                  <a:solidFill>
                    <a:srgbClr val="E0E1DD"/>
                  </a:solidFill>
                  <a:latin typeface="Work Sans"/>
                  <a:ea typeface="Work Sans"/>
                  <a:cs typeface="Work Sans"/>
                  <a:sym typeface="Work Sans"/>
                </a:rPr>
                <a:t>Xóa</a:t>
              </a:r>
              <a:r>
                <a:rPr lang="en-US" sz="2100" spc="-115">
                  <a:solidFill>
                    <a:srgbClr val="E0E1DD"/>
                  </a:solidFill>
                  <a:latin typeface="Work Sans"/>
                  <a:ea typeface="Work Sans"/>
                  <a:cs typeface="Work Sans"/>
                  <a:sym typeface="Work Sans"/>
                </a:rPr>
                <a:t> li</a:t>
              </a:r>
              <a:r>
                <a:rPr lang="en-US" sz="2100" spc="-115">
                  <a:solidFill>
                    <a:srgbClr val="E0E1DD"/>
                  </a:solidFill>
                  <a:latin typeface="Work Sans"/>
                  <a:ea typeface="Work Sans"/>
                  <a:cs typeface="Work Sans"/>
                  <a:sym typeface="Work Sans"/>
                </a:rPr>
                <a:t>kes,</a:t>
              </a:r>
              <a:r>
                <a:rPr lang="en-US" sz="2100" spc="-115">
                  <a:solidFill>
                    <a:srgbClr val="E0E1DD"/>
                  </a:solidFill>
                  <a:latin typeface="Work Sans"/>
                  <a:ea typeface="Work Sans"/>
                  <a:cs typeface="Work Sans"/>
                  <a:sym typeface="Work Sans"/>
                </a:rPr>
                <a:t> c</a:t>
              </a:r>
              <a:r>
                <a:rPr lang="en-US" sz="2100" spc="-115">
                  <a:solidFill>
                    <a:srgbClr val="E0E1DD"/>
                  </a:solidFill>
                  <a:latin typeface="Work Sans"/>
                  <a:ea typeface="Work Sans"/>
                  <a:cs typeface="Work Sans"/>
                  <a:sym typeface="Work Sans"/>
                </a:rPr>
                <a:t>omme</a:t>
              </a:r>
              <a:r>
                <a:rPr lang="en-US" sz="2100" spc="-115">
                  <a:solidFill>
                    <a:srgbClr val="E0E1DD"/>
                  </a:solidFill>
                  <a:latin typeface="Work Sans"/>
                  <a:ea typeface="Work Sans"/>
                  <a:cs typeface="Work Sans"/>
                  <a:sym typeface="Work Sans"/>
                </a:rPr>
                <a:t>nt</a:t>
              </a:r>
              <a:r>
                <a:rPr lang="en-US" sz="2100" spc="-115">
                  <a:solidFill>
                    <a:srgbClr val="E0E1DD"/>
                  </a:solidFill>
                  <a:latin typeface="Work Sans"/>
                  <a:ea typeface="Work Sans"/>
                  <a:cs typeface="Work Sans"/>
                  <a:sym typeface="Work Sans"/>
                </a:rPr>
                <a:t>s</a:t>
              </a:r>
            </a:p>
            <a:p>
              <a:pPr algn="l" marL="0" indent="0" lvl="0">
                <a:lnSpc>
                  <a:spcPts val="2730"/>
                </a:lnSpc>
              </a:pPr>
              <a:r>
                <a:rPr lang="en-US" sz="2100" spc="-115">
                  <a:solidFill>
                    <a:srgbClr val="E0E1DD"/>
                  </a:solidFill>
                  <a:latin typeface="Work Sans"/>
                  <a:ea typeface="Work Sans"/>
                  <a:cs typeface="Work Sans"/>
                  <a:sym typeface="Work Sans"/>
                </a:rPr>
                <a:t>Demo</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Xóa bài → toàn bộ dữ liệu liên quan biến mất</a:t>
              </a:r>
            </a:p>
            <a:p>
              <a:pPr algn="l" marL="453390" indent="-226695" lvl="1">
                <a:lnSpc>
                  <a:spcPts val="2730"/>
                </a:lnSpc>
                <a:buFont typeface="Arial"/>
                <a:buChar char="•"/>
              </a:pPr>
              <a:r>
                <a:rPr lang="en-US" sz="2100" spc="-115">
                  <a:solidFill>
                    <a:srgbClr val="E0E1DD"/>
                  </a:solidFill>
                  <a:latin typeface="Work Sans"/>
                  <a:ea typeface="Work Sans"/>
                  <a:cs typeface="Work Sans"/>
                  <a:sym typeface="Work Sans"/>
                </a:rPr>
                <a:t>Lỗi → rollback</a:t>
              </a:r>
            </a:p>
            <a:p>
              <a:pPr algn="l" marL="0" indent="0" lvl="0">
                <a:lnSpc>
                  <a:spcPts val="2730"/>
                </a:lnSpc>
              </a:pPr>
            </a:p>
          </p:txBody>
        </p:sp>
        <p:sp>
          <p:nvSpPr>
            <p:cNvPr name="TextBox 9" id="9"/>
            <p:cNvSpPr txBox="true"/>
            <p:nvPr/>
          </p:nvSpPr>
          <p:spPr>
            <a:xfrm rot="0">
              <a:off x="0" y="133350"/>
              <a:ext cx="7893580" cy="2465917"/>
            </a:xfrm>
            <a:prstGeom prst="rect">
              <a:avLst/>
            </a:prstGeom>
          </p:spPr>
          <p:txBody>
            <a:bodyPr anchor="t" rtlCol="false" tIns="0" lIns="0" bIns="0" rIns="0">
              <a:spAutoFit/>
            </a:bodyPr>
            <a:lstStyle/>
            <a:p>
              <a:pPr algn="l" marL="0" indent="0" lvl="0">
                <a:lnSpc>
                  <a:spcPts val="6999"/>
                </a:lnSpc>
              </a:pPr>
              <a:r>
                <a:rPr lang="en-US" b="true" sz="6999" spc="-384">
                  <a:solidFill>
                    <a:srgbClr val="E0E1DD"/>
                  </a:solidFill>
                  <a:latin typeface="Work Sans Semi-Bold"/>
                  <a:ea typeface="Work Sans Semi-Bold"/>
                  <a:cs typeface="Work Sans Semi-Bold"/>
                  <a:sym typeface="Work Sans Semi-Bold"/>
                </a:rPr>
                <a:t>BÀI</a:t>
              </a:r>
              <a:r>
                <a:rPr lang="en-US" b="true" sz="6999" spc="-384" strike="noStrike" u="none">
                  <a:solidFill>
                    <a:srgbClr val="E0E1DD"/>
                  </a:solidFill>
                  <a:latin typeface="Work Sans Semi-Bold"/>
                  <a:ea typeface="Work Sans Semi-Bold"/>
                  <a:cs typeface="Work Sans Semi-Bold"/>
                  <a:sym typeface="Work Sans Semi-Bold"/>
                </a:rPr>
                <a:t> 7: XÓA </a:t>
              </a:r>
              <a:r>
                <a:rPr lang="en-US" b="true" sz="6999" spc="-384" strike="noStrike" u="none">
                  <a:solidFill>
                    <a:srgbClr val="E0E1DD"/>
                  </a:solidFill>
                  <a:latin typeface="Work Sans Semi-Bold"/>
                  <a:ea typeface="Work Sans Semi-Bold"/>
                  <a:cs typeface="Work Sans Semi-Bold"/>
                  <a:sym typeface="Work Sans Semi-Bold"/>
                </a:rPr>
                <a:t>B</a:t>
              </a:r>
              <a:r>
                <a:rPr lang="en-US" b="true" sz="6999" spc="-384" strike="noStrike" u="none">
                  <a:solidFill>
                    <a:srgbClr val="E0E1DD"/>
                  </a:solidFill>
                  <a:latin typeface="Work Sans Semi-Bold"/>
                  <a:ea typeface="Work Sans Semi-Bold"/>
                  <a:cs typeface="Work Sans Semi-Bold"/>
                  <a:sym typeface="Work Sans Semi-Bold"/>
                </a:rPr>
                <a:t>À</a:t>
              </a:r>
              <a:r>
                <a:rPr lang="en-US" b="true" sz="6999" spc="-384" strike="noStrike" u="none">
                  <a:solidFill>
                    <a:srgbClr val="E0E1DD"/>
                  </a:solidFill>
                  <a:latin typeface="Work Sans Semi-Bold"/>
                  <a:ea typeface="Work Sans Semi-Bold"/>
                  <a:cs typeface="Work Sans Semi-Bold"/>
                  <a:sym typeface="Work Sans Semi-Bold"/>
                </a:rPr>
                <a:t>I</a:t>
              </a:r>
              <a:r>
                <a:rPr lang="en-US" b="true" sz="6999" spc="-384" strike="noStrike" u="none">
                  <a:solidFill>
                    <a:srgbClr val="E0E1DD"/>
                  </a:solidFill>
                  <a:latin typeface="Work Sans Semi-Bold"/>
                  <a:ea typeface="Work Sans Semi-Bold"/>
                  <a:cs typeface="Work Sans Semi-Bold"/>
                  <a:sym typeface="Work Sans Semi-Bold"/>
                </a:rPr>
                <a:t> VI</a:t>
              </a:r>
              <a:r>
                <a:rPr lang="en-US" b="true" sz="6999" spc="-384" strike="noStrike" u="none">
                  <a:solidFill>
                    <a:srgbClr val="E0E1DD"/>
                  </a:solidFill>
                  <a:latin typeface="Work Sans Semi-Bold"/>
                  <a:ea typeface="Work Sans Semi-Bold"/>
                  <a:cs typeface="Work Sans Semi-Bold"/>
                  <a:sym typeface="Work Sans Semi-Bold"/>
                </a:rPr>
                <a:t>ẾT</a:t>
              </a:r>
            </a:p>
          </p:txBody>
        </p:sp>
        <p:sp>
          <p:nvSpPr>
            <p:cNvPr name="TextBox 10" id="10"/>
            <p:cNvSpPr txBox="true"/>
            <p:nvPr/>
          </p:nvSpPr>
          <p:spPr>
            <a:xfrm rot="0">
              <a:off x="0" y="2919027"/>
              <a:ext cx="7893580" cy="1847850"/>
            </a:xfrm>
            <a:prstGeom prst="rect">
              <a:avLst/>
            </a:prstGeom>
          </p:spPr>
          <p:txBody>
            <a:bodyPr anchor="t" rtlCol="false" tIns="0" lIns="0" bIns="0" rIns="0">
              <a:spAutoFit/>
            </a:bodyPr>
            <a:lstStyle/>
            <a:p>
              <a:pPr algn="l">
                <a:lnSpc>
                  <a:spcPts val="3600"/>
                </a:lnSpc>
                <a:spcBef>
                  <a:spcPct val="0"/>
                </a:spcBef>
              </a:pPr>
              <a:r>
                <a:rPr lang="en-US" sz="3000" spc="-165">
                  <a:solidFill>
                    <a:srgbClr val="E0E1DD"/>
                  </a:solidFill>
                  <a:latin typeface="Work Sans"/>
                  <a:ea typeface="Work Sans"/>
                  <a:cs typeface="Work Sans"/>
                  <a:sym typeface="Work Sans"/>
                </a:rPr>
                <a:t>Mụ</a:t>
              </a:r>
              <a:r>
                <a:rPr lang="en-US" sz="3000" spc="-165" strike="noStrike" u="none">
                  <a:solidFill>
                    <a:srgbClr val="E0E1DD"/>
                  </a:solidFill>
                  <a:latin typeface="Work Sans"/>
                  <a:ea typeface="Work Sans"/>
                  <a:cs typeface="Work Sans"/>
                  <a:sym typeface="Work Sans"/>
                </a:rPr>
                <a:t>c tiêu : Xóa bài viết và </a:t>
              </a:r>
              <a:r>
                <a:rPr lang="en-US" sz="3000" spc="-165" strike="noStrike" u="none">
                  <a:solidFill>
                    <a:srgbClr val="E0E1DD"/>
                  </a:solidFill>
                  <a:latin typeface="Work Sans"/>
                  <a:ea typeface="Work Sans"/>
                  <a:cs typeface="Work Sans"/>
                  <a:sym typeface="Work Sans"/>
                </a:rPr>
                <a:t>dữ</a:t>
              </a:r>
              <a:r>
                <a:rPr lang="en-US" sz="3000" spc="-165" strike="noStrike" u="none">
                  <a:solidFill>
                    <a:srgbClr val="E0E1DD"/>
                  </a:solidFill>
                  <a:latin typeface="Work Sans"/>
                  <a:ea typeface="Work Sans"/>
                  <a:cs typeface="Work Sans"/>
                  <a:sym typeface="Work Sans"/>
                </a:rPr>
                <a:t> li</a:t>
              </a:r>
              <a:r>
                <a:rPr lang="en-US" sz="3000" spc="-165" strike="noStrike" u="none">
                  <a:solidFill>
                    <a:srgbClr val="E0E1DD"/>
                  </a:solidFill>
                  <a:latin typeface="Work Sans"/>
                  <a:ea typeface="Work Sans"/>
                  <a:cs typeface="Work Sans"/>
                  <a:sym typeface="Work Sans"/>
                </a:rPr>
                <a:t>ệu</a:t>
              </a:r>
              <a:r>
                <a:rPr lang="en-US" sz="3000" spc="-165" strike="noStrike" u="none">
                  <a:solidFill>
                    <a:srgbClr val="E0E1DD"/>
                  </a:solidFill>
                  <a:latin typeface="Work Sans"/>
                  <a:ea typeface="Work Sans"/>
                  <a:cs typeface="Work Sans"/>
                  <a:sym typeface="Work Sans"/>
                </a:rPr>
                <a:t> liên quan</a:t>
              </a:r>
            </a:p>
            <a:p>
              <a:pPr algn="l" marL="0" indent="0" lvl="0">
                <a:lnSpc>
                  <a:spcPts val="3600"/>
                </a:lnSpc>
                <a:spcBef>
                  <a:spcPct val="0"/>
                </a:spcBef>
              </a:pPr>
            </a:p>
          </p:txBody>
        </p:sp>
      </p:grpSp>
      <p:grpSp>
        <p:nvGrpSpPr>
          <p:cNvPr name="Group 11" id="11"/>
          <p:cNvGrpSpPr/>
          <p:nvPr/>
        </p:nvGrpSpPr>
        <p:grpSpPr>
          <a:xfrm rot="0">
            <a:off x="10627310" y="1028700"/>
            <a:ext cx="5867538" cy="8441163"/>
            <a:chOff x="0" y="0"/>
            <a:chExt cx="7823384" cy="11254884"/>
          </a:xfrm>
        </p:grpSpPr>
        <p:sp>
          <p:nvSpPr>
            <p:cNvPr name="TextBox 12" id="12"/>
            <p:cNvSpPr txBox="true"/>
            <p:nvPr/>
          </p:nvSpPr>
          <p:spPr>
            <a:xfrm rot="0">
              <a:off x="53986" y="7147069"/>
              <a:ext cx="7769398" cy="4107815"/>
            </a:xfrm>
            <a:prstGeom prst="rect">
              <a:avLst/>
            </a:prstGeom>
          </p:spPr>
          <p:txBody>
            <a:bodyPr anchor="t" rtlCol="false" tIns="0" lIns="0" bIns="0" rIns="0">
              <a:spAutoFit/>
            </a:bodyPr>
            <a:lstStyle/>
            <a:p>
              <a:pPr algn="l" marL="0" indent="0" lvl="0">
                <a:lnSpc>
                  <a:spcPts val="2730"/>
                </a:lnSpc>
              </a:pPr>
              <a:r>
                <a:rPr lang="en-US" sz="2100" spc="-115">
                  <a:solidFill>
                    <a:srgbClr val="415A77"/>
                  </a:solidFill>
                  <a:latin typeface="Work Sans"/>
                  <a:ea typeface="Work Sans"/>
                  <a:cs typeface="Work Sans"/>
                  <a:sym typeface="Work Sans"/>
                </a:rPr>
                <a:t>Hướ</a:t>
              </a:r>
              <a:r>
                <a:rPr lang="en-US" sz="2100" spc="-115">
                  <a:solidFill>
                    <a:srgbClr val="415A77"/>
                  </a:solidFill>
                  <a:latin typeface="Work Sans"/>
                  <a:ea typeface="Work Sans"/>
                  <a:cs typeface="Work Sans"/>
                  <a:sym typeface="Work Sans"/>
                </a:rPr>
                <a:t>ng làm</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Stored Procedure sp_delete_user</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T</a:t>
              </a:r>
              <a:r>
                <a:rPr lang="en-US" sz="2100" spc="-115">
                  <a:solidFill>
                    <a:srgbClr val="415A77"/>
                  </a:solidFill>
                  <a:latin typeface="Work Sans"/>
                  <a:ea typeface="Work Sans"/>
                  <a:cs typeface="Work Sans"/>
                  <a:sym typeface="Work Sans"/>
                </a:rPr>
                <a:t>ransaction</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ON</a:t>
              </a:r>
              <a:r>
                <a:rPr lang="en-US" sz="2100" spc="-115">
                  <a:solidFill>
                    <a:srgbClr val="415A77"/>
                  </a:solidFill>
                  <a:latin typeface="Work Sans"/>
                  <a:ea typeface="Work Sans"/>
                  <a:cs typeface="Work Sans"/>
                  <a:sym typeface="Work Sans"/>
                </a:rPr>
                <a:t> DELETE CASCADE hoặc xóa t</a:t>
              </a:r>
              <a:r>
                <a:rPr lang="en-US" sz="2100" spc="-115">
                  <a:solidFill>
                    <a:srgbClr val="415A77"/>
                  </a:solidFill>
                  <a:latin typeface="Work Sans"/>
                  <a:ea typeface="Work Sans"/>
                  <a:cs typeface="Work Sans"/>
                  <a:sym typeface="Work Sans"/>
                </a:rPr>
                <a:t>heo</a:t>
              </a:r>
              <a:r>
                <a:rPr lang="en-US" sz="2100" spc="-115">
                  <a:solidFill>
                    <a:srgbClr val="415A77"/>
                  </a:solidFill>
                  <a:latin typeface="Work Sans"/>
                  <a:ea typeface="Work Sans"/>
                  <a:cs typeface="Work Sans"/>
                  <a:sym typeface="Work Sans"/>
                </a:rPr>
                <a:t> thứ tự an toàn</a:t>
              </a:r>
            </a:p>
            <a:p>
              <a:pPr algn="l" marL="0" indent="0" lvl="0">
                <a:lnSpc>
                  <a:spcPts val="2730"/>
                </a:lnSpc>
              </a:pPr>
              <a:r>
                <a:rPr lang="en-US" sz="2100" spc="-115">
                  <a:solidFill>
                    <a:srgbClr val="415A77"/>
                  </a:solidFill>
                  <a:latin typeface="Work Sans"/>
                  <a:ea typeface="Work Sans"/>
                  <a:cs typeface="Work Sans"/>
                  <a:sym typeface="Work Sans"/>
                </a:rPr>
                <a:t>Demo</a:t>
              </a:r>
            </a:p>
            <a:p>
              <a:pPr algn="l" marL="453390" indent="-226695" lvl="1">
                <a:lnSpc>
                  <a:spcPts val="2730"/>
                </a:lnSpc>
                <a:buFont typeface="Arial"/>
                <a:buChar char="•"/>
              </a:pPr>
              <a:r>
                <a:rPr lang="en-US" sz="2100" spc="-115">
                  <a:solidFill>
                    <a:srgbClr val="415A77"/>
                  </a:solidFill>
                  <a:latin typeface="Work Sans"/>
                  <a:ea typeface="Work Sans"/>
                  <a:cs typeface="Work Sans"/>
                  <a:sym typeface="Work Sans"/>
                </a:rPr>
                <a:t>Xóa user → posts, comments, likes, friends đều bị xóa</a:t>
              </a:r>
            </a:p>
            <a:p>
              <a:pPr algn="l" marL="0" indent="0" lvl="0">
                <a:lnSpc>
                  <a:spcPts val="2730"/>
                </a:lnSpc>
              </a:pPr>
            </a:p>
          </p:txBody>
        </p:sp>
        <p:sp>
          <p:nvSpPr>
            <p:cNvPr name="TextBox 13" id="13"/>
            <p:cNvSpPr txBox="true"/>
            <p:nvPr/>
          </p:nvSpPr>
          <p:spPr>
            <a:xfrm rot="0">
              <a:off x="0" y="133350"/>
              <a:ext cx="7823384" cy="3647017"/>
            </a:xfrm>
            <a:prstGeom prst="rect">
              <a:avLst/>
            </a:prstGeom>
          </p:spPr>
          <p:txBody>
            <a:bodyPr anchor="t" rtlCol="false" tIns="0" lIns="0" bIns="0" rIns="0">
              <a:spAutoFit/>
            </a:bodyPr>
            <a:lstStyle/>
            <a:p>
              <a:pPr algn="l" marL="0" indent="0" lvl="0">
                <a:lnSpc>
                  <a:spcPts val="6999"/>
                </a:lnSpc>
              </a:pPr>
              <a:r>
                <a:rPr lang="en-US" b="true" sz="6999" spc="-384">
                  <a:solidFill>
                    <a:srgbClr val="415A77"/>
                  </a:solidFill>
                  <a:latin typeface="Work Sans Semi-Bold"/>
                  <a:ea typeface="Work Sans Semi-Bold"/>
                  <a:cs typeface="Work Sans Semi-Bold"/>
                  <a:sym typeface="Work Sans Semi-Bold"/>
                </a:rPr>
                <a:t>BÀI</a:t>
              </a:r>
              <a:r>
                <a:rPr lang="en-US" b="true" sz="6999" spc="-384" strike="noStrike" u="none">
                  <a:solidFill>
                    <a:srgbClr val="415A77"/>
                  </a:solidFill>
                  <a:latin typeface="Work Sans Semi-Bold"/>
                  <a:ea typeface="Work Sans Semi-Bold"/>
                  <a:cs typeface="Work Sans Semi-Bold"/>
                  <a:sym typeface="Work Sans Semi-Bold"/>
                </a:rPr>
                <a:t> 8: </a:t>
              </a:r>
              <a:r>
                <a:rPr lang="en-US" b="true" sz="6999" spc="-384" strike="noStrike" u="none">
                  <a:solidFill>
                    <a:srgbClr val="415A77"/>
                  </a:solidFill>
                  <a:latin typeface="Work Sans Semi-Bold"/>
                  <a:ea typeface="Work Sans Semi-Bold"/>
                  <a:cs typeface="Work Sans Semi-Bold"/>
                  <a:sym typeface="Work Sans Semi-Bold"/>
                </a:rPr>
                <a:t>XÓA</a:t>
              </a:r>
              <a:r>
                <a:rPr lang="en-US" b="true" sz="6999" spc="-384" strike="noStrike" u="none">
                  <a:solidFill>
                    <a:srgbClr val="415A77"/>
                  </a:solidFill>
                  <a:latin typeface="Work Sans Semi-Bold"/>
                  <a:ea typeface="Work Sans Semi-Bold"/>
                  <a:cs typeface="Work Sans Semi-Bold"/>
                  <a:sym typeface="Work Sans Semi-Bold"/>
                </a:rPr>
                <a:t> TÀI KHOẢN NGƯỜI</a:t>
              </a:r>
              <a:r>
                <a:rPr lang="en-US" b="true" sz="6999" spc="-384" strike="noStrike" u="none">
                  <a:solidFill>
                    <a:srgbClr val="415A77"/>
                  </a:solidFill>
                  <a:latin typeface="Work Sans Semi-Bold"/>
                  <a:ea typeface="Work Sans Semi-Bold"/>
                  <a:cs typeface="Work Sans Semi-Bold"/>
                  <a:sym typeface="Work Sans Semi-Bold"/>
                </a:rPr>
                <a:t> DÙNG</a:t>
              </a:r>
            </a:p>
          </p:txBody>
        </p:sp>
        <p:sp>
          <p:nvSpPr>
            <p:cNvPr name="TextBox 14" id="14"/>
            <p:cNvSpPr txBox="true"/>
            <p:nvPr/>
          </p:nvSpPr>
          <p:spPr>
            <a:xfrm rot="0">
              <a:off x="0" y="4100127"/>
              <a:ext cx="7823384" cy="2457450"/>
            </a:xfrm>
            <a:prstGeom prst="rect">
              <a:avLst/>
            </a:prstGeom>
          </p:spPr>
          <p:txBody>
            <a:bodyPr anchor="t" rtlCol="false" tIns="0" lIns="0" bIns="0" rIns="0">
              <a:spAutoFit/>
            </a:bodyPr>
            <a:lstStyle/>
            <a:p>
              <a:pPr algn="l">
                <a:lnSpc>
                  <a:spcPts val="3600"/>
                </a:lnSpc>
              </a:pPr>
              <a:r>
                <a:rPr lang="en-US" sz="3000" spc="-165">
                  <a:solidFill>
                    <a:srgbClr val="415A77"/>
                  </a:solidFill>
                  <a:latin typeface="Work Sans"/>
                  <a:ea typeface="Work Sans"/>
                  <a:cs typeface="Work Sans"/>
                  <a:sym typeface="Work Sans"/>
                </a:rPr>
                <a:t>Mục tiêu</a:t>
              </a:r>
            </a:p>
            <a:p>
              <a:pPr algn="l" marL="647700" indent="-323850" lvl="1">
                <a:lnSpc>
                  <a:spcPts val="3600"/>
                </a:lnSpc>
                <a:spcBef>
                  <a:spcPct val="0"/>
                </a:spcBef>
                <a:buFont typeface="Arial"/>
                <a:buChar char="•"/>
              </a:pPr>
              <a:r>
                <a:rPr lang="en-US" sz="3000" spc="-165">
                  <a:solidFill>
                    <a:srgbClr val="415A77"/>
                  </a:solidFill>
                  <a:latin typeface="Work Sans"/>
                  <a:ea typeface="Work Sans"/>
                  <a:cs typeface="Work Sans"/>
                  <a:sym typeface="Work Sans"/>
                </a:rPr>
                <a:t>Xóa user và tất cả</a:t>
              </a:r>
              <a:r>
                <a:rPr lang="en-US" sz="3000" spc="-165" strike="noStrike" u="none">
                  <a:solidFill>
                    <a:srgbClr val="415A77"/>
                  </a:solidFill>
                  <a:latin typeface="Work Sans"/>
                  <a:ea typeface="Work Sans"/>
                  <a:cs typeface="Work Sans"/>
                  <a:sym typeface="Work Sans"/>
                </a:rPr>
                <a:t> d</a:t>
              </a:r>
              <a:r>
                <a:rPr lang="en-US" sz="3000" spc="-165" strike="noStrike" u="none">
                  <a:solidFill>
                    <a:srgbClr val="415A77"/>
                  </a:solidFill>
                  <a:latin typeface="Work Sans"/>
                  <a:ea typeface="Work Sans"/>
                  <a:cs typeface="Work Sans"/>
                  <a:sym typeface="Work Sans"/>
                </a:rPr>
                <a:t>ữ</a:t>
              </a:r>
              <a:r>
                <a:rPr lang="en-US" sz="3000" spc="-165" strike="noStrike" u="none">
                  <a:solidFill>
                    <a:srgbClr val="415A77"/>
                  </a:solidFill>
                  <a:latin typeface="Work Sans"/>
                  <a:ea typeface="Work Sans"/>
                  <a:cs typeface="Work Sans"/>
                  <a:sym typeface="Work Sans"/>
                </a:rPr>
                <a:t> li</a:t>
              </a:r>
              <a:r>
                <a:rPr lang="en-US" sz="3000" spc="-165" strike="noStrike" u="none">
                  <a:solidFill>
                    <a:srgbClr val="415A77"/>
                  </a:solidFill>
                  <a:latin typeface="Work Sans"/>
                  <a:ea typeface="Work Sans"/>
                  <a:cs typeface="Work Sans"/>
                  <a:sym typeface="Work Sans"/>
                </a:rPr>
                <a:t>ệu</a:t>
              </a:r>
              <a:r>
                <a:rPr lang="en-US" sz="3000" spc="-165" strike="noStrike" u="none">
                  <a:solidFill>
                    <a:srgbClr val="415A77"/>
                  </a:solidFill>
                  <a:latin typeface="Work Sans"/>
                  <a:ea typeface="Work Sans"/>
                  <a:cs typeface="Work Sans"/>
                  <a:sym typeface="Work Sans"/>
                </a:rPr>
                <a:t> liên </a:t>
              </a:r>
              <a:r>
                <a:rPr lang="en-US" sz="3000" spc="-165" strike="noStrike" u="none">
                  <a:solidFill>
                    <a:srgbClr val="415A77"/>
                  </a:solidFill>
                  <a:latin typeface="Work Sans"/>
                  <a:ea typeface="Work Sans"/>
                  <a:cs typeface="Work Sans"/>
                  <a:sym typeface="Work Sans"/>
                </a:rPr>
                <a:t>quan</a:t>
              </a:r>
            </a:p>
            <a:p>
              <a:pPr algn="l" marL="0" indent="0" lvl="0">
                <a:lnSpc>
                  <a:spcPts val="3600"/>
                </a:lnSpc>
                <a:spcBef>
                  <a:spcPct val="0"/>
                </a:spcBef>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2686050"/>
            <a:chOff x="0" y="0"/>
            <a:chExt cx="4987154" cy="790100"/>
          </a:xfrm>
        </p:grpSpPr>
        <p:sp>
          <p:nvSpPr>
            <p:cNvPr name="Freeform 3" id="3"/>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415A77"/>
            </a:solidFill>
            <a:ln w="12700">
              <a:solidFill>
                <a:srgbClr val="000000"/>
              </a:solidFill>
            </a:ln>
          </p:spPr>
        </p:sp>
      </p:grpSp>
      <p:grpSp>
        <p:nvGrpSpPr>
          <p:cNvPr name="Group 4" id="4"/>
          <p:cNvGrpSpPr/>
          <p:nvPr/>
        </p:nvGrpSpPr>
        <p:grpSpPr>
          <a:xfrm rot="0">
            <a:off x="666750" y="3657600"/>
            <a:ext cx="8324850" cy="5962650"/>
            <a:chOff x="0" y="0"/>
            <a:chExt cx="1289737" cy="923771"/>
          </a:xfrm>
        </p:grpSpPr>
        <p:sp>
          <p:nvSpPr>
            <p:cNvPr name="Freeform 5" id="5"/>
            <p:cNvSpPr/>
            <p:nvPr/>
          </p:nvSpPr>
          <p:spPr>
            <a:xfrm flipH="false" flipV="false" rot="0">
              <a:off x="0" y="0"/>
              <a:ext cx="1289737" cy="923771"/>
            </a:xfrm>
            <a:custGeom>
              <a:avLst/>
              <a:gdLst/>
              <a:ahLst/>
              <a:cxnLst/>
              <a:rect r="r" b="b" t="t" l="l"/>
              <a:pathLst>
                <a:path h="923771" w="1289737">
                  <a:moveTo>
                    <a:pt x="37199" y="0"/>
                  </a:moveTo>
                  <a:lnTo>
                    <a:pt x="1252538" y="0"/>
                  </a:lnTo>
                  <a:cubicBezTo>
                    <a:pt x="1262404" y="0"/>
                    <a:pt x="1271866" y="3919"/>
                    <a:pt x="1278842" y="10895"/>
                  </a:cubicBezTo>
                  <a:cubicBezTo>
                    <a:pt x="1285818" y="17872"/>
                    <a:pt x="1289737" y="27333"/>
                    <a:pt x="1289737" y="37199"/>
                  </a:cubicBezTo>
                  <a:lnTo>
                    <a:pt x="1289737" y="886571"/>
                  </a:lnTo>
                  <a:cubicBezTo>
                    <a:pt x="1289737" y="896437"/>
                    <a:pt x="1285818" y="905899"/>
                    <a:pt x="1278842" y="912875"/>
                  </a:cubicBezTo>
                  <a:cubicBezTo>
                    <a:pt x="1271866" y="919851"/>
                    <a:pt x="1262404" y="923771"/>
                    <a:pt x="1252538" y="923771"/>
                  </a:cubicBezTo>
                  <a:lnTo>
                    <a:pt x="37199" y="923771"/>
                  </a:lnTo>
                  <a:cubicBezTo>
                    <a:pt x="27333" y="923771"/>
                    <a:pt x="17872" y="919851"/>
                    <a:pt x="10895" y="912875"/>
                  </a:cubicBezTo>
                  <a:cubicBezTo>
                    <a:pt x="3919" y="905899"/>
                    <a:pt x="0" y="896437"/>
                    <a:pt x="0" y="886571"/>
                  </a:cubicBezTo>
                  <a:lnTo>
                    <a:pt x="0" y="37199"/>
                  </a:lnTo>
                  <a:cubicBezTo>
                    <a:pt x="0" y="27333"/>
                    <a:pt x="3919" y="17872"/>
                    <a:pt x="10895" y="10895"/>
                  </a:cubicBezTo>
                  <a:cubicBezTo>
                    <a:pt x="17872" y="3919"/>
                    <a:pt x="27333" y="0"/>
                    <a:pt x="37199" y="0"/>
                  </a:cubicBezTo>
                  <a:close/>
                </a:path>
              </a:pathLst>
            </a:custGeom>
            <a:blipFill>
              <a:blip r:embed="rId2"/>
              <a:stretch>
                <a:fillRect l="-5202" t="0" r="-5202" b="0"/>
              </a:stretch>
            </a:blipFill>
          </p:spPr>
        </p:sp>
      </p:grpSp>
      <p:grpSp>
        <p:nvGrpSpPr>
          <p:cNvPr name="Group 6" id="6"/>
          <p:cNvGrpSpPr/>
          <p:nvPr/>
        </p:nvGrpSpPr>
        <p:grpSpPr>
          <a:xfrm rot="0">
            <a:off x="9397866" y="3657600"/>
            <a:ext cx="8324850" cy="5962650"/>
            <a:chOff x="0" y="0"/>
            <a:chExt cx="2192553" cy="1570410"/>
          </a:xfrm>
        </p:grpSpPr>
        <p:sp>
          <p:nvSpPr>
            <p:cNvPr name="Freeform 7" id="7"/>
            <p:cNvSpPr/>
            <p:nvPr/>
          </p:nvSpPr>
          <p:spPr>
            <a:xfrm flipH="false" flipV="false" rot="0">
              <a:off x="0" y="0"/>
              <a:ext cx="2192553" cy="1570410"/>
            </a:xfrm>
            <a:custGeom>
              <a:avLst/>
              <a:gdLst/>
              <a:ahLst/>
              <a:cxnLst/>
              <a:rect r="r" b="b" t="t" l="l"/>
              <a:pathLst>
                <a:path h="1570410" w="2192553">
                  <a:moveTo>
                    <a:pt x="37199" y="0"/>
                  </a:moveTo>
                  <a:lnTo>
                    <a:pt x="2155354" y="0"/>
                  </a:lnTo>
                  <a:cubicBezTo>
                    <a:pt x="2165220" y="0"/>
                    <a:pt x="2174682" y="3919"/>
                    <a:pt x="2181658" y="10895"/>
                  </a:cubicBezTo>
                  <a:cubicBezTo>
                    <a:pt x="2188634" y="17872"/>
                    <a:pt x="2192553" y="27333"/>
                    <a:pt x="2192553" y="37199"/>
                  </a:cubicBezTo>
                  <a:lnTo>
                    <a:pt x="2192553" y="1533211"/>
                  </a:lnTo>
                  <a:cubicBezTo>
                    <a:pt x="2192553" y="1543077"/>
                    <a:pt x="2188634" y="1552538"/>
                    <a:pt x="2181658" y="1559514"/>
                  </a:cubicBezTo>
                  <a:cubicBezTo>
                    <a:pt x="2174682" y="1566491"/>
                    <a:pt x="2165220" y="1570410"/>
                    <a:pt x="2155354" y="1570410"/>
                  </a:cubicBezTo>
                  <a:lnTo>
                    <a:pt x="37199" y="1570410"/>
                  </a:lnTo>
                  <a:cubicBezTo>
                    <a:pt x="27333" y="1570410"/>
                    <a:pt x="17872" y="1566491"/>
                    <a:pt x="10895" y="1559514"/>
                  </a:cubicBezTo>
                  <a:cubicBezTo>
                    <a:pt x="3919" y="1552538"/>
                    <a:pt x="0" y="1543077"/>
                    <a:pt x="0" y="1533211"/>
                  </a:cubicBezTo>
                  <a:lnTo>
                    <a:pt x="0" y="37199"/>
                  </a:lnTo>
                  <a:cubicBezTo>
                    <a:pt x="0" y="27333"/>
                    <a:pt x="3919" y="17872"/>
                    <a:pt x="10895" y="10895"/>
                  </a:cubicBezTo>
                  <a:cubicBezTo>
                    <a:pt x="17872" y="3919"/>
                    <a:pt x="27333" y="0"/>
                    <a:pt x="37199" y="0"/>
                  </a:cubicBezTo>
                  <a:close/>
                </a:path>
              </a:pathLst>
            </a:custGeom>
            <a:solidFill>
              <a:srgbClr val="415A77"/>
            </a:solidFill>
          </p:spPr>
        </p:sp>
        <p:sp>
          <p:nvSpPr>
            <p:cNvPr name="TextBox 8" id="8"/>
            <p:cNvSpPr txBox="true"/>
            <p:nvPr/>
          </p:nvSpPr>
          <p:spPr>
            <a:xfrm>
              <a:off x="0" y="-57150"/>
              <a:ext cx="2192553" cy="1627560"/>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9397866" y="3657600"/>
            <a:ext cx="8324850" cy="5962650"/>
            <a:chOff x="0" y="0"/>
            <a:chExt cx="1289737" cy="923771"/>
          </a:xfrm>
        </p:grpSpPr>
        <p:sp>
          <p:nvSpPr>
            <p:cNvPr name="Freeform 10" id="10"/>
            <p:cNvSpPr/>
            <p:nvPr/>
          </p:nvSpPr>
          <p:spPr>
            <a:xfrm flipH="false" flipV="false" rot="0">
              <a:off x="0" y="0"/>
              <a:ext cx="1289737" cy="923771"/>
            </a:xfrm>
            <a:custGeom>
              <a:avLst/>
              <a:gdLst/>
              <a:ahLst/>
              <a:cxnLst/>
              <a:rect r="r" b="b" t="t" l="l"/>
              <a:pathLst>
                <a:path h="923771" w="1289737">
                  <a:moveTo>
                    <a:pt x="37199" y="0"/>
                  </a:moveTo>
                  <a:lnTo>
                    <a:pt x="1252538" y="0"/>
                  </a:lnTo>
                  <a:cubicBezTo>
                    <a:pt x="1262404" y="0"/>
                    <a:pt x="1271866" y="3919"/>
                    <a:pt x="1278842" y="10895"/>
                  </a:cubicBezTo>
                  <a:cubicBezTo>
                    <a:pt x="1285818" y="17872"/>
                    <a:pt x="1289737" y="27333"/>
                    <a:pt x="1289737" y="37199"/>
                  </a:cubicBezTo>
                  <a:lnTo>
                    <a:pt x="1289737" y="886571"/>
                  </a:lnTo>
                  <a:cubicBezTo>
                    <a:pt x="1289737" y="896437"/>
                    <a:pt x="1285818" y="905899"/>
                    <a:pt x="1278842" y="912875"/>
                  </a:cubicBezTo>
                  <a:cubicBezTo>
                    <a:pt x="1271866" y="919851"/>
                    <a:pt x="1262404" y="923771"/>
                    <a:pt x="1252538" y="923771"/>
                  </a:cubicBezTo>
                  <a:lnTo>
                    <a:pt x="37199" y="923771"/>
                  </a:lnTo>
                  <a:cubicBezTo>
                    <a:pt x="27333" y="923771"/>
                    <a:pt x="17872" y="919851"/>
                    <a:pt x="10895" y="912875"/>
                  </a:cubicBezTo>
                  <a:cubicBezTo>
                    <a:pt x="3919" y="905899"/>
                    <a:pt x="0" y="896437"/>
                    <a:pt x="0" y="886571"/>
                  </a:cubicBezTo>
                  <a:lnTo>
                    <a:pt x="0" y="37199"/>
                  </a:lnTo>
                  <a:cubicBezTo>
                    <a:pt x="0" y="27333"/>
                    <a:pt x="3919" y="17872"/>
                    <a:pt x="10895" y="10895"/>
                  </a:cubicBezTo>
                  <a:cubicBezTo>
                    <a:pt x="17872" y="3919"/>
                    <a:pt x="27333" y="0"/>
                    <a:pt x="37199" y="0"/>
                  </a:cubicBezTo>
                  <a:close/>
                </a:path>
              </a:pathLst>
            </a:custGeom>
            <a:blipFill>
              <a:blip r:embed="rId3"/>
              <a:stretch>
                <a:fillRect l="-13950" t="0" r="-13950" b="0"/>
              </a:stretch>
            </a:blipFill>
          </p:spPr>
        </p:sp>
      </p:grpSp>
      <p:sp>
        <p:nvSpPr>
          <p:cNvPr name="TextBox 11" id="11"/>
          <p:cNvSpPr txBox="true"/>
          <p:nvPr/>
        </p:nvSpPr>
        <p:spPr>
          <a:xfrm rot="0">
            <a:off x="1320434" y="1570221"/>
            <a:ext cx="13424266" cy="1035051"/>
          </a:xfrm>
          <a:prstGeom prst="rect">
            <a:avLst/>
          </a:prstGeom>
        </p:spPr>
        <p:txBody>
          <a:bodyPr anchor="t" rtlCol="false" tIns="0" lIns="0" bIns="0" rIns="0">
            <a:spAutoFit/>
          </a:bodyPr>
          <a:lstStyle/>
          <a:p>
            <a:pPr algn="l" marL="0" indent="0" lvl="0">
              <a:lnSpc>
                <a:spcPts val="7600"/>
              </a:lnSpc>
            </a:pPr>
            <a:r>
              <a:rPr lang="en-US" b="true" sz="8000" spc="-440">
                <a:solidFill>
                  <a:srgbClr val="E0E1DD"/>
                </a:solidFill>
                <a:latin typeface="Work Sans Semi-Bold"/>
                <a:ea typeface="Work Sans Semi-Bold"/>
                <a:cs typeface="Work Sans Semi-Bold"/>
                <a:sym typeface="Work Sans Semi-Bold"/>
              </a:rPr>
              <a:t>THANKS FOR WATCHING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MINI SOCIAL NETWORK</dc:description>
  <dc:identifier>DAG-gqYaDyE</dc:identifier>
  <dcterms:modified xsi:type="dcterms:W3CDTF">2011-08-01T06:04:30Z</dcterms:modified>
  <cp:revision>1</cp:revision>
  <dc:title>Presentation - MINI SOCIAL NETWORK</dc:title>
</cp:coreProperties>
</file>